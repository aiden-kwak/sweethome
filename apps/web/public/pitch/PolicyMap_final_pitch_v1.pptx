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43eb899f44dfd" /><Relationship Type="http://schemas.openxmlformats.org/officeDocument/2006/relationships/extended-properties" Target="/docProps/app.xml" Id="Rcc67f917ce3a4c5e" /><Relationship Type="http://schemas.openxmlformats.org/officeDocument/2006/relationships/officeDocument" Target="/ppt/presentation.xml" Id="R55f261f99e8c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cb00e988340a5"/>
  </p:sldMasterIdLst>
  <p:notesMasterIdLst>
    <p:notesMasterId xmlns:r="http://schemas.openxmlformats.org/officeDocument/2006/relationships" r:id="R711707c6efca4adc"/>
  </p:notesMasterIdLst>
  <p:sldIdLst>
    <p:sldId xmlns:r="http://schemas.openxmlformats.org/officeDocument/2006/relationships" id="256" r:id="Rf3e9b13e39ae4064"/>
    <p:sldId xmlns:r="http://schemas.openxmlformats.org/officeDocument/2006/relationships" id="257" r:id="Reec087641349467e"/>
    <p:sldId xmlns:r="http://schemas.openxmlformats.org/officeDocument/2006/relationships" id="258" r:id="R60258a7666bd477e"/>
    <p:sldId xmlns:r="http://schemas.openxmlformats.org/officeDocument/2006/relationships" id="259" r:id="R1713ed6adc4847d5"/>
    <p:sldId xmlns:r="http://schemas.openxmlformats.org/officeDocument/2006/relationships" id="260" r:id="Ref2ad7d594644c60"/>
    <p:sldId xmlns:r="http://schemas.openxmlformats.org/officeDocument/2006/relationships" id="261" r:id="R3a83864f700c4db5"/>
    <p:sldId xmlns:r="http://schemas.openxmlformats.org/officeDocument/2006/relationships" id="262" r:id="R345647999851473b"/>
    <p:sldId xmlns:r="http://schemas.openxmlformats.org/officeDocument/2006/relationships" id="263" r:id="Red9c612fcd8c49c7"/>
    <p:sldId xmlns:r="http://schemas.openxmlformats.org/officeDocument/2006/relationships" id="264" r:id="Ra569375074ff4f6b"/>
    <p:sldId xmlns:r="http://schemas.openxmlformats.org/officeDocument/2006/relationships" id="265" r:id="R85a4b55e54d94a35"/>
    <p:sldId xmlns:r="http://schemas.openxmlformats.org/officeDocument/2006/relationships" id="266" r:id="R39c0c074b61141b3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e016db3e5148f0" /><Relationship Type="http://schemas.openxmlformats.org/officeDocument/2006/relationships/slideMaster" Target="/ppt/slideMasters/slideMaster1.xml" Id="Rf94cb00e988340a5" /><Relationship Type="http://schemas.openxmlformats.org/officeDocument/2006/relationships/notesMaster" Target="/ppt/notesMasters/notesMaster1.xml" Id="R711707c6efca4adc" /><Relationship Type="http://schemas.openxmlformats.org/officeDocument/2006/relationships/presProps" Target="/ppt/presProps.xml" Id="R5d5b6481d7df4cd2" /><Relationship Type="http://schemas.openxmlformats.org/officeDocument/2006/relationships/tableStyles" Target="/ppt/tableStyles.xml" Id="Rec2b699479614ca4" /><Relationship Type="http://schemas.openxmlformats.org/officeDocument/2006/relationships/slide" Target="/ppt/slides/slide1.xml" Id="Rf3e9b13e39ae4064" /><Relationship Type="http://schemas.openxmlformats.org/officeDocument/2006/relationships/slide" Target="/ppt/slides/slide2.xml" Id="Reec087641349467e" /><Relationship Type="http://schemas.openxmlformats.org/officeDocument/2006/relationships/slide" Target="/ppt/slides/slide3.xml" Id="R60258a7666bd477e" /><Relationship Type="http://schemas.openxmlformats.org/officeDocument/2006/relationships/slide" Target="/ppt/slides/slide4.xml" Id="R1713ed6adc4847d5" /><Relationship Type="http://schemas.openxmlformats.org/officeDocument/2006/relationships/slide" Target="/ppt/slides/slide5.xml" Id="Ref2ad7d594644c60" /><Relationship Type="http://schemas.openxmlformats.org/officeDocument/2006/relationships/slide" Target="/ppt/slides/slide6.xml" Id="R3a83864f700c4db5" /><Relationship Type="http://schemas.openxmlformats.org/officeDocument/2006/relationships/slide" Target="/ppt/slides/slide7.xml" Id="R345647999851473b" /><Relationship Type="http://schemas.openxmlformats.org/officeDocument/2006/relationships/slide" Target="/ppt/slides/slide8.xml" Id="Red9c612fcd8c49c7" /><Relationship Type="http://schemas.openxmlformats.org/officeDocument/2006/relationships/slide" Target="/ppt/slides/slide9.xml" Id="Ra569375074ff4f6b" /><Relationship Type="http://schemas.openxmlformats.org/officeDocument/2006/relationships/slide" Target="/ppt/slides/slide10.xml" Id="R85a4b55e54d94a35" /><Relationship Type="http://schemas.openxmlformats.org/officeDocument/2006/relationships/slide" Target="/ppt/slides/slide11.xml" Id="R39c0c074b611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120ef1b30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4e7abcf4a44764" /><Relationship Type="http://schemas.openxmlformats.org/officeDocument/2006/relationships/notesMaster" Target="/ppt/notesMasters/notesMaster1.xml" Id="R2378c7e3f9cf43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38f532bdc245eb" /><Relationship Type="http://schemas.openxmlformats.org/officeDocument/2006/relationships/notesMaster" Target="/ppt/notesMasters/notesMaster1.xml" Id="R2ba43c6bb59b48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8a2da2e7084fb3" /><Relationship Type="http://schemas.openxmlformats.org/officeDocument/2006/relationships/notesMaster" Target="/ppt/notesMasters/notesMaster1.xml" Id="R4487c4bd81c647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4a29ac61cf4931" /><Relationship Type="http://schemas.openxmlformats.org/officeDocument/2006/relationships/notesMaster" Target="/ppt/notesMasters/notesMaster1.xml" Id="R767370f3656b45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a55d462fc24974" /><Relationship Type="http://schemas.openxmlformats.org/officeDocument/2006/relationships/notesMaster" Target="/ppt/notesMasters/notesMaster1.xml" Id="R83f3784f8b3e4f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974f281f749d5" /><Relationship Type="http://schemas.openxmlformats.org/officeDocument/2006/relationships/notesMaster" Target="/ppt/notesMasters/notesMaster1.xml" Id="Rdd00b66ade9444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671457840d4b93" /><Relationship Type="http://schemas.openxmlformats.org/officeDocument/2006/relationships/notesMaster" Target="/ppt/notesMasters/notesMaster1.xml" Id="Rac7fb54c58b2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675bba433c41ec" /><Relationship Type="http://schemas.openxmlformats.org/officeDocument/2006/relationships/notesMaster" Target="/ppt/notesMasters/notesMaster1.xml" Id="R078338006dcf4a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a724b2d274d98" /><Relationship Type="http://schemas.openxmlformats.org/officeDocument/2006/relationships/notesMaster" Target="/ppt/notesMasters/notesMaster1.xml" Id="R2fb3e5d6ca8d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e4c5e5adfa4d49" /><Relationship Type="http://schemas.openxmlformats.org/officeDocument/2006/relationships/notesMaster" Target="/ppt/notesMasters/notesMaster1.xml" Id="Rebc8d23ca1cd42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2352931d2542ec" /><Relationship Type="http://schemas.openxmlformats.org/officeDocument/2006/relationships/notesMaster" Target="/ppt/notesMasters/notesMaster1.xml" Id="Rcfddbb035dc4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포인트: PolicyMap은 정책입안자가 시행 전에 지역별 영향과 가구 반응을 비교하는 정책 사전평가 도구입니다.</a:t>
            </a:r>
          </a:p>
          <a:p xmlns:a="http://schemas.openxmlformats.org/drawingml/2006/main">
            <a:r>
              <a:t>이미지: OpenAI image generation으로 제작한 제품 콘셉트용 일러스트입니다. 실제 지리 경계나 관측 결과로 사용하지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최근 정책 변화는 하나의 규제가 아니라 지역 지정, 대출, 공급과 세제를 연속해서 조정하는 형태였습니다.</a:t>
            </a:r>
          </a:p>
          <a:p xmlns:a="http://schemas.openxmlformats.org/drawingml/2006/main">
            <a:r>
              <a:t>서울시 토지거래허가구역 일부 해제: https://mediahub.seoul.go.kr/archives/2013415</a:t>
            </a:r>
          </a:p>
          <a:p xmlns:a="http://schemas.openxmlformats.org/drawingml/2006/main">
            <a:r>
              <a:t>2025년 3월 주택시장 안정화 방안: https://eiec.kdi.re.kr/policy/materialView.do?num=264456</a:t>
            </a:r>
          </a:p>
          <a:p xmlns:a="http://schemas.openxmlformats.org/drawingml/2006/main">
            <a:r>
              <a:t>2025년 6월 가계부채 관리 강화: https://www.molit.go.kr/USR/NEWS/m_71/dtl.jsp/dtl.jsp?id=95091036</a:t>
            </a:r>
          </a:p>
          <a:p xmlns:a="http://schemas.openxmlformats.org/drawingml/2006/main">
            <a:r>
              <a:t>2025년 9월 주택공급 확대방안: https://m.korea.kr/briefing/policyBriefingView.do?newsId=156721813</a:t>
            </a:r>
          </a:p>
          <a:p xmlns:a="http://schemas.openxmlformats.org/drawingml/2006/main">
            <a:r>
              <a:t>2025년 10월 주택시장 안정화 대책: https://www.fsc.go.kr/no010101/85432</a:t>
            </a:r>
          </a:p>
          <a:p xmlns:a="http://schemas.openxmlformats.org/drawingml/2006/main">
            <a:r>
              <a:t>2026년 가계부채 관리방안: https://www.fsc.go.kr/no010101/86606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KDI는 2020년 6월 지정된 잠실동, 삼성동, 대치동과 청담동의 토지거래허가제 효과를 추정했습니다.</a:t>
            </a:r>
          </a:p>
          <a:p xmlns:a="http://schemas.openxmlformats.org/drawingml/2006/main">
            <a:r>
              <a:t>규제지역 거래량은 38.3% 감소하고 가격은 4.3% 하락했지만, 가까운 비규제주택 가격은 먼 비규제주택보다 2.3% 상승했습니다.</a:t>
            </a:r>
          </a:p>
          <a:p xmlns:a="http://schemas.openxmlformats.org/drawingml/2006/main">
            <a:r>
              <a:t>이 수치는 해당 지역과 시기의 사후 추정치이며 새로운 정책 시나리오에 그대로 적용하면 안 됩니다.</a:t>
            </a:r>
          </a:p>
          <a:p xmlns:a="http://schemas.openxmlformats.org/drawingml/2006/main">
            <a:r>
              <a:t>원문: https://www.kdi.re.kr/research/reportView?pub_no=18385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한국은행 분석은 통화정책과 거시건전성정책의 시행 순서가 중요하다는 점을 보여줍니다.</a:t>
            </a:r>
          </a:p>
          <a:p xmlns:a="http://schemas.openxmlformats.org/drawingml/2006/main">
            <a:r>
              <a:t>25bp 금리인하의 서울 아파트가격 1년 평균 반응은 1.4%, 주택담보대출은 1.2%로 추정됐습니다.</a:t>
            </a:r>
          </a:p>
          <a:p xmlns:a="http://schemas.openxmlformats.org/drawingml/2006/main">
            <a:r>
              <a:t>거시건전성정책을 선제적으로 강화했을 때 대출 증가압력은 약 0.4%p 줄었고, 4~6개월 늦었을 때는 약 0.2%p대로 감소했습니다.</a:t>
            </a:r>
          </a:p>
          <a:p xmlns:a="http://schemas.openxmlformats.org/drawingml/2006/main">
            <a:r>
              <a:t>VAR 식별에 부호 제약이 포함되므로 이 방향을 독립적인 인과 증거로 중복 계산하면 안 됩니다.</a:t>
            </a:r>
          </a:p>
          <a:p xmlns:a="http://schemas.openxmlformats.org/drawingml/2006/main">
            <a:r>
              <a:t>정책 조합 연구: https://www.bok.or.kr/portal/bbs/P0002353/view.do?depth=200433&amp;menuNo=200433&amp;nttId=10093611</a:t>
            </a:r>
          </a:p>
          <a:p xmlns:a="http://schemas.openxmlformats.org/drawingml/2006/main">
            <a:r>
              <a:t>가구별 소비반응 연구: https://www.bok.or.kr/portal/bbs/P0002353/view.do?menuNo=2004&amp;nttId=10074253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정책입안자가 핵심 사용자입니다. PolicyMap은 정책을 대신 결정하지 않고, 정책안의 범위와 예외, 시행 순서를 비교할 근거를 제공합니다.</a:t>
            </a:r>
          </a:p>
          <a:p xmlns:a="http://schemas.openxmlformats.org/drawingml/2006/main">
            <a:r>
              <a:t>개인은 같은 모델을 통해 자신의 대출 가능액과 선택 가능한 지역의 변화를 이해할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장은 PolicyMap의 전체 Harness를 설명합니다.</a:t>
            </a:r>
          </a:p>
          <a:p xmlns:a="http://schemas.openxmlformats.org/drawingml/2006/main">
            <a:r>
              <a:t>Gemini는 문서를 구조화하고 근거를 설명합니다. 정량값은 검증된 계산식과 통계 모형이 계산합니다.</a:t>
            </a:r>
          </a:p>
          <a:p xmlns:a="http://schemas.openxmlformats.org/drawingml/2006/main">
            <a:r>
              <a:t>지도와 페르소나는 같은 시나리오 ID, 데이터 버전과 모형 버전을 사용합니다.</a:t>
            </a:r>
          </a:p>
          <a:p xmlns:a="http://schemas.openxmlformats.org/drawingml/2006/main">
            <a:r>
              <a:t>제품 구성 근거: 프로젝트 PRODUCT_SPEC.md, ARCHITECTURE.md, DATA_MODEL.md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흐름: 10.15 대책 PDF를 업로드한 뒤 기존 정책과 달라진 규칙을 확인하고 시뮬레이션을 실행합니다.</a:t>
            </a:r>
          </a:p>
          <a:p xmlns:a="http://schemas.openxmlformats.org/drawingml/2006/main">
            <a:r>
              <a:t>지도는 직접 적용 지역, 인접 지역 전이 가능성과 시간 변화를 보여줍니다.</a:t>
            </a:r>
          </a:p>
          <a:p xmlns:a="http://schemas.openxmlformats.org/drawingml/2006/main">
            <a:r>
              <a:t>오른쪽 페르소나는 같은 정책이 가구별 구매력과 행동에 미치는 차이를 보여줍니다.</a:t>
            </a:r>
          </a:p>
          <a:p xmlns:a="http://schemas.openxmlformats.org/drawingml/2006/main">
            <a:r>
              <a:t>화면 이미지: OpenAI image generation으로 제작한 발표용 제품 콘셉트입니다. 화면 안의 지도 색상과 결과는 검증된 운영 예측이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PolicyMap이 제공하는 가치는 예측 숫자 하나가 아니라 정책안의 범위, 보완 대상과 시행 순서를 비교할 수 있게 하는 것입니다.</a:t>
            </a:r>
          </a:p>
          <a:p xmlns:a="http://schemas.openxmlformats.org/drawingml/2006/main">
            <a:r>
              <a:t>정책입안자는 직접효과뿐 아니라 인접 지역 전이, 취약가구 영향과 시장 선반영 가능성을 함께 검토합니다.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PolicyMap은 결론과 함께 정책 완전성, 데이터 완전성, 근거 적합성과 모형 재현성을 분리해 보여줍니다.</a:t>
            </a:r>
          </a:p>
          <a:p xmlns:a="http://schemas.openxmlformats.org/drawingml/2006/main">
            <a:r>
              <a:t>서로 충돌하는 연구를 평균으로 지우지 않고 조건부 Claim으로 보존합니다.</a:t>
            </a:r>
          </a:p>
          <a:p xmlns:a="http://schemas.openxmlformats.org/drawingml/2006/main">
            <a:r>
              <a:t>정책 원문과 연구 근거 카드: docs/evidence/README.md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PolicyMap은 가격을 단정하는 서비스가 아니라 정책의 작동 경로, 지역 전이와 가구별 영향을 시행 전에 비교하는 의사결정 도구입니다.</a:t>
            </a:r>
          </a:p>
          <a:p xmlns:a="http://schemas.openxmlformats.org/drawingml/2006/main">
            <a:r>
              <a:t>최종 시연에서는 최근 정책 PDF 업로드부터 수도권 지도, 페르소나 반응과 근거 패널까지 한 흐름으로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서울시: https://mediahub.seoul.go.kr/archives/2013415</a:t>
            </a:r>
          </a:p>
          <a:p xmlns:a="http://schemas.openxmlformats.org/drawingml/2006/main">
            <a:r>
              <a:t>2025.3 대책: https://eiec.kdi.re.kr/policy/materialView.do?num=264456</a:t>
            </a:r>
          </a:p>
          <a:p xmlns:a="http://schemas.openxmlformats.org/drawingml/2006/main">
            <a:r>
              <a:t>2025.6 대책: https://www.molit.go.kr/USR/NEWS/m_71/dtl.jsp/dtl.jsp?id=95091036</a:t>
            </a:r>
          </a:p>
          <a:p xmlns:a="http://schemas.openxmlformats.org/drawingml/2006/main">
            <a:r>
              <a:t>2025.9 대책: https://m.korea.kr/briefing/policyBriefingView.do?newsId=156721813</a:t>
            </a:r>
          </a:p>
          <a:p xmlns:a="http://schemas.openxmlformats.org/drawingml/2006/main">
            <a:r>
              <a:t>2025.10 대책: https://www.fsc.go.kr/no010101/85432</a:t>
            </a:r>
          </a:p>
          <a:p xmlns:a="http://schemas.openxmlformats.org/drawingml/2006/main">
            <a:r>
              <a:t>2026 가계부채 관리: https://www.fsc.go.kr/no010101/86606</a:t>
            </a:r>
          </a:p>
          <a:p xmlns:a="http://schemas.openxmlformats.org/drawingml/2006/main">
            <a:r>
              <a:t>KDI 2023: https://www.kdi.re.kr/research/reportView?pub_no=18385</a:t>
            </a:r>
          </a:p>
          <a:p xmlns:a="http://schemas.openxmlformats.org/drawingml/2006/main">
            <a:r>
              <a:t>KDI 2022: https://www.kdi.re.kr/research/reportView?pub_no=18124</a:t>
            </a:r>
          </a:p>
          <a:p xmlns:a="http://schemas.openxmlformats.org/drawingml/2006/main">
            <a:r>
              <a:t>BOK 2016: https://www.bok.or.kr/portal/bbs/P0002455/view.do?menuNo=500788&amp;nttId=220406</a:t>
            </a:r>
          </a:p>
          <a:p xmlns:a="http://schemas.openxmlformats.org/drawingml/2006/main">
            <a:r>
              <a:t>BOK 2025-26: https://www.bok.or.kr/portal/bbs/P0002353/view.do?depth=200433&amp;menuNo=200433&amp;nttId=10093611</a:t>
            </a:r>
          </a:p>
          <a:p xmlns:a="http://schemas.openxmlformats.org/drawingml/2006/main">
            <a:r>
              <a:t>BOK 2022-45: https://www.bok.or.kr/portal/bbs/P0002353/view.do?menuNo=2004&amp;nttId=10074253</a:t>
            </a:r>
          </a:p>
          <a:p xmlns:a="http://schemas.openxmlformats.org/drawingml/2006/main">
            <a:r>
              <a:t>BOK 2025 household debt: https://www.bok.or.kr/portal/bbs/B0000257/view.do?menuNo=200327&amp;nttId=10095383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d582c5df44c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5023478f14b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520d030b14e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f547fb0d34e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9d628eff4a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7efeda89241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060178-E539-472D-96E2-B4B4AA5F6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108960"/>
            <a:ext cx="11704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DC8E6A-EAC2-4314-B8F3-FD7A141186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526280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4F8FC3-3E03-4647-8CAE-F0EF0AAC6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429000"/>
            <a:ext cx="11704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0EFD60-50C4-4E39-BCC1-4CAC60E18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61208B-1B0C-4F2D-AA70-42161683C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12984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A614F6-319C-4C4E-950D-7962A7171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874085-888E-4C05-87FE-6E8441BB7E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0B9700-52EA-421B-BC7C-400A1AA3E7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E983E-96C5-441E-99AE-99EE9318D1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640080"/>
            <a:ext cx="12984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278BED-E5B3-4896-BC33-9E10016FB6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286000"/>
            <a:ext cx="603504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e1082ead14f46" /><Relationship Type="http://schemas.openxmlformats.org/officeDocument/2006/relationships/slideLayout" Target="/ppt/slideLayouts/slideLayout1.xml" Id="Rd6e6c6adfccb4fdb" /><Relationship Type="http://schemas.openxmlformats.org/officeDocument/2006/relationships/slideLayout" Target="/ppt/slideLayouts/slideLayout2.xml" Id="R559458a9bfcd40ea" /><Relationship Type="http://schemas.openxmlformats.org/officeDocument/2006/relationships/slideLayout" Target="/ppt/slideLayouts/slideLayout3.xml" Id="R457e0db4943e4679" /><Relationship Type="http://schemas.openxmlformats.org/officeDocument/2006/relationships/slideLayout" Target="/ppt/slideLayouts/slideLayout4.xml" Id="Rcf239eef16a64c69" /><Relationship Type="http://schemas.openxmlformats.org/officeDocument/2006/relationships/slideLayout" Target="/ppt/slideLayouts/slideLayout5.xml" Id="R0b664083791549b6" /><Relationship Type="http://schemas.openxmlformats.org/officeDocument/2006/relationships/slideLayout" Target="/ppt/slideLayouts/slideLayout6.xml" Id="R059ee15bb4a640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6c6adfccb4fdb"/>
    <p:sldLayoutId xmlns:r="http://schemas.openxmlformats.org/officeDocument/2006/relationships" id="2147483650" r:id="R559458a9bfcd40ea"/>
    <p:sldLayoutId xmlns:r="http://schemas.openxmlformats.org/officeDocument/2006/relationships" id="2147483651" r:id="R457e0db4943e4679"/>
    <p:sldLayoutId xmlns:r="http://schemas.openxmlformats.org/officeDocument/2006/relationships" id="2147483652" r:id="Rcf239eef16a64c69"/>
    <p:sldLayoutId xmlns:r="http://schemas.openxmlformats.org/officeDocument/2006/relationships" id="2147483653" r:id="R0b664083791549b6"/>
    <p:sldLayoutId xmlns:r="http://schemas.openxmlformats.org/officeDocument/2006/relationships" id="2147483654" r:id="R059ee15bb4a640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dae39a4544374" /><Relationship Type="http://schemas.openxmlformats.org/officeDocument/2006/relationships/image" Target="/ppt/media/image.png" Id="R2ee6ea5905ea40f9" /><Relationship Type="http://schemas.openxmlformats.org/officeDocument/2006/relationships/notesSlide" Target="/ppt/notesSlides/notesSlide1.xml" Id="R05872ee9caee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0f38ef505848ea" /><Relationship Type="http://schemas.openxmlformats.org/officeDocument/2006/relationships/notesSlide" Target="/ppt/notesSlides/notesSlide2.xml" Id="Rda71db392a56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817edf78f44c9" /><Relationship Type="http://schemas.openxmlformats.org/officeDocument/2006/relationships/notesSlide" Target="/ppt/notesSlides/notesSlide3.xml" Id="R4a850dd3b9a04c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548031fb5494e" /><Relationship Type="http://schemas.openxmlformats.org/officeDocument/2006/relationships/notesSlide" Target="/ppt/notesSlides/notesSlide4.xml" Id="R4ccace02097b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21c3adf3d4508" /><Relationship Type="http://schemas.openxmlformats.org/officeDocument/2006/relationships/notesSlide" Target="/ppt/notesSlides/notesSlide5.xml" Id="Rd527b1c76d6b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4c81619594c6b" /><Relationship Type="http://schemas.openxmlformats.org/officeDocument/2006/relationships/notesSlide" Target="/ppt/notesSlides/notesSlide6.xml" Id="R220b1d14b03647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c48c9327e41e3" /><Relationship Type="http://schemas.openxmlformats.org/officeDocument/2006/relationships/image" Target="/ppt/media/image2.png" Id="R2078b82fd6db45f5" /><Relationship Type="http://schemas.openxmlformats.org/officeDocument/2006/relationships/notesSlide" Target="/ppt/notesSlides/notesSlide7.xml" Id="Rd43f07cf42ac45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bf6801e6b4140" /><Relationship Type="http://schemas.openxmlformats.org/officeDocument/2006/relationships/notesSlide" Target="/ppt/notesSlides/notesSlide8.xml" Id="R4d3879cca7b444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47f5432744f91" /><Relationship Type="http://schemas.openxmlformats.org/officeDocument/2006/relationships/notesSlide" Target="/ppt/notesSlides/notesSlide9.xml" Id="Rfca23666488d4a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f0596031e46e7" /><Relationship Type="http://schemas.openxmlformats.org/officeDocument/2006/relationships/notesSlide" Target="/ppt/notesSlides/notesSlide10.xml" Id="R853fd49b19344e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434a4a3654717" /><Relationship Type="http://schemas.openxmlformats.org/officeDocument/2006/relationships/notesSlide" Target="/ppt/notesSlides/notesSlide11.xml" Id="R54f7b1a9f5434f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A582D-0661-46DB-8BA4-86D8FD473E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6ea5905ea40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4E7B3-E915-4D94-9A2F-C71F895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POLICY IMPACT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167E-1FCA-4388-92BB-C5AFD9C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PolicyMap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5435-35DC-4A17-BC77-A0FFC456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부동산 정책 시행 전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영향 시뮬레이션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1BF86-404A-4841-BB71-B6BD6A3B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원문에서 지역별 영향과 가구 반응까지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06025-8893-46E0-9B21-377D1AB8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Google DeepMind AI Hackathon | 2026.10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72CAE-DC8D-4D54-B472-76E8888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199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62F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8189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07AF97-6321-452F-9C28-C8E295A5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01  POLICY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9BB1F-9C84-42A8-AC58-FC73EBB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부동산 정책은 짧은 기간에도 여러 수단이 연속해서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52EA0-883F-4E7D-87EA-728A6F3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최근 대책은 지역 지정, 금융규제와 공급정책을 함께 조정했다.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4DC0-0785-4614-B626-22AE501D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D7CE-9E2F-4D06-8DD9-3B9810C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551F-192A-40D1-930B-D4179AB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102C8-7E99-4D88-ACF2-82C12ED9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223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D6C80-C96C-4A85-8D64-73D213B9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5457B-535D-4A98-BCD1-0BB979DE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2025.02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AF304-19F1-4C9B-9ECA-2DDDE5C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토지거래허가구역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일부 해제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76B03-5272-4288-A55B-9AC4826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24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잠실·삼성·대치·청담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291개 단지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43681-5A74-4A98-93F7-6CA8BF30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314DB-A5CF-41BB-A4AC-1285F3E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D9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0A386-FE57-44D6-9598-2620594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958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2D9C"/>
                </a:solidFill>
                <a:latin typeface="Arial"/>
                <a:ea typeface="Arial"/>
                <a:cs typeface="Arial"/>
              </a:rPr>
              <a:t>2025.03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C51D3-2194-47BE-A6FF-45E53CD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허가구역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재확대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AB5B6-D597-4D2B-AF34-19FC410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48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강남 3구·용산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전체 아파트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EAE84-4F56-40B2-B860-B8B0F3C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005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D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1E227-ED78-4C8C-B606-3834A40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D0FB4-B247-4F67-B61D-7D7CD966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2025.06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9B27E-77B9-4A50-A0E1-83B0BD1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가계부채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관리 강화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683B1-8558-46EF-A9D7-7F1A7FCF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주담대 6억원 한도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전입의무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4C1F0-C69E-4C94-8446-F5530B31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81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F62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82142-123F-4230-AA0D-9393641F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54BE5-B61B-4DD7-A455-599258DC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2025.09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3BC14-2AED-4B9C-96D1-27230A5A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수도권 공급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확대방안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4C70E9-E294-4B1F-8EC6-AC25CE1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48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2030년까지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135만호 목표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D720F-E258-426A-B997-679FC29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005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7D7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4E21E-2DD7-4563-8BEE-8C907F3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D6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148B4E-30B9-4105-9E9F-70558B7C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1D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1D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1D6C"/>
                </a:solidFill>
                <a:latin typeface="Arial"/>
                <a:ea typeface="Arial"/>
                <a:cs typeface="Arial"/>
              </a:rPr>
              <a:t>2025.10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E627E-61D2-44B3-9AD7-9D21A945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규제지역과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대출규제 확대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734EA-F3B2-4EAD-8942-35D0BCB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242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서울 전역·경기 12곳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LTV 70%에서 40%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4ACFF-B295-4D56-BB6C-C553830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81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1D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AA6CD-F614-4290-8C26-2F3718F1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990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2E11A-8CE2-4C47-A1C9-7C865421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4958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EB97B-F7B0-4780-AF2F-E6DBB169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8196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가계대출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추가 관리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D660F-E1F5-45AF-960C-1F85490B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448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관리대상 증가율 1.5%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만기연장 제한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8AE3E-0A11-4292-8F7F-CEF03D69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4200525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F62F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6DD9DA-26FC-4043-B68E-9197B3F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343650"/>
            <a:ext cx="1150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5C9FA-AD5D-4A38-AD25-90FC09FA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543675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정책입안자는 개별 수단의 효과보다 정책 조합과 시행 순서를 함께 판단해야 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0BE86C-3B4B-4587-A4B2-7596853E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출처: 서울시(2025.2), 관계부처 합동(2025.3), 국토교통부·금융위원회(2025.6, 2025.9, 2025.10, 2026.4)</a:t>
            </a:r>
          </a:p>
        </p:txBody>
      </p:sp>
    </p:spTree>
    <p:extLst>
      <p:ext uri="{BB962C8B-B14F-4D97-AF65-F5344CB8AC3E}">
        <p14:creationId xmlns:p14="http://schemas.microsoft.com/office/powerpoint/2010/main" val="1914380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ADD5F-6DD3-4CA4-ADA6-BCF86AE8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02  OBSERVED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08833-5A40-4B2E-B5E8-3B4DAC2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선별 규제는 대상 지역과 인접 지역에 다른 결과를 만들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0735E-03B3-4AF4-A8F4-73F83B77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2020년 잠실·삼성·대치·청담 토지거래허가구역 사례의 사후 추정치다.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BA76C-80A8-4231-AE83-55FD571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796AC-390C-4A7E-8C35-B4E320A0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486E-3A5F-47DA-BCA2-16E2AF7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A15C9-B570-42D3-8153-A367BFC6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규제지역 내부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3E67E-B229-4E32-A474-099D2C1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주택 매매거래량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60D50-C117-4D3C-B9E1-C6E76382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40100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87F05-43A9-4861-9878-A23FC4B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765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1D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01D6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1D6C"/>
                </a:solidFill>
                <a:latin typeface="Arial"/>
                <a:ea typeface="Arial"/>
                <a:cs typeface="Arial"/>
              </a:rPr>
              <a:t>-38.3%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E4E0F-0015-4AB2-81C8-7D3415E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주택가격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B99B5-81A5-4383-BD6C-B2841493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87A3D-5C12-452C-ADD1-D08C85DA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95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-4.3%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80A92-4065-4379-9C4F-3CAB7E50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5km 이내 비규제주택 가격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A33F4-39C2-449D-97B2-C28AFF6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1104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C7D4A-3C87-4C34-B44B-2C8F6E5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863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+2.3%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4F5B2-7064-47B5-90F6-64DF15CA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19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직접효과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756A8-48D4-49A5-B403-F3A33BB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전이효과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DB45C-7D68-4CCF-9723-4B610F6F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3219450" cy="3219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19050">
            <a:solidFill>
              <a:srgbClr val="007D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2135F-535F-4B0B-A9E3-F81AAF2F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38525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0F62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EC0D0-43C3-47ED-868E-38F3C0B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인접 비규제지역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CDFF-2751-4D0E-8067-DF5613B7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+2.3%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F6A5A-312A-406C-8AA2-F276BB2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허가구역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80B62-2E96-460D-820A-4D3A0DF4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181475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001D6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01D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001D6C"/>
                </a:solidFill>
                <a:latin typeface="Arial Unicode MS"/>
                <a:ea typeface="Arial Unicode MS"/>
                <a:cs typeface="Arial Unicode MS"/>
              </a:rPr>
              <a:t>가격 -4.3%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01D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001D6C"/>
                </a:solidFill>
                <a:latin typeface="Arial Unicode MS"/>
                <a:ea typeface="Arial Unicode MS"/>
                <a:cs typeface="Arial Unicode MS"/>
              </a:rPr>
              <a:t>거래량 -38.3%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18CF5-F7D0-4FDE-8B2A-A1B1919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10300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규제 대상만 보면 안정 효과로 보이지만, 주변 지역에서는 수요 이동이 나타날 수 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78655-B84D-4E6E-99EE-12A9BC4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19900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EA2BC-9136-477D-BB5F-031C179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72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DA1E2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DA1E2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DA1E28"/>
                </a:solidFill>
                <a:latin typeface="Arial Unicode MS"/>
                <a:ea typeface="Arial Unicode MS"/>
                <a:cs typeface="Arial Unicode MS"/>
              </a:rPr>
              <a:t>이 추정치를 다른 시기나 수도권 전체에 그대로 적용하지 않는다.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DB959-DA1B-4F5B-AD30-D524B24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출처: KDI 연구보고서 2023-06 「주택시장과 규제」. 효과는 서울의 특정 지정 사례에 한정된다.</a:t>
            </a:r>
          </a:p>
        </p:txBody>
      </p:sp>
    </p:spTree>
    <p:extLst>
      <p:ext uri="{BB962C8B-B14F-4D97-AF65-F5344CB8AC3E}">
        <p14:creationId xmlns:p14="http://schemas.microsoft.com/office/powerpoint/2010/main" val="1515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D35D6-509C-4C42-8458-34D0C32A499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181350" y="52863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CE2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7AB60-9AAF-4205-B260-51FDD21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03  POLICY INTERACTION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7B91-4A2F-4F5A-8D29-DDF259B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효과는 금리, 시행 순서와 가구 재무상태에 따라 달라진다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AEA20-27FB-48FD-8563-22EF8772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같은 규제라도 시장 국면과 노출된 가구가 다르면 결과가 달라질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5B5FE-F890-4084-B0B7-334F90EC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9EBED-98EB-466F-9E08-0B33799A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8B1E2-F68D-4692-9BD7-0A26D20F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7C46-85CB-4962-BB1D-EF4B1B77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0" cy="518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C7A96-084D-4225-AEB4-F87FD874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2171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통화정책과 시행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82D70-9CE9-45A9-AC19-1CD2B1F5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기준금리 25bp 인하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7A025-5035-404A-96A6-2A5C523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서울 아파트가격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7EFAC-7210-495C-B869-BFDD326B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+1.4%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D8BEA-3826-4CE9-860A-CD2D694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주택담보대출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9F5B-FA83-483B-9B83-6C453119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+1.2%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6A04D-F253-4B27-831B-62E3DD9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1년 평균 반응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3879F-2923-44D4-A64A-AA44837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343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9525">
            <a:solidFill>
              <a:srgbClr val="00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E8AE6-BAAC-412E-B6E8-63A8E4D7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선제 강화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4B26F-BB61-4584-9224-6E4BE070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금리인하보다 먼저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정책지수 0.25 강화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F24F9-B7A9-4A8C-A764-8291811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2343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EA0CF-D98A-443C-A65B-9174B25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4~6개월 뒤 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670A6-2407-470F-ABA1-4CD5F89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같은 크기의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강화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C071E-EED6-4977-AD40-9D003F1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대출 증가압력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59B6E-E7E3-42B0-8F60-179BD2D4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19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-0.4%p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0AC75-A39B-4FED-AE3F-41A0D5E5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19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-0.2%p대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2C852-059A-44E3-87AA-546659B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3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VAR 모형의 부호 제약을 포함한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EBC72-3B5A-4243-95C4-3D3FD06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1790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가구별 노출 차이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F437D-EEF9-40C3-8112-47989F88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1EC00-85F4-458E-81EC-5BD2FEC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무주택 신혼부부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8405E-CDED-49FE-B419-5720256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정책대출 자격과 현금이 구매 가능 지역을 바꾼다.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8E00C-3E57-449C-AF82-37ABAD1A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6AF454-A75F-49EE-B35F-BEF7A96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2E57A-33EB-433C-8BD0-85DAD464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고DSR 실수요자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D811C-7D78-4CEC-820D-39296DA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같은 금리 변화에도 상환부담과 소비조정 폭이 크다.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6B26FA-AA7E-4300-9F02-EF16D3BA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339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BCA136-21D7-43A4-B469-6369D9D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5F479C-E065-4E4C-A069-E250B1B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1주택 갈아타기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9A725-2C1B-4CEB-98B3-D10F11E9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매도 시점과 추가대출 조건이 거래 결정을 늦춘다.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71213-6B37-4C3F-A4D3-43BD4E6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626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0A32F-50CF-4433-9BEB-BD724FB9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B8EE24-EFEB-479E-9AD1-C365DC9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9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다주택·임대사업자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1A7EE-5496-4314-BCE2-565CB50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57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8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만기연장, 세금과 임대차 조건이 함께 작동한다.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215ABE-FBAB-43A3-BD1A-0E31C7A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705600"/>
            <a:ext cx="550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841933-71A5-4E68-ACD5-D6640CD3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580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DSR 1%p 상승 시 연간 소비는 평균 0.37% 둔화했지만 집단별 차이가 컸다.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500568-4970-42D9-8AFD-0B4704C8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출처: 한국은행 BOK 이슈노트 제2025-26호, 제2022-45호. 수치는 각 연구의 표본과 모형 조건에 한정된다.</a:t>
            </a:r>
          </a:p>
        </p:txBody>
      </p:sp>
    </p:spTree>
    <p:extLst>
      <p:ext uri="{BB962C8B-B14F-4D97-AF65-F5344CB8AC3E}">
        <p14:creationId xmlns:p14="http://schemas.microsoft.com/office/powerpoint/2010/main" val="1268892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C77C92-761B-48CD-AA23-D98DD6C1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04  DECISION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942BD-EC9A-42B0-95F1-35EF96B0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사전평가에 필요한 판단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4BE65-82D3-42A2-ADAC-902F71B4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정책입안자가 주 사용자이며, 개인은 자신의 구매력과 선택지 변화를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0B6B7-263C-4871-93B4-1328C92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EEC60-35FB-4201-AF25-ED3027B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3EAE-C818-43EB-BAE1-800FAAD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725E-6175-479F-A733-61C4E3C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01955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72E1F-ED42-4D4E-A46C-BE52BBEC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rPr>
              <a:t>주 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2F8DD-6F67-4C94-90BE-F614CB5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정책입안자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52C8-52B8-4AD0-BE11-1F11FBBD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정책안의 범위와 예외를 비교하고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예상되는 부작용과 보완책을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시행 전에 검토한다.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9A9C0-E3E8-4A3F-9261-B5E8C93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6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F6B60-A5AE-4CC3-B795-A54C1DD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D0E2FF"/>
                </a:solidFill>
                <a:latin typeface="Arial Unicode MS"/>
                <a:ea typeface="Arial Unicode MS"/>
                <a:cs typeface="Arial Unicode MS"/>
              </a:rPr>
              <a:t>보조 사용자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6C146-8F62-4057-BAE0-8F7CCB4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개인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396C0-6FC1-4EE6-ADCD-56C0FF47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3105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내 대출 가능액과 선택 가능한 지역이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어떻게 달라지는지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8BDA8-17C0-4E25-A2AC-9A808F7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386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BA663-36C8-4F07-9514-C54ADCE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5028D-88C1-4EFC-9A9B-C364C7FF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어디에 적용할 것인가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5B294-B6AF-41DE-9D47-7FFA2BF9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직접 적용 지역과 인접 지역의 수요 이동을 함께 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B9799-8104-40DC-9D7B-D6D4DD3C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38350"/>
            <a:ext cx="386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954BF-CCDE-48F3-8443-1727A8F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31FAD-EF20-47CE-8590-1F48D5D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누가 더 크게 영향을 받는가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BC1C1-87A3-4A65-AF42-DB7FA8F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소득, 부채, 주택보유와 정책대출 자격으로 노출도를 나눈다.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AEB56-CF3C-4F88-8B9E-DB12CB1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81500"/>
            <a:ext cx="386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11917-EBC0-42B1-8728-5E50D5ED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1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3CC04-6D78-4771-B805-9ADBA216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어떤 경로로 결과가 나타나는가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46E9D-0E05-4CAF-B729-A5025AF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8165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대출 가능액, 거래량, 기대와 공급 시차를 연결한다.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681FA-B767-443B-8B2B-AFDA0E1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386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5AF2C-57AA-415F-8157-BC49F7D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91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2D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5271F-6477-4437-A7B9-32F8CBC1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10150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근거가 어디까지 유효한가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60212-94D2-44BB-882A-1199C5A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1650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연구의 지역, 기간과 방법이 현재 시나리오에 맞는지 표시한다.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15EBF-C31C-4113-8DEA-5CA5C2A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81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정책 설명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1A6E6-7524-4635-B75E-BFDA15A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9246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BF1C5-5597-43C6-A425-0201C2F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81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사전 영향평가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74645-4924-4D77-9582-C0D6243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9246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62F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EFAF99-326B-4666-A0C6-F131CC9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81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정책 결정</a:t>
            </a:r>
          </a:p>
        </p:txBody>
      </p:sp>
    </p:spTree>
    <p:extLst>
      <p:ext uri="{BB962C8B-B14F-4D97-AF65-F5344CB8AC3E}">
        <p14:creationId xmlns:p14="http://schemas.microsoft.com/office/powerpoint/2010/main" val="767259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44060-EDAE-4693-B106-587388A149B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811000" y="4114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62FE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1AC21-4A86-4994-9633-731E5E86C269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915400" y="4114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D79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9D571-FDFD-44AA-AB54-F31AEB9C2C7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619750" y="4114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62FE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C788A-5FAA-42A2-9278-9568427C7C2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724150" y="4114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62FE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E3B99E-8E10-420E-AF10-58764E20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05 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165AA-C13C-48DA-BB56-391A48E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PolicyMap은 정책 원문을 지역과 가구별 영향으로 변환한다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DAA23-3CA4-40CA-9953-BAE159F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문서 추출, 정책 원장, 근거 그래프와 시뮬레이션을 하나의 검증 경로로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95000-EBA7-4746-8B97-6E8AA31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26FF7-B4BF-46D0-A79A-B51F5F8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36D0A-E49C-42F8-80C5-16B8788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4ABFA-58AF-4D5B-8F03-DADA378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333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53C2B-C33B-419F-B3CF-E6F6BA0D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사람의 통제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28E2F-16EC-4045-AD1B-F29B9097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목표와 제약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D2F7F-56AE-4F4A-93E8-273D0D15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추출 규칙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2099A-B997-43D6-8F3D-0146354D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시나리오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0A1E2-9E40-451C-AB0C-A6ED906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038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EC2E4-4A89-47EE-A22D-C91B83BB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원문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D0755-728A-499C-B1E7-5EB9ED77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695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텍스트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PDF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HWPX·HWP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46428-6CE3-4FF5-9944-0E134C83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28950"/>
            <a:ext cx="23241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0F6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F376B-8141-4FD4-86BD-D2CA3F5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정책 차이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4C1D9-E63C-47F8-8ACB-F1AA385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1981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기존 정책과 비교해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신규·강화·완화·종료를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원자 규칙으로 구조화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E5A4D-8117-40B9-8945-29FF4558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724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002D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0AB56-977C-4C2F-8699-22FC9B9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분석 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D770B-CB7C-4B8A-9E3D-1472466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23812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지식 그래프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연구 Claim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JEV 가구 행동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지역·시계열 모형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F25C5-E0C5-4B2B-AE60-DCC4949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23241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9525">
            <a:solidFill>
              <a:srgbClr val="007D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D2B21-1E68-493F-A5B2-B46676B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시나리오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650A7-0B41-4819-BF47-5547718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24250"/>
            <a:ext cx="1981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직접효과와 전이효과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가구별 구매력과 행동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3·6·12개월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B2338-F6BC-445C-AD74-E5B27CC5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028950"/>
            <a:ext cx="15811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78138-3A9A-4392-A425-BDA79B74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181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의사결정 화면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7B3BF-FD78-4C81-B45B-8F9C720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524250"/>
            <a:ext cx="1238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수도권 지도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페르소나 반응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원인과 근거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05EFD-E99E-46D9-A2D4-8B27DB67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1333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Document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80BD5-D662-493F-9F6E-D42D8D4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1600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Gemini 4 Argon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46867-ACC8-46FE-9E27-AB37BBB7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00700"/>
            <a:ext cx="2190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Spanner Graph · BigQuery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3C28CA-FD90-4700-B982-CA16A5A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00700"/>
            <a:ext cx="1219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Cloud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D7E94-C448-45F0-B588-3894ED46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1333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D70A3-F6BC-447C-8E19-BD791755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검증과 증적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2CD4F1-9768-4093-A103-F2E7E291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96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원문 위치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9B37B-700E-480F-83E9-11720DE8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49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완전성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BA68BF-BA5D-48AD-9914-734630A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96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근거 등급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71BC98-7AEB-43B6-80B2-59EA2BD9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데이터·모델 버전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D13417-4F4B-4037-A61F-7853EDD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49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재현 가능한 실행 기록</a:t>
            </a:r>
          </a:p>
        </p:txBody>
      </p:sp>
    </p:spTree>
    <p:extLst>
      <p:ext uri="{BB962C8B-B14F-4D97-AF65-F5344CB8AC3E}">
        <p14:creationId xmlns:p14="http://schemas.microsoft.com/office/powerpoint/2010/main" val="905589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D000C-56B8-4D6F-BA6D-A6566A42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06 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E4D36-91E5-4588-8A5D-655E5081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수도권 지도와 가구 반응을 한 화면에서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05AFC-FFF1-41AF-ABEC-361A6A3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지역을 선택하면 정책 변화부터 가격 범위까지 이어지는 원인과 근거가 열린다.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3E103-C1CF-4E4F-BBAE-D684D56B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AE0D9-F7F6-4D18-B3D2-1A9FE8D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EED03-DDF8-45DC-8D00-AE894FD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98FD6-922B-4B7C-BDE7-E05548E13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8b82fd6db45f5"/>
          <a:stretch xmlns:a="http://schemas.openxmlformats.org/drawingml/2006/main"/>
        </p:blipFill>
        <p:spPr>
          <a:xfrm xmlns:a="http://schemas.openxmlformats.org/drawingml/2006/main">
            <a:off x="2254824" y="1676400"/>
            <a:ext cx="10120753" cy="5695950"/>
          </a:xfrm>
          <a:prstGeom xmlns:a="http://schemas.openxmlformats.org/drawingml/2006/main" prst="roundRect">
            <a:avLst>
              <a:gd name="adj" fmla="val 200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98F76-9AA6-4452-859A-1BE3AE5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발표용 제품 콘셉트 화면. 지도 색상과 시뮬레이션 결과는 제품 흐름을 설명하기 위한 예시이며 운영 예측값이 아니다.</a:t>
            </a:r>
          </a:p>
        </p:txBody>
      </p:sp>
    </p:spTree>
    <p:extLst>
      <p:ext uri="{BB962C8B-B14F-4D97-AF65-F5344CB8AC3E}">
        <p14:creationId xmlns:p14="http://schemas.microsoft.com/office/powerpoint/2010/main" val="329690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C9D17-A923-4A8A-BED4-8D788D8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07  POLICY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42E47-E05E-4814-ABB4-B19DD44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정책입안자가 구체화할 세 가지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1B809-2ABF-4619-85A6-805692A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효과가 큰 정책안보다 부작용과 근거를 함께 설명할 수 있는 정책안을 찾는다.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5247-4865-4475-ACFE-50D47434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031C9-6E99-4A1B-B2BB-5A3727C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A8F9C-FCFA-483A-896B-C856F00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4071-DE04-4137-A6A3-72FFC35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BF44B-4080-4C98-AA40-C5FBCD5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적용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BCEF0-B8F3-4BD5-9D53-40643BF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62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BC2EF-2DC5-494A-8B75-2F0A52E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어디까지 지정할 것인가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696BE-519B-4AD5-97B6-16E2E9C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543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과열지역만 지정한 안과 광역 지정안을 비교한다. 직접효과와 비규제지역 전이를 같은 지도에서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18B10-549E-418B-A179-4AD3BB97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543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0DBD8-BB78-4BA7-9BDF-3F1B310F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결정 근거: 지역별 변화 범위와 전이 가능성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7E278-4355-4532-ACE5-6374281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8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B10A3-AD39-454E-BD8A-2F56A81F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보완 대상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3A51A-BAD6-4D85-892C-9891E846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D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39CE8-36C9-49F2-A52C-8F4416FC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어떤 가구에 예외가 필요한가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767BC-05DA-4E3C-8364-16FCF2F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05300"/>
            <a:ext cx="3543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소득, 부채와 보유주택이 다른 가구의 구매력 변화를 비교한다. 실수요자 지원이 규제효과를 얼마나 줄이는지도 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E7105-662F-4F4A-A493-E2119B79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962650"/>
            <a:ext cx="3543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C9A0D-E35A-4187-AF1A-D36B91B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결정 근거: 가구별 노출도와 행동 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B4292-1F3C-4900-940E-040A8A5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8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2D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B950E-17F1-485B-B1F3-E1ED8593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시행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BED02-B615-4908-98B4-B6658D0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2D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2A69D-C1E8-4E80-B484-7EBDED2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금리와 공급 일정에 어떻게 맞출 것인가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4E607-FB4A-41C8-8291-8179D8F3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3543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즉시 시행과 단계 시행을 비교한다. 정책 발표, 시행일과 공급 시차를 분리해 시장 선반영 가능성을 점검한다.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BACFA-8F83-4165-995E-5944555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62650"/>
            <a:ext cx="3543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5C277-6ED1-4B6B-948A-4394DAB7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결정 근거: 3·6·12개월 시나리오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5E6F9-DEA8-4154-9F69-45C1AF28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이 장의 정책안은 의사결정 화면의 사용 예시다. 실제 권고에는 검증된 정책 원장, 데이터와 근거 적합성 평가가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227485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E68E3-CC23-4213-9BFB-13745A7F19B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306050" y="42005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D79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10504-08F3-41C5-BB04-FC1A5603541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19900" y="42005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2D9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FEB2A-4C15-4901-A524-9215F3FB46F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33750" y="42005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62FE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79F5CF-82DF-4978-89BF-121D2617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08  TRUST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32906-F2D6-411F-BE3F-3338CF9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결론보다 먼저 근거와 완전성을 보여준다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E5BE8-4C8C-409D-8E78-9258946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원문, 연구 Claim, 데이터와 모형 버전을 결과에서 다시 추적할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FA4C7-1647-4C65-9246-CDDFFE48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0E159-81FA-49A3-85E2-98A99A06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80522-2403-4D99-94D5-91619757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D69AC-6EF7-4D03-A132-BA92B08E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348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95F9F-62DD-4B0A-8B64-9A54A8B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사람의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57259-55A2-4CF5-B04E-904F84C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규칙 확정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A36D-A2A0-41B9-B7A0-49261D4D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근거 사용 범위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F895B-FAF1-44E9-A348-CFC5132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43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시나리오 공개와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D8BC5-31FB-420F-A502-8B3559E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647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F14C7-10D2-44AB-B428-2498499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정책·데이터 원본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433FB-423E-4968-A0BF-8A1805CB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305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법령과 보도자료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국토부·금융위·서울시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실거래·금리·공급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KDI·한국은행 연구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498-56EC-42EE-AEA7-CC7F483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28765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0F6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2BD61-664C-4860-96BB-09857F2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정책과 근거 그래프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341D1-3C48-4F74-944C-D216430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71850"/>
            <a:ext cx="25336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패키지와 원자 규칙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지역과 가구 적용 관계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상반된 연구 Claim 보존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시행일·예외·대체 관계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B996E-F1AB-43AD-9084-6D9D403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28765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002D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22173-75FC-4122-B072-5344CEC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002D9C"/>
                </a:solidFill>
                <a:latin typeface="Arial Unicode MS"/>
                <a:ea typeface="Arial Unicode MS"/>
                <a:cs typeface="Arial Unicode MS"/>
              </a:rPr>
              <a:t>검증된 시뮬레이션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2DC6A-E7F5-474E-AE1B-579F104D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25336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결정식과 통계 모형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JEV 가구 행동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시간 지연과 공간 전이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50%·80% 불확실성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82A35-55E1-4053-9FC2-5566C843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876550"/>
            <a:ext cx="30289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9525">
            <a:solidFill>
              <a:srgbClr val="007D7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96452-FBEA-4290-A3B2-8C04093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289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결과와 감사기록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AB36B-C223-4DA7-A034-51A675A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71850"/>
            <a:ext cx="2686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지도와 페르소나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원인 경로와 원문 위치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데이터·모델 상태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동일 입력의 재현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CA149-C3CC-44AC-B812-176829C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D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47711-CE03-49B2-92C0-C60D9EE7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F62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3E375-2A3A-44B9-8D23-054A1B7A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완전성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9EB4F-2CD2-4D0F-91D3-97ED18AE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38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필수 출처와 유효 규칙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82B95C-E890-4E43-9AEE-F567D68A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286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DC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9F458D-9F15-4783-92ED-4F6EA93C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28650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06B2D-E11B-42BD-A1C2-090C7BE0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34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데이터 완전성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9F5C2E-99FE-49AE-830A-1642FCA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838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지역·기간 결측 상태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53CCEC-3F7E-44CF-8A8F-92F342EE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286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DC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1CF19-AE2C-419F-8EE0-84D588D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2865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2D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74B4E1-3BD0-4A5D-B8D1-ADA498A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근거 적합성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27F8F-E4DA-4B02-A55A-9EEBCBF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838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정책·지역·시차 일치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F7DE7B-9D05-4A25-8BCA-5D0D46C5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7DC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3D79DE-1B51-446B-AEEC-562C643A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5252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8F8870-A4A7-4F6A-B2CA-0B011512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534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모형 재현성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C5DC8-1841-4E45-9C05-72B59BFC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838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입력·버전·실행 기록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BB3DDF-DF6D-4A9C-A47E-FF06C00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원칙: LLM은 문서를 구조화하고 설명한다. 정량값은 명시적 계산식 또는 검증된 통계 모형이 계산한다.</a:t>
            </a:r>
          </a:p>
        </p:txBody>
      </p:sp>
    </p:spTree>
    <p:extLst>
      <p:ext uri="{BB962C8B-B14F-4D97-AF65-F5344CB8AC3E}">
        <p14:creationId xmlns:p14="http://schemas.microsoft.com/office/powerpoint/2010/main" val="2015941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B4839-D62B-4668-A32D-64E1B41F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POLICYMAP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90070-EC88-45D6-B026-E67E085F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시행 전에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직접효과와 부작용을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함께 검토한다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5D27-B669-4B93-9406-36D2E42C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정책입안자는 범위와 보완책을 비교하고,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개인은 자신의 구매력과 선택지 변화를 이해한다.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E9BFC-CD9D-428B-81D5-33ADBEB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6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F314D-3ABE-40E6-90D5-5541E00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최종 데모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8740A-52A2-485B-A47A-A634E4A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정책 PDF 입력  |  수도권 3·6·12개월 시뮬레이션  |  페르소나 반응  |  근거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8F986-D896-4224-B4C2-AF75A3F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19050">
            <a:solidFill>
              <a:srgbClr val="D0E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45374-FE6A-4772-B148-BE1DDD7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7170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6F5"/>
          </a:solidFill>
          <a:ln xmlns:a="http://schemas.openxmlformats.org/drawingml/2006/main" w="19050">
            <a:solidFill>
              <a:srgbClr val="00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7F508-C12C-4886-8BDE-2B845A31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83845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5AE8A-3C07-4D30-B61E-04E6EAB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2861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 i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B41D2-3859-4625-B04E-C64EB01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43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가구 반응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0B79A-C009-4D4F-B9DC-175A916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 i="0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지역 전이효과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B1923-8F86-4FE6-ACA6-7BB956D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829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002D9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2D9C"/>
                </a:solidFill>
                <a:latin typeface="Arial"/>
                <a:ea typeface="Arial"/>
                <a:cs typeface="Arial"/>
              </a:rPr>
              <a:t>PolicyMap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AE9B3-948C-43EA-902E-D6E4732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8410D-33F8-4964-AB0B-46129CAB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1A13E-CFE7-4A00-9135-CB4F875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8267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7623FB-5986-48CB-A8D1-DE3F26F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03A14-B9BC-4E33-88ED-26A330F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344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주요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F52EE-8CEF-484F-9B5A-E51662E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1343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i="0">
                <a:solidFill>
                  <a:srgbClr val="525252"/>
                </a:solidFill>
                <a:latin typeface="Arial Unicode MS"/>
                <a:ea typeface="Arial Unicode MS"/>
                <a:cs typeface="Arial Unicode MS"/>
              </a:rPr>
              <a:t>정책 변화는 정부와 지자체의 공식 발표를, 효과 추정은 KDI와 한국은행 연구를 사용했다.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6A7F6-61B5-4326-8E3D-0B0EB98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48600"/>
            <a:ext cx="1379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4D0D3-992D-48F7-BFD2-6581C8B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62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PolicyMap | Google DeepMind AI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2347C-E8A1-419D-A2FF-8568602E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7962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6F6F6F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6F6F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F196D-1AAE-4F8F-8B9A-3597EFB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257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F62FE"/>
                </a:solidFill>
                <a:latin typeface="Arial Unicode MS"/>
                <a:ea typeface="Arial Unicode MS"/>
                <a:cs typeface="Arial Unicode MS"/>
              </a:rPr>
              <a:t>정책 원문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D7713-70C0-42FF-B70D-2743ADD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1733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5F6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07D79"/>
                </a:solidFill>
                <a:latin typeface="Arial Unicode MS"/>
                <a:ea typeface="Arial Unicode MS"/>
                <a:cs typeface="Arial Unicode MS"/>
              </a:rPr>
              <a:t>효과와 작동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15BA-9DC1-45DA-A329-1E385793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7AC0-8098-429C-B51D-258046D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서울시, 토지거래허가구역 해제 추진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70EF7-A100-493F-8341-66DC079E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2025.02.13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60546-4538-4659-8364-F5A1E60E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560A2-93EB-4254-AEED-5979EEC2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1F124-80A5-4A9A-970A-EEBB780D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관계부처 합동, 주택시장 안정화 방안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76E11-A7CF-44D6-A5DA-A23D886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2025.03.19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FCF68-D459-4042-978F-3CB0ED8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6449C-C2E4-4F9A-8CD4-8C765300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02509-E818-402F-885E-E300A0B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국토교통부·금융위원회, 가계부채 관리 강화 방안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773CC-C581-4704-9EFF-DA09184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2025.06.27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362C5-7FCF-4211-9DEC-B2E0D846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BED27-CF94-4D71-8AC3-70A1763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7A55C-DA6B-4ACD-920F-3F3B65F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국토교통부, 주택공급 확대방안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EBF00-EA57-4F86-8B17-6B9FD7C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2025.09.07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45A50-D960-4169-9D42-F9F25D72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E57DA-2B9E-4879-89EF-20FC200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43120-84A2-4D9F-9654-F9CC652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관계부처 합동, 주택시장 안정화 대책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C1D84-FA75-4074-B263-A1BE60C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48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2025.10.15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18CD9-6FF2-4327-A32F-7121BF71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341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BAD9E-5CAE-41FA-A26F-3CBD317B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F62F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188A9-B0E3-4885-B9C1-20D22A17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67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금융위원회, 2026년도 가계부채 관리방안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BAD26-2D09-44E6-8D54-1EC9F6B7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591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2026.04.01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FE792-7E14-4A87-A498-83E6C39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8770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07210-F720-452D-B3E6-1947056C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E66DD-A9BE-479A-8E87-CFE552A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KDI, 주택시장과 규제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ADD85-31CD-4AC8-8D7B-F1874FE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연구보고서 2023-06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C441B-E56D-492D-ADE1-EDC548A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E13DEF-8B94-49AD-B240-3395392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02ED4C-BC48-428D-B492-1A934ECB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KDI, 주택시장의 규제와 주택공급방식의 방향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C5CA1D-3C04-4B6A-BDAB-A3C3232E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연구보고서 2022-09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18B3D1-82E5-4C76-8BBE-0401D52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D91914-9FE6-4B96-AE2E-8890F077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E4370-826E-4C68-B77C-F8ABF4A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한국은행, 주택부문 거시건전성 정책 효과 분석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DFDCF5-3404-4F6B-844E-071B603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BOK 경제연구 2016-10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A8CC49-66F2-4484-86F0-D24908E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EB1A17-1F72-44B3-B368-38BF2186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00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6A351E-8606-4011-82C6-5E4AD39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한국은행, 거시건전성정책의 파급영향과 통화정책 조합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6DE7CB-FCCE-4994-A62E-B5923BF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BOK 이슈노트 2025-26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8C0BC3-7C4B-40C9-9E16-D7912EB2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911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0706C5-0D32-4D8C-9F4A-6135D790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43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76D073-EBF3-4F36-B18B-BC348F8D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2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한국은행, 금리상승 시 소비감소의 이질적 효과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62FEA-3B00-481C-9431-8FE7E92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48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BOK 이슈노트 2022-45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1923D7-9658-4E84-A609-A6D23E2C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1341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3CB144-4F6C-494E-8D08-0451C1B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286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7D7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7D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A25C30-8299-480E-A6FB-4EEC5BA1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67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38" b="1" i="0">
                <a:solidFill>
                  <a:srgbClr val="161616"/>
                </a:solidFill>
                <a:latin typeface="Arial Unicode MS"/>
                <a:ea typeface="Arial Unicode MS"/>
                <a:cs typeface="Arial Unicode MS"/>
              </a:rPr>
              <a:t>한국은행, 가계부채 관련 거시건전성 정책의 경제적 효과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3A4D36-3E31-4337-8CEF-12DBD398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591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공동연구 최종보고서 2025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FC4AC7-04E6-45DA-A18F-AF6288C0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8770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965CC8-80C7-4FA5-9FDE-769B31F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543800"/>
            <a:ext cx="1379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i="0">
                <a:solidFill>
                  <a:srgbClr val="6F6F6F"/>
                </a:solidFill>
                <a:latin typeface="Arial Unicode MS"/>
                <a:ea typeface="Arial Unicode MS"/>
                <a:cs typeface="Arial Unicode MS"/>
              </a:rPr>
              <a:t>전체 URL은 각 슬라이드의 발표자 노트와 프로젝트 docs/evidence/에 기록했다.</a:t>
            </a:r>
          </a:p>
        </p:txBody>
      </p:sp>
    </p:spTree>
    <p:extLst>
      <p:ext uri="{BB962C8B-B14F-4D97-AF65-F5344CB8AC3E}">
        <p14:creationId xmlns:p14="http://schemas.microsoft.com/office/powerpoint/2010/main" val="1155982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2026-10-15T15:05:19.6930000Z</dcterms:created>
  <dcterms:modified xsi:type="dcterms:W3CDTF">2026-10-15T15:05:19.6930000Z</dcterms:modified>
</coreProperties>
</file>