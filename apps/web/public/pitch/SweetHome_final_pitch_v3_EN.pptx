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67" r:id="rId3"/>
    <p:sldId id="268" r:id="rId4"/>
    <p:sldId id="269" r:id="rId5"/>
    <p:sldId id="270" r:id="rId6"/>
    <p:sldId id="257" r:id="rId7"/>
    <p:sldId id="258" r:id="rId8"/>
    <p:sldId id="259" r:id="rId9"/>
    <p:sldId id="260" r:id="rId10"/>
    <p:sldId id="261" r:id="rId11"/>
    <p:sldId id="262" r:id="rId12"/>
    <p:sldId id="271" r:id="rId13"/>
    <p:sldId id="263" r:id="rId14"/>
    <p:sldId id="264" r:id="rId15"/>
    <p:sldId id="265" r:id="rId16"/>
    <p:sldId id="266" r:id="rId17"/>
  </p:sldIdLst>
  <p:sldSz cx="14630400" cy="82296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IBM Plex Sans"/>
        <a:ea typeface="IBM Plex Sans KR"/>
        <a:cs typeface="IBM Plex San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IBM Plex Sans"/>
        <a:ea typeface="IBM Plex Sans KR"/>
        <a:cs typeface="IBM Plex San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IBM Plex Sans"/>
        <a:ea typeface="IBM Plex Sans KR"/>
        <a:cs typeface="IBM Plex San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IBM Plex Sans"/>
        <a:ea typeface="IBM Plex Sans KR"/>
        <a:cs typeface="IBM Plex San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IBM Plex Sans"/>
        <a:ea typeface="IBM Plex Sans KR"/>
        <a:cs typeface="IBM Plex San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IBM Plex Sans"/>
        <a:ea typeface="IBM Plex Sans KR"/>
        <a:cs typeface="IBM Plex San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IBM Plex Sans"/>
        <a:ea typeface="IBM Plex Sans KR"/>
        <a:cs typeface="IBM Plex San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IBM Plex Sans"/>
        <a:ea typeface="IBM Plex Sans KR"/>
        <a:cs typeface="IBM Plex San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IBM Plex Sans"/>
        <a:ea typeface="IBM Plex Sans KR"/>
        <a:cs typeface="IBM Plex San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08"/>
    <p:restoredTop sz="94675"/>
  </p:normalViewPr>
  <p:slideViewPr>
    <p:cSldViewPr snapToGrid="0">
      <p:cViewPr varScale="1">
        <p:scale>
          <a:sx n="99" d="100"/>
          <a:sy n="99" d="100"/>
        </p:scale>
        <p:origin x="3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point: SweetHome helps policymakers compare regional impacts and household responses before a policy takes effect.</a:t>
            </a:r>
          </a:p>
          <a:p>
            <a:r>
              <a:t>Image: a product concept illustration created with OpenAI image generation. It does not represent actual geographic boundaries or observed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Recent changes have repeatedly adjusted area designations, lending, supply and taxes, rather than a single rule.</a:t>
            </a:r>
          </a:p>
          <a:p>
            <a:r>
              <a:t>Seoul's partial easing of land transaction permit zones: https://mediahub.seoul.go.kr/archives/2013415</a:t>
            </a:r>
          </a:p>
          <a:p>
            <a:r>
              <a:t>March 2025 housing market stabilization plan: https://eiec.kdi.re.kr/policy/materialView.do?num=264456</a:t>
            </a:r>
          </a:p>
          <a:p>
            <a:r>
              <a:t>June 2025 household debt controls: https://www.molit.go.kr/USR/NEWS/m_71/dtl.jsp/dtl.jsp?id=95091036</a:t>
            </a:r>
          </a:p>
          <a:p>
            <a:r>
              <a:t>September 2025 housing supply expansion: https://m.korea.kr/briefing/policyBriefingView.do?newsId=156721813</a:t>
            </a:r>
          </a:p>
          <a:p>
            <a:r>
              <a:t>October 2025 housing market stabilization measures: https://www.fsc.go.kr/no010101/85432</a:t>
            </a:r>
          </a:p>
          <a:p>
            <a:r>
              <a:t>2026 household debt management plan: https://www.fsc.go.kr/no010101/86606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KDI estimated the effects of land transaction permit requirements introduced in June 2020 in Jamsil, Samseong, Daechi and Cheongdam.</a:t>
            </a:r>
          </a:p>
          <a:p>
            <a:r>
              <a:t>Sales volume in regulated areas fell by 38.3% and prices fell by 4.3%. Prices of nearby unregulated homes rose by 2.3% relative to more distant unregulated homes.</a:t>
            </a:r>
          </a:p>
          <a:p>
            <a:r>
              <a:t>These are retrospective estimates for a specific place and period. They should not be applied directly to a new policy scenario.</a:t>
            </a:r>
          </a:p>
          <a:p>
            <a:r>
              <a:t>Source: https://www.kdi.re.kr/research/reportView?pub_no=18385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Bank of Korea analysis shows that the sequencing of monetary and macroprudential policies matters.</a:t>
            </a:r>
          </a:p>
          <a:p>
            <a:r>
              <a:t>A 25 bp rate cut was associated with an average one-year response of 1.4% for Seoul apartment prices and 1.2% for mortgage lending.</a:t>
            </a:r>
          </a:p>
          <a:p>
            <a:r>
              <a:t>Early macroprudential tightening reduced loan growth pressure by about 0.4 percentage points. Tightening 4-6 months later reduced it by around 0.2 percentage points.</a:t>
            </a:r>
          </a:p>
          <a:p>
            <a:r>
              <a:t>The VAR identification includes sign restrictions. Do not count the direction of these results again as independent causal evidence.</a:t>
            </a:r>
          </a:p>
          <a:p>
            <a:r>
              <a:t>Policy mix research: https://www.bok.or.kr/portal/bbs/P0002353/view.do?depth=200433&amp;menuNo=200433&amp;nttId=10093611</a:t>
            </a:r>
          </a:p>
          <a:p>
            <a:r>
              <a:t>Household consumption research: https://www.bok.or.kr/portal/bbs/P0002353/view.do?menuNo=2004&amp;nttId=10074253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Policymakers are the main users. SweetHome provides evidence for comparing policy scope, exemptions and implementation timing, while leaving decisions to people.</a:t>
            </a:r>
          </a:p>
          <a:p>
            <a:r>
              <a:t>Individuals can use the same model to understand changes in their borrowing capacity and affordable locations.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implementation: PolicyWorkflow.tsx, PolicyExperimentView.tsx and policy_pipeline.py.</a:t>
            </a:r>
          </a:p>
          <a:p>
            <a:r>
              <a:t>Text, text-based PDF and HWPX parsing are implemented. Legacy HWP and scanned PDFs require conversion or OCR.</a:t>
            </a:r>
          </a:p>
          <a:p>
            <a:r>
              <a:t>Gemini extraction runs only when GEMINI_API_KEY and GEMINI_MODEL are configured. A limited rules-based engine is also available.</a:t>
            </a:r>
          </a:p>
          <a:p>
            <a:r>
              <a:t>Users confirm one rule, its quoted text, applicable regions, effective date and household or supply inputs. Price sensitivity coefficients are assumptions, not calibrated estimates.</a:t>
            </a:r>
          </a:p>
          <a:p>
            <a:r>
              <a:t>The implementation uses React, FastAPI, local JSON data and browser-local graph drafts. Document AI, Spanner Graph and BigQuery are not claimed as active integrations. Cloud deployment was not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Actual screenshot of the running local prototype at http://localhost:5174/, captured on 16 Oct 2026.</a:t>
            </a:r>
          </a:p>
          <a:p>
            <a:r>
              <a:t>This screenshot shows the historical demonstration view. Its prices and household behavior are synthetic fixtures, not observed or forecast results.</a:t>
            </a:r>
          </a:p>
          <a:p>
            <a:r>
              <a:t>The new document workflow separately calculates constraints from reviewed inputs. Do not confuse those results with the historical demo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Actual local prototype, inspected 16 Oct 2026.</a:t>
            </a:r>
          </a:p>
          <a:p>
            <a:r>
              <a:t>KnowledgeGraph.tsx and graph-editor.ts provide search, local node and edge editing, undo, redo, and JSON import/export.</a:t>
            </a:r>
          </a:p>
          <a:p>
            <a:r>
              <a:t>Drafts use localStorage. No server write, collaborative editing or automatic simulation recalculation is implemented.</a:t>
            </a:r>
          </a:p>
          <a:p>
            <a:r>
              <a:t>The graph contains synthetic policies and research claims. Connections are hypotheses, not proven causal links.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Verified against current source code and the running local prototype on 16 Oct 2026.</a:t>
            </a:r>
          </a:p>
          <a:p>
            <a:r>
              <a:t>Data scope: data/public/README.md. There are 77 SGIS 2018 boundaries and 30 official transaction records from three Seoul districts and two contract dates.</a:t>
            </a:r>
          </a:p>
          <a:p>
            <a:r>
              <a:t>Public records are reference observations and do not calibrate the scenario coefficients.</a:t>
            </a:r>
          </a:p>
          <a:p>
            <a:r>
              <a:t>Definitions: GlossaryHelp.tsx and glossary-data.ts. Policy comparisons: PolicyFactors.tsx.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calculation and disclosure behavior: policy_pipeline.py and PolicyExperimentView.tsx.</a:t>
            </a:r>
          </a:p>
          <a:p>
            <a:r>
              <a:t>Price sensitivity is a user-assumption calculation, not a validated causal forecast or a statistical confidence interval.</a:t>
            </a:r>
          </a:p>
          <a:p>
            <a:r>
              <a:t>Graph source: API demonstration graph, 118 nodes and 318 edges. Edits live in browser localStorage, support undo and JSON exchange, and do not mutate server data or simulation outputs.</a:t>
            </a:r>
          </a:p>
          <a:p>
            <a:r>
              <a:t>Remaining gaps include complete policy coverage, representative data, calibrated regional price effects and collaborative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Live demo: load an official example or upload a supported document, inspect extracted before-and-after values, confirm dates, regions and eligibility, then compare conditional outputs.</a:t>
            </a:r>
          </a:p>
          <a:p>
            <a:r>
              <a:t>Show the formula, input assumptions and JSON export. Then open the knowledge graph to inspect or edit a local hypothesis.</a:t>
            </a:r>
          </a:p>
          <a:p>
            <a:r>
              <a:t>This is a research prototype. Do not claim complete policy coverage or validated regional price predictions.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Seoul: https://mediahub.seoul.go.kr/archives/2013415</a:t>
            </a:r>
          </a:p>
          <a:p>
            <a:r>
              <a:t>March 2025 measures: https://eiec.kdi.re.kr/policy/materialView.do?num=264456</a:t>
            </a:r>
          </a:p>
          <a:p>
            <a:r>
              <a:t>June 2025 measures: https://www.molit.go.kr/USR/NEWS/m_71/dtl.jsp/dtl.jsp?id=95091036</a:t>
            </a:r>
          </a:p>
          <a:p>
            <a:r>
              <a:t>September 2025 measures: https://m.korea.kr/briefing/policyBriefingView.do?newsId=156721813</a:t>
            </a:r>
          </a:p>
          <a:p>
            <a:r>
              <a:t>October 2025 measures: https://www.fsc.go.kr/no010101/85432</a:t>
            </a:r>
          </a:p>
          <a:p>
            <a:r>
              <a:t>2026 household debt management: https://www.fsc.go.kr/no010101/86606</a:t>
            </a:r>
          </a:p>
          <a:p>
            <a:r>
              <a:t>KDI 2023: https://www.kdi.re.kr/research/reportView?pub_no=18385</a:t>
            </a:r>
          </a:p>
          <a:p>
            <a:r>
              <a:t>KDI 2022: https://www.kdi.re.kr/research/reportView?pub_no=18124</a:t>
            </a:r>
          </a:p>
          <a:p>
            <a:r>
              <a:t>BOK 2016: https://www.bok.or.kr/portal/bbs/P0002455/view.do?menuNo=500788&amp;nttId=220406</a:t>
            </a:r>
          </a:p>
          <a:p>
            <a:r>
              <a:t>BOK 2025-26: https://www.bok.or.kr/portal/bbs/P0002353/view.do?depth=200433&amp;menuNo=200433&amp;nttId=10093611</a:t>
            </a:r>
          </a:p>
          <a:p>
            <a:r>
              <a:t>BOK 2022-45: https://www.bok.or.kr/portal/bbs/P0002353/view.do?menuNo=2004&amp;nttId=10074253</a:t>
            </a:r>
          </a:p>
          <a:p>
            <a:r>
              <a:t>BOK 2025 household debt: https://www.bok.or.kr/portal/bbs/B0000257/view.do?menuNo=200327&amp;nttId=10095383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4060178-E539-472D-96E2-B4B4AA5F6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0" y="3108960"/>
            <a:ext cx="11704320" cy="118872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760" b="1">
                <a:solidFill>
                  <a:schemeClr val="tx1"/>
                </a:solidFill>
                <a:latin typeface="IBM Plex Sans"/>
                <a:ea typeface="IBM Plex Sans KR"/>
                <a:cs typeface="IBM Plex Sans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6DC8E6A-EAC2-4314-B8F3-FD7A141186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4560" y="4526280"/>
            <a:ext cx="10241280" cy="9144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520" b="0">
                <a:solidFill>
                  <a:schemeClr val="tx1"/>
                </a:solidFill>
                <a:latin typeface="IBM Plex Sans"/>
                <a:ea typeface="IBM Plex Sans KR"/>
                <a:cs typeface="IBM Plex Sans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9B4F8FC3-3E03-4647-8CAE-F0EF0AAC6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0" y="3429000"/>
            <a:ext cx="11704320" cy="1371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040" b="1">
                <a:solidFill>
                  <a:schemeClr val="tx1"/>
                </a:solidFill>
                <a:latin typeface="IBM Plex Sans"/>
                <a:ea typeface="IBM Plex Sans KR"/>
                <a:cs typeface="IBM Plex Sans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50EFD60-50C4-4E39-BCC1-4CAC60E18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640080"/>
            <a:ext cx="12984480" cy="100584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960" b="1">
                <a:solidFill>
                  <a:schemeClr val="tx1"/>
                </a:solidFill>
                <a:latin typeface="IBM Plex Sans"/>
                <a:ea typeface="IBM Plex Sans KR"/>
                <a:cs typeface="IBM Plex Sans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7261208B-1B0C-4F2D-AA70-42161683C1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960" y="2286000"/>
            <a:ext cx="12984480" cy="512064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700" b="0">
                <a:solidFill>
                  <a:schemeClr val="tx1"/>
                </a:solidFill>
                <a:latin typeface="IBM Plex Sans"/>
                <a:ea typeface="IBM Plex Sans KR"/>
                <a:cs typeface="IBM Plex Sans"/>
              </a:defRPr>
            </a:defPPr>
            <a:lvl1pPr marL="27432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1pPr>
            <a:lvl2pPr marL="64008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2pPr>
            <a:lvl3pPr marL="100584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3pPr>
            <a:lvl4pPr marL="137160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4pPr>
            <a:lvl5pPr marL="173736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5pPr>
            <a:lvl6pPr marL="210312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6pPr>
            <a:lvl7pPr marL="246888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7pPr>
            <a:lvl8pPr marL="283464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8pPr>
            <a:lvl9pPr marL="320040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A2A614F6-319C-4C4E-950D-7962A7171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640080"/>
            <a:ext cx="12984480" cy="100584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960" b="1">
                <a:solidFill>
                  <a:schemeClr val="tx1"/>
                </a:solidFill>
                <a:latin typeface="IBM Plex Sans"/>
                <a:ea typeface="IBM Plex Sans KR"/>
                <a:cs typeface="IBM Plex Sans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C874085-888E-4C05-87FE-6E8441BB7E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960" y="2286000"/>
            <a:ext cx="6035040" cy="512064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20" b="0">
                <a:solidFill>
                  <a:schemeClr val="tx1"/>
                </a:solidFill>
                <a:latin typeface="IBM Plex Sans"/>
                <a:ea typeface="IBM Plex Sans KR"/>
                <a:cs typeface="IBM Plex Sans"/>
              </a:defRPr>
            </a:defPPr>
            <a:lvl1pPr marL="27432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1pPr>
            <a:lvl2pPr marL="64008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2pPr>
            <a:lvl3pPr marL="100584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3pPr>
            <a:lvl4pPr marL="137160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4pPr>
            <a:lvl5pPr marL="173736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5pPr>
            <a:lvl6pPr marL="210312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6pPr>
            <a:lvl7pPr marL="246888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7pPr>
            <a:lvl8pPr marL="283464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8pPr>
            <a:lvl9pPr marL="320040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A0B9700-52EA-421B-BC7C-400A1AA3E75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772400" y="2286000"/>
            <a:ext cx="6035040" cy="512064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20" b="0">
                <a:solidFill>
                  <a:schemeClr val="tx1"/>
                </a:solidFill>
                <a:latin typeface="IBM Plex Sans"/>
                <a:ea typeface="IBM Plex Sans KR"/>
                <a:cs typeface="IBM Plex Sans"/>
              </a:defRPr>
            </a:defPPr>
            <a:lvl1pPr marL="27432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1pPr>
            <a:lvl2pPr marL="64008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2pPr>
            <a:lvl3pPr marL="100584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3pPr>
            <a:lvl4pPr marL="137160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4pPr>
            <a:lvl5pPr marL="173736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5pPr>
            <a:lvl6pPr marL="210312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6pPr>
            <a:lvl7pPr marL="246888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7pPr>
            <a:lvl8pPr marL="283464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8pPr>
            <a:lvl9pPr marL="320040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3AE983E-96C5-441E-99AE-99EE9318D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640080"/>
            <a:ext cx="12984480" cy="100584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960" b="1">
                <a:solidFill>
                  <a:schemeClr val="tx1"/>
                </a:solidFill>
                <a:latin typeface="IBM Plex Sans"/>
                <a:ea typeface="IBM Plex Sans KR"/>
                <a:cs typeface="IBM Plex Sans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9278BED-E5B3-4896-BC33-9E10016FB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960" y="2286000"/>
            <a:ext cx="6035040" cy="512064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700" b="0">
                <a:solidFill>
                  <a:schemeClr val="tx1"/>
                </a:solidFill>
                <a:latin typeface="IBM Plex Sans"/>
                <a:ea typeface="IBM Plex Sans KR"/>
                <a:cs typeface="IBM Plex Sans"/>
              </a:defRPr>
            </a:defPPr>
            <a:lvl1pPr marL="27432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1pPr>
            <a:lvl2pPr marL="64008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2pPr>
            <a:lvl3pPr marL="100584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3pPr>
            <a:lvl4pPr marL="137160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4pPr>
            <a:lvl5pPr marL="173736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5pPr>
            <a:lvl6pPr marL="210312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6pPr>
            <a:lvl7pPr marL="246888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7pPr>
            <a:lvl8pPr marL="283464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8pPr>
            <a:lvl9pPr marL="320040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IBM Plex Sans"/>
          <a:ea typeface="IBM Plex Sans KR"/>
          <a:cs typeface="IBM Plex Sans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IBM Plex Sans"/>
          <a:ea typeface="IBM Plex Sans KR"/>
          <a:cs typeface="IBM Plex Sans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IBM Plex Sans"/>
          <a:ea typeface="IBM Plex Sans KR"/>
          <a:cs typeface="IBM Plex Sans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IBM Plex Sans"/>
          <a:ea typeface="IBM Plex Sans KR"/>
          <a:cs typeface="IBM Plex Sans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IBM Plex Sans"/>
          <a:ea typeface="IBM Plex Sans KR"/>
          <a:cs typeface="IBM Plex Sans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IBM Plex Sans"/>
          <a:ea typeface="IBM Plex Sans KR"/>
          <a:cs typeface="IBM Plex Sans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IBM Plex Sans"/>
          <a:ea typeface="IBM Plex Sans KR"/>
          <a:cs typeface="IBM Plex Sans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IBM Plex Sans"/>
          <a:ea typeface="IBM Plex Sans KR"/>
          <a:cs typeface="IBM Plex Sans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IBM Plex Sans"/>
          <a:ea typeface="IBM Plex Sans KR"/>
          <a:cs typeface="IBM Plex Sans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IBM Plex Sans"/>
          <a:ea typeface="IBM Plex Sans KR"/>
          <a:cs typeface="IBM Plex Sans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IBM Plex Sans"/>
          <a:ea typeface="IBM Plex Sans KR"/>
          <a:cs typeface="IBM Plex Sans"/>
        </a:defRPr>
      </a:lvl1pPr>
      <a:lvl2pPr marL="457200" algn="l">
        <a:buNone/>
        <a:defRPr sz="1800">
          <a:solidFill>
            <a:schemeClr val="tx1"/>
          </a:solidFill>
          <a:latin typeface="IBM Plex Sans"/>
          <a:ea typeface="IBM Plex Sans KR"/>
          <a:cs typeface="IBM Plex Sans"/>
        </a:defRPr>
      </a:lvl2pPr>
      <a:lvl3pPr marL="914400" algn="l">
        <a:buNone/>
        <a:defRPr sz="1800">
          <a:solidFill>
            <a:schemeClr val="tx1"/>
          </a:solidFill>
          <a:latin typeface="IBM Plex Sans"/>
          <a:ea typeface="IBM Plex Sans KR"/>
          <a:cs typeface="IBM Plex Sans"/>
        </a:defRPr>
      </a:lvl3pPr>
      <a:lvl4pPr marL="1371600" algn="l">
        <a:buNone/>
        <a:defRPr sz="1800">
          <a:solidFill>
            <a:schemeClr val="tx1"/>
          </a:solidFill>
          <a:latin typeface="IBM Plex Sans"/>
          <a:ea typeface="IBM Plex Sans KR"/>
          <a:cs typeface="IBM Plex Sans"/>
        </a:defRPr>
      </a:lvl4pPr>
      <a:lvl5pPr marL="1828800" algn="l">
        <a:buNone/>
        <a:defRPr sz="1800">
          <a:solidFill>
            <a:schemeClr val="tx1"/>
          </a:solidFill>
          <a:latin typeface="IBM Plex Sans"/>
          <a:ea typeface="IBM Plex Sans KR"/>
          <a:cs typeface="IBM Plex Sans"/>
        </a:defRPr>
      </a:lvl5pPr>
      <a:lvl6pPr marL="2286000" algn="l">
        <a:buNone/>
        <a:defRPr sz="1800">
          <a:solidFill>
            <a:schemeClr val="tx1"/>
          </a:solidFill>
          <a:latin typeface="IBM Plex Sans"/>
          <a:ea typeface="IBM Plex Sans KR"/>
          <a:cs typeface="IBM Plex Sans"/>
        </a:defRPr>
      </a:lvl6pPr>
      <a:lvl7pPr marL="2743200" algn="l">
        <a:buNone/>
        <a:defRPr sz="1800">
          <a:solidFill>
            <a:schemeClr val="tx1"/>
          </a:solidFill>
          <a:latin typeface="IBM Plex Sans"/>
          <a:ea typeface="IBM Plex Sans KR"/>
          <a:cs typeface="IBM Plex Sans"/>
        </a:defRPr>
      </a:lvl7pPr>
      <a:lvl8pPr marL="3200400" algn="l">
        <a:buNone/>
        <a:defRPr sz="1800">
          <a:solidFill>
            <a:schemeClr val="tx1"/>
          </a:solidFill>
          <a:latin typeface="IBM Plex Sans"/>
          <a:ea typeface="IBM Plex Sans KR"/>
          <a:cs typeface="IBM Plex Sans"/>
        </a:defRPr>
      </a:lvl8pPr>
      <a:lvl9pPr marL="3657600" algn="l">
        <a:buNone/>
        <a:defRPr sz="1800">
          <a:solidFill>
            <a:schemeClr val="tx1"/>
          </a:solidFill>
          <a:latin typeface="IBM Plex Sans"/>
          <a:ea typeface="IBM Plex Sans KR"/>
          <a:cs typeface="IBM Plex San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A3BA582D-0661-46DB-8BA4-86D8FD473E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3BB4E7B3-E915-4D94-9A2F-C71F8950706F}"/>
              </a:ext>
            </a:extLst>
          </p:cNvPr>
          <p:cNvSpPr>
            <a:spLocks noGrp="1"/>
          </p:cNvSpPr>
          <p:nvPr/>
        </p:nvSpPr>
        <p:spPr>
          <a:xfrm>
            <a:off x="723900" y="10287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050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pPr>
            <a:r>
              <a:rPr sz="1050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rPr>
              <a:t>POLICY IMPACT SIMULATION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FA5167E-1FCA-4388-92BB-C5AFD9CCBB96}"/>
              </a:ext>
            </a:extLst>
          </p:cNvPr>
          <p:cNvSpPr>
            <a:spLocks noGrp="1"/>
          </p:cNvSpPr>
          <p:nvPr/>
        </p:nvSpPr>
        <p:spPr>
          <a:xfrm>
            <a:off x="723900" y="1676400"/>
            <a:ext cx="5334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46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46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46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SweetHome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6635435-35DC-4A17-BC77-A0FFC456D3E1}"/>
              </a:ext>
            </a:extLst>
          </p:cNvPr>
          <p:cNvSpPr>
            <a:spLocks noGrp="1"/>
          </p:cNvSpPr>
          <p:nvPr/>
        </p:nvSpPr>
        <p:spPr>
          <a:xfrm>
            <a:off x="723900" y="2724150"/>
            <a:ext cx="65913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96000"/>
              </a:lnSpc>
              <a:buNone/>
              <a:defRPr sz="31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lang="ko-KR" altLang="en-US" sz="3150" b="1" i="0" dirty="0">
                <a:solidFill>
                  <a:srgbClr val="0070C0"/>
                </a:solidFill>
                <a:latin typeface="IBM Plex Sans"/>
                <a:ea typeface="IBM Plex Sans KR"/>
                <a:cs typeface="IBM Plex Sans"/>
              </a:rPr>
              <a:t>Housing policy simulation</a:t>
            </a:r>
          </a:p>
          <a:p>
            <a:pPr algn="l">
              <a:lnSpc>
                <a:spcPct val="96000"/>
              </a:lnSpc>
              <a:buNone/>
              <a:defRPr sz="31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lang="ko-KR" altLang="en-US" sz="3150" b="1" i="0" dirty="0">
                <a:solidFill>
                  <a:srgbClr val="0070C0"/>
                </a:solidFill>
                <a:latin typeface="IBM Plex Sans"/>
                <a:ea typeface="IBM Plex Sans KR"/>
                <a:cs typeface="IBM Plex Sans"/>
              </a:rPr>
              <a:t>for lawmakers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271BF86-404A-4841-BB71-B6BD6A3B7928}"/>
              </a:ext>
            </a:extLst>
          </p:cNvPr>
          <p:cNvSpPr>
            <a:spLocks noGrp="1"/>
          </p:cNvSpPr>
          <p:nvPr/>
        </p:nvSpPr>
        <p:spPr>
          <a:xfrm>
            <a:off x="742950" y="4305300"/>
            <a:ext cx="5619750" cy="8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5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5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Assess local and household impacts</a:t>
            </a:r>
          </a:p>
          <a:p>
            <a:pPr algn="l">
              <a:lnSpc>
                <a:spcPct val="108000"/>
              </a:lnSpc>
              <a:buNone/>
              <a:defRPr sz="15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5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before policies take effect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A306025-8893-46E0-9B21-377D1AB8B99C}"/>
              </a:ext>
            </a:extLst>
          </p:cNvPr>
          <p:cNvSpPr>
            <a:spLocks noGrp="1"/>
          </p:cNvSpPr>
          <p:nvPr/>
        </p:nvSpPr>
        <p:spPr>
          <a:xfrm>
            <a:off x="742950" y="706755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125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pPr>
            <a:r>
              <a:rPr sz="1125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rPr>
              <a:t>Google DeepMind AI Hackathon | 2026.10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F2772CAE-DC8D-4D54-B472-76E8888B9A7E}"/>
              </a:ext>
            </a:extLst>
          </p:cNvPr>
          <p:cNvSpPr>
            <a:spLocks noGrp="1"/>
          </p:cNvSpPr>
          <p:nvPr/>
        </p:nvSpPr>
        <p:spPr>
          <a:xfrm>
            <a:off x="742950" y="6819900"/>
            <a:ext cx="2667000" cy="0"/>
          </a:xfrm>
          <a:prstGeom prst="line">
            <a:avLst/>
          </a:prstGeom>
          <a:noFill/>
          <a:ln w="28575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8189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62A46A-A113-0A2A-8048-EBC9F6912616}"/>
              </a:ext>
            </a:extLst>
          </p:cNvPr>
          <p:cNvSpPr txBox="1"/>
          <p:nvPr/>
        </p:nvSpPr>
        <p:spPr>
          <a:xfrm>
            <a:off x="5882300" y="444321"/>
            <a:ext cx="7790915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sz="2800" dirty="0" err="1">
                <a:latin typeface="IBM Plex Sans" panose="020B0503050203000203" pitchFamily="34" charset="0"/>
              </a:rPr>
              <a:t>What</a:t>
            </a:r>
            <a:r>
              <a:rPr lang="ko-KR" altLang="ko-KR" sz="2800" dirty="0">
                <a:latin typeface="IBM Plex Sans" panose="020B0503050203000203" pitchFamily="34" charset="0"/>
              </a:rPr>
              <a:t> </a:t>
            </a:r>
            <a:r>
              <a:rPr lang="ko-KR" altLang="ko-KR" sz="2800" dirty="0" err="1">
                <a:latin typeface="IBM Plex Sans" panose="020B0503050203000203" pitchFamily="34" charset="0"/>
              </a:rPr>
              <a:t>Is</a:t>
            </a:r>
            <a:r>
              <a:rPr lang="ko-KR" altLang="ko-KR" sz="2800" dirty="0">
                <a:latin typeface="IBM Plex Sans" panose="020B0503050203000203" pitchFamily="34" charset="0"/>
              </a:rPr>
              <a:t> </a:t>
            </a:r>
            <a:r>
              <a:rPr lang="ko-KR" altLang="ko-KR" sz="2800" b="1" dirty="0" err="1">
                <a:latin typeface="IBM Plex Sans" panose="020B0503050203000203" pitchFamily="34" charset="0"/>
              </a:rPr>
              <a:t>Social</a:t>
            </a:r>
            <a:r>
              <a:rPr lang="ko-KR" altLang="ko-KR" sz="2800" b="1" dirty="0">
                <a:latin typeface="IBM Plex Sans" panose="020B0503050203000203" pitchFamily="34" charset="0"/>
              </a:rPr>
              <a:t> </a:t>
            </a:r>
            <a:r>
              <a:rPr lang="ko-KR" altLang="ko-KR" sz="2800" b="1" dirty="0" err="1">
                <a:latin typeface="IBM Plex Sans" panose="020B0503050203000203" pitchFamily="34" charset="0"/>
              </a:rPr>
              <a:t>Good</a:t>
            </a:r>
            <a:r>
              <a:rPr lang="ko-KR" altLang="ko-KR" sz="2800" b="1" dirty="0">
                <a:latin typeface="IBM Plex Sans" panose="020B0503050203000203" pitchFamily="34" charset="0"/>
              </a:rPr>
              <a:t>?</a:t>
            </a:r>
            <a:endParaRPr lang="en-US" altLang="ko-KR" sz="2800" b="1" dirty="0">
              <a:latin typeface="IBM Plex Sans" panose="020B0503050203000203" pitchFamily="34" charset="0"/>
            </a:endParaRPr>
          </a:p>
          <a:p>
            <a:endParaRPr lang="ko-KR" altLang="ko-KR" sz="2800" b="1" dirty="0">
              <a:latin typeface="IBM Plex Sans" panose="020B0503050203000203" pitchFamily="34" charset="0"/>
            </a:endParaRPr>
          </a:p>
          <a:p>
            <a:r>
              <a:rPr lang="ko-KR" altLang="ko-KR" sz="2800" dirty="0" err="1">
                <a:latin typeface="IBM Plex Sans" panose="020B0503050203000203" pitchFamily="34" charset="0"/>
              </a:rPr>
              <a:t>Well</a:t>
            </a:r>
            <a:r>
              <a:rPr lang="ko-KR" altLang="ko-KR" sz="2800" dirty="0">
                <a:latin typeface="IBM Plex Sans" panose="020B0503050203000203" pitchFamily="34" charset="0"/>
              </a:rPr>
              <a:t>, </a:t>
            </a:r>
            <a:r>
              <a:rPr lang="ko-KR" altLang="ko-KR" sz="2800" dirty="0" err="1">
                <a:latin typeface="IBM Plex Sans" panose="020B0503050203000203" pitchFamily="34" charset="0"/>
              </a:rPr>
              <a:t>I</a:t>
            </a:r>
            <a:r>
              <a:rPr lang="ko-KR" altLang="ko-KR" sz="2800" dirty="0">
                <a:latin typeface="IBM Plex Sans" panose="020B0503050203000203" pitchFamily="34" charset="0"/>
              </a:rPr>
              <a:t> </a:t>
            </a:r>
            <a:r>
              <a:rPr lang="ko-KR" altLang="ko-KR" sz="2800" dirty="0" err="1">
                <a:latin typeface="IBM Plex Sans" panose="020B0503050203000203" pitchFamily="34" charset="0"/>
              </a:rPr>
              <a:t>Think</a:t>
            </a:r>
            <a:r>
              <a:rPr lang="ko-KR" altLang="ko-KR" sz="2800" dirty="0">
                <a:latin typeface="IBM Plex Sans" panose="020B0503050203000203" pitchFamily="34" charset="0"/>
              </a:rPr>
              <a:t>...</a:t>
            </a:r>
          </a:p>
          <a:p>
            <a:r>
              <a:rPr lang="ko-KR" altLang="ko-KR" sz="2800" dirty="0" err="1">
                <a:latin typeface="IBM Plex Sans" panose="020B0503050203000203" pitchFamily="34" charset="0"/>
              </a:rPr>
              <a:t>It's</a:t>
            </a:r>
            <a:r>
              <a:rPr lang="ko-KR" altLang="ko-KR" sz="2800" dirty="0">
                <a:latin typeface="IBM Plex Sans" panose="020B0503050203000203" pitchFamily="34" charset="0"/>
              </a:rPr>
              <a:t> </a:t>
            </a:r>
            <a:r>
              <a:rPr lang="ko-KR" altLang="ko-KR" sz="2800" dirty="0" err="1">
                <a:latin typeface="IBM Plex Sans" panose="020B0503050203000203" pitchFamily="34" charset="0"/>
              </a:rPr>
              <a:t>about</a:t>
            </a:r>
            <a:r>
              <a:rPr lang="ko-KR" altLang="ko-KR" sz="2800" dirty="0">
                <a:latin typeface="IBM Plex Sans" panose="020B0503050203000203" pitchFamily="34" charset="0"/>
              </a:rPr>
              <a:t> </a:t>
            </a:r>
            <a:r>
              <a:rPr lang="ko-KR" altLang="ko-KR" sz="2800" dirty="0" err="1">
                <a:latin typeface="IBM Plex Sans" panose="020B0503050203000203" pitchFamily="34" charset="0"/>
              </a:rPr>
              <a:t>making</a:t>
            </a:r>
            <a:r>
              <a:rPr lang="ko-KR" altLang="ko-KR" sz="2800" dirty="0">
                <a:latin typeface="IBM Plex Sans" panose="020B0503050203000203" pitchFamily="34" charset="0"/>
              </a:rPr>
              <a:t> </a:t>
            </a:r>
            <a:r>
              <a:rPr lang="ko-KR" altLang="ko-KR" sz="2800" dirty="0" err="1">
                <a:latin typeface="IBM Plex Sans" panose="020B0503050203000203" pitchFamily="34" charset="0"/>
              </a:rPr>
              <a:t>everyone</a:t>
            </a:r>
            <a:r>
              <a:rPr lang="ko-KR" altLang="ko-KR" sz="2800" dirty="0">
                <a:latin typeface="IBM Plex Sans" panose="020B0503050203000203" pitchFamily="34" charset="0"/>
              </a:rPr>
              <a:t> </a:t>
            </a:r>
            <a:r>
              <a:rPr lang="ko-KR" altLang="ko-KR" sz="2800" dirty="0" err="1">
                <a:latin typeface="IBM Plex Sans" panose="020B0503050203000203" pitchFamily="34" charset="0"/>
              </a:rPr>
              <a:t>in</a:t>
            </a:r>
            <a:r>
              <a:rPr lang="ko-KR" altLang="ko-KR" sz="2800" dirty="0">
                <a:latin typeface="IBM Plex Sans" panose="020B0503050203000203" pitchFamily="34" charset="0"/>
              </a:rPr>
              <a:t> </a:t>
            </a:r>
            <a:r>
              <a:rPr lang="ko-KR" altLang="ko-KR" sz="2800" dirty="0" err="1">
                <a:latin typeface="IBM Plex Sans" panose="020B0503050203000203" pitchFamily="34" charset="0"/>
              </a:rPr>
              <a:t>society</a:t>
            </a:r>
            <a:r>
              <a:rPr lang="ko-KR" altLang="ko-KR" sz="2800" dirty="0">
                <a:latin typeface="IBM Plex Sans" panose="020B0503050203000203" pitchFamily="34" charset="0"/>
              </a:rPr>
              <a:t> </a:t>
            </a:r>
            <a:r>
              <a:rPr lang="en-US" altLang="ko-KR" sz="2800" dirty="0">
                <a:latin typeface="IBM Plex Sans" panose="020B0503050203000203" pitchFamily="34" charset="0"/>
              </a:rPr>
              <a:t>“</a:t>
            </a:r>
            <a:r>
              <a:rPr lang="en-US" altLang="ko-KR" sz="2800" b="1" dirty="0">
                <a:solidFill>
                  <a:srgbClr val="0070C0"/>
                </a:solidFill>
                <a:latin typeface="IBM Plex Sans" panose="020B0503050203000203" pitchFamily="34" charset="0"/>
              </a:rPr>
              <a:t>H</a:t>
            </a:r>
            <a:r>
              <a:rPr lang="ko-KR" altLang="ko-KR" sz="2800" b="1" dirty="0" err="1">
                <a:solidFill>
                  <a:srgbClr val="0070C0"/>
                </a:solidFill>
                <a:latin typeface="IBM Plex Sans" panose="020B0503050203000203" pitchFamily="34" charset="0"/>
              </a:rPr>
              <a:t>appy</a:t>
            </a:r>
            <a:r>
              <a:rPr lang="en-US" altLang="ko-KR" sz="2800" dirty="0">
                <a:latin typeface="IBM Plex Sans" panose="020B0503050203000203" pitchFamily="34" charset="0"/>
              </a:rPr>
              <a:t>”</a:t>
            </a:r>
            <a:r>
              <a:rPr lang="ko-KR" altLang="ko-KR" sz="2800" dirty="0">
                <a:latin typeface="IBM Plex Sans" panose="020B0503050203000203" pitchFamily="34" charset="0"/>
              </a:rPr>
              <a:t>.</a:t>
            </a:r>
          </a:p>
        </p:txBody>
      </p:sp>
      <p:pic>
        <p:nvPicPr>
          <p:cNvPr id="3" name="그림 2" descr="부동산, 누구에게나 공평한 불행 | 마강래 | 메디치미디어 - 교보문고 구독서비스 sam">
            <a:extLst>
              <a:ext uri="{FF2B5EF4-FFF2-40B4-BE49-F238E27FC236}">
                <a16:creationId xmlns:a16="http://schemas.microsoft.com/office/drawing/2014/main" id="{E281263D-3B20-A81E-9CE5-09D964E91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31062" cy="82296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E4F5D14-990D-E62B-E02A-A99216A30B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4433" y="2477152"/>
            <a:ext cx="7772400" cy="28683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100710-D6AD-D10B-EF3C-9D72210EB064}"/>
              </a:ext>
            </a:extLst>
          </p:cNvPr>
          <p:cNvSpPr txBox="1"/>
          <p:nvPr/>
        </p:nvSpPr>
        <p:spPr>
          <a:xfrm>
            <a:off x="598868" y="1352262"/>
            <a:ext cx="45398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800" b="1" dirty="0" err="1">
                <a:solidFill>
                  <a:srgbClr val="FF0000"/>
                </a:solidFill>
                <a:latin typeface="IBM Plex Sans" panose="020B0503050203000203" pitchFamily="34" charset="0"/>
              </a:rPr>
              <a:t>Real</a:t>
            </a:r>
            <a:r>
              <a:rPr lang="ko-KR" altLang="ko-KR" sz="1800" b="1" dirty="0">
                <a:solidFill>
                  <a:srgbClr val="FF0000"/>
                </a:solidFill>
                <a:latin typeface="IBM Plex Sans" panose="020B0503050203000203" pitchFamily="34" charset="0"/>
              </a:rPr>
              <a:t> </a:t>
            </a:r>
            <a:r>
              <a:rPr lang="ko-KR" altLang="ko-KR" sz="1800" b="1" dirty="0" err="1">
                <a:solidFill>
                  <a:srgbClr val="FF0000"/>
                </a:solidFill>
                <a:latin typeface="IBM Plex Sans" panose="020B0503050203000203" pitchFamily="34" charset="0"/>
              </a:rPr>
              <a:t>Estate</a:t>
            </a:r>
            <a:r>
              <a:rPr lang="ko-KR" altLang="ko-KR" sz="1800" b="1" dirty="0">
                <a:solidFill>
                  <a:srgbClr val="FF0000"/>
                </a:solidFill>
                <a:latin typeface="IBM Plex Sans" panose="020B0503050203000203" pitchFamily="34" charset="0"/>
              </a:rPr>
              <a:t>: </a:t>
            </a:r>
            <a:endParaRPr lang="en-US" altLang="ko-KR" sz="1800" b="1" dirty="0">
              <a:solidFill>
                <a:srgbClr val="FF0000"/>
              </a:solidFill>
              <a:latin typeface="IBM Plex Sans" panose="020B0503050203000203" pitchFamily="34" charset="0"/>
            </a:endParaRPr>
          </a:p>
          <a:p>
            <a:r>
              <a:rPr lang="ko-KR" altLang="ko-KR" sz="1800" b="1" dirty="0">
                <a:solidFill>
                  <a:srgbClr val="FF0000"/>
                </a:solidFill>
                <a:latin typeface="IBM Plex Sans" panose="020B0503050203000203" pitchFamily="34" charset="0"/>
              </a:rPr>
              <a:t>The Great </a:t>
            </a:r>
            <a:r>
              <a:rPr lang="ko-KR" altLang="ko-KR" sz="1800" b="1" dirty="0" err="1">
                <a:solidFill>
                  <a:srgbClr val="FF0000"/>
                </a:solidFill>
                <a:latin typeface="IBM Plex Sans" panose="020B0503050203000203" pitchFamily="34" charset="0"/>
              </a:rPr>
              <a:t>Equalizer</a:t>
            </a:r>
            <a:r>
              <a:rPr lang="ko-KR" altLang="ko-KR" sz="1800" b="1" dirty="0">
                <a:solidFill>
                  <a:srgbClr val="FF0000"/>
                </a:solidFill>
                <a:latin typeface="IBM Plex Sans" panose="020B0503050203000203" pitchFamily="34" charset="0"/>
              </a:rPr>
              <a:t> of </a:t>
            </a:r>
            <a:r>
              <a:rPr lang="ko-KR" altLang="ko-KR" sz="1800" b="1" dirty="0" err="1">
                <a:solidFill>
                  <a:srgbClr val="FF0000"/>
                </a:solidFill>
                <a:latin typeface="IBM Plex Sans" panose="020B0503050203000203" pitchFamily="34" charset="0"/>
              </a:rPr>
              <a:t>Misery</a:t>
            </a:r>
            <a:endParaRPr lang="ko-KR" altLang="ko-KR" sz="1800" b="1" dirty="0">
              <a:solidFill>
                <a:srgbClr val="FF0000"/>
              </a:solidFill>
              <a:latin typeface="IBM Plex Sans" panose="020B050305020300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C381F0-2EF7-E421-9EFB-5EE0BC1B7AD3}"/>
              </a:ext>
            </a:extLst>
          </p:cNvPr>
          <p:cNvSpPr txBox="1"/>
          <p:nvPr/>
        </p:nvSpPr>
        <p:spPr>
          <a:xfrm>
            <a:off x="367047" y="6984505"/>
            <a:ext cx="34322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800" b="1" dirty="0" err="1">
                <a:solidFill>
                  <a:srgbClr val="FF0000"/>
                </a:solidFill>
                <a:latin typeface="IBM Plex Sans" panose="020B0503050203000203" pitchFamily="34" charset="0"/>
              </a:rPr>
              <a:t>Why</a:t>
            </a:r>
            <a:r>
              <a:rPr lang="ko-KR" altLang="ko-KR" sz="1800" b="1" dirty="0">
                <a:solidFill>
                  <a:srgbClr val="FF0000"/>
                </a:solidFill>
                <a:latin typeface="IBM Plex Sans" panose="020B0503050203000203" pitchFamily="34" charset="0"/>
              </a:rPr>
              <a:t> </a:t>
            </a:r>
            <a:r>
              <a:rPr lang="ko-KR" altLang="ko-KR" sz="1800" b="1" dirty="0" err="1">
                <a:solidFill>
                  <a:srgbClr val="FF0000"/>
                </a:solidFill>
                <a:latin typeface="IBM Plex Sans" panose="020B0503050203000203" pitchFamily="34" charset="0"/>
              </a:rPr>
              <a:t>Does</a:t>
            </a:r>
            <a:r>
              <a:rPr lang="ko-KR" altLang="ko-KR" sz="1800" b="1" dirty="0">
                <a:solidFill>
                  <a:srgbClr val="FF0000"/>
                </a:solidFill>
                <a:latin typeface="IBM Plex Sans" panose="020B0503050203000203" pitchFamily="34" charset="0"/>
              </a:rPr>
              <a:t> </a:t>
            </a:r>
            <a:r>
              <a:rPr lang="ko-KR" altLang="ko-KR" sz="1800" b="1" dirty="0" err="1">
                <a:solidFill>
                  <a:srgbClr val="FF0000"/>
                </a:solidFill>
                <a:latin typeface="IBM Plex Sans" panose="020B0503050203000203" pitchFamily="34" charset="0"/>
              </a:rPr>
              <a:t>the</a:t>
            </a:r>
            <a:r>
              <a:rPr lang="ko-KR" altLang="ko-KR" sz="1800" b="1" dirty="0">
                <a:solidFill>
                  <a:srgbClr val="FF0000"/>
                </a:solidFill>
                <a:latin typeface="IBM Plex Sans" panose="020B0503050203000203" pitchFamily="34" charset="0"/>
              </a:rPr>
              <a:t> </a:t>
            </a:r>
            <a:r>
              <a:rPr lang="ko-KR" altLang="ko-KR" sz="1800" b="1" dirty="0" err="1">
                <a:solidFill>
                  <a:srgbClr val="FF0000"/>
                </a:solidFill>
                <a:latin typeface="IBM Plex Sans" panose="020B0503050203000203" pitchFamily="34" charset="0"/>
              </a:rPr>
              <a:t>Housing</a:t>
            </a:r>
            <a:r>
              <a:rPr lang="ko-KR" altLang="ko-KR" sz="1800" b="1" dirty="0">
                <a:solidFill>
                  <a:srgbClr val="FF0000"/>
                </a:solidFill>
                <a:latin typeface="IBM Plex Sans" panose="020B0503050203000203" pitchFamily="34" charset="0"/>
              </a:rPr>
              <a:t> Market </a:t>
            </a:r>
            <a:r>
              <a:rPr lang="ko-KR" altLang="ko-KR" sz="1800" b="1" dirty="0" err="1">
                <a:solidFill>
                  <a:srgbClr val="FF0000"/>
                </a:solidFill>
                <a:latin typeface="IBM Plex Sans" panose="020B0503050203000203" pitchFamily="34" charset="0"/>
              </a:rPr>
              <a:t>Leave</a:t>
            </a:r>
            <a:r>
              <a:rPr lang="ko-KR" altLang="ko-KR" sz="1800" b="1" dirty="0">
                <a:solidFill>
                  <a:srgbClr val="FF0000"/>
                </a:solidFill>
                <a:latin typeface="IBM Plex Sans" panose="020B0503050203000203" pitchFamily="34" charset="0"/>
              </a:rPr>
              <a:t> Us </a:t>
            </a:r>
            <a:r>
              <a:rPr lang="ko-KR" altLang="ko-KR" sz="1800" b="1" dirty="0" err="1">
                <a:solidFill>
                  <a:srgbClr val="FF0000"/>
                </a:solidFill>
                <a:latin typeface="IBM Plex Sans" panose="020B0503050203000203" pitchFamily="34" charset="0"/>
              </a:rPr>
              <a:t>Feeling</a:t>
            </a:r>
            <a:r>
              <a:rPr lang="ko-KR" altLang="ko-KR" sz="1800" b="1" dirty="0">
                <a:solidFill>
                  <a:srgbClr val="FF0000"/>
                </a:solidFill>
                <a:latin typeface="IBM Plex Sans" panose="020B0503050203000203" pitchFamily="34" charset="0"/>
              </a:rPr>
              <a:t> </a:t>
            </a:r>
            <a:r>
              <a:rPr lang="ko-KR" altLang="ko-KR" sz="1800" b="1" dirty="0" err="1">
                <a:solidFill>
                  <a:srgbClr val="FF0000"/>
                </a:solidFill>
                <a:latin typeface="IBM Plex Sans" panose="020B0503050203000203" pitchFamily="34" charset="0"/>
              </a:rPr>
              <a:t>So</a:t>
            </a:r>
            <a:r>
              <a:rPr lang="ko-KR" altLang="ko-KR" sz="1800" b="1" dirty="0">
                <a:solidFill>
                  <a:srgbClr val="FF0000"/>
                </a:solidFill>
                <a:latin typeface="IBM Plex Sans" panose="020B0503050203000203" pitchFamily="34" charset="0"/>
              </a:rPr>
              <a:t> </a:t>
            </a:r>
            <a:r>
              <a:rPr lang="ko-KR" altLang="ko-KR" sz="1800" b="1" dirty="0" err="1">
                <a:solidFill>
                  <a:srgbClr val="FF0000"/>
                </a:solidFill>
                <a:latin typeface="IBM Plex Sans" panose="020B0503050203000203" pitchFamily="34" charset="0"/>
              </a:rPr>
              <a:t>Hopeless</a:t>
            </a:r>
            <a:r>
              <a:rPr lang="ko-KR" altLang="ko-KR" sz="1800" b="1" dirty="0">
                <a:solidFill>
                  <a:srgbClr val="FF0000"/>
                </a:solidFill>
                <a:latin typeface="IBM Plex Sans" panose="020B0503050203000203" pitchFamily="34" charset="0"/>
              </a:rPr>
              <a:t>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C6B0EC-FA06-CA25-BF31-4D0427827814}"/>
              </a:ext>
            </a:extLst>
          </p:cNvPr>
          <p:cNvSpPr txBox="1"/>
          <p:nvPr/>
        </p:nvSpPr>
        <p:spPr>
          <a:xfrm>
            <a:off x="5882300" y="5749230"/>
            <a:ext cx="8065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b="1" dirty="0" err="1"/>
              <a:t>South</a:t>
            </a:r>
            <a:r>
              <a:rPr lang="ko-KR" altLang="ko-KR" b="1" dirty="0"/>
              <a:t> </a:t>
            </a:r>
            <a:r>
              <a:rPr lang="ko-KR" altLang="ko-KR" b="1" dirty="0" err="1"/>
              <a:t>Korea's</a:t>
            </a:r>
            <a:r>
              <a:rPr lang="ko-KR" altLang="ko-KR" b="1" dirty="0"/>
              <a:t> </a:t>
            </a:r>
            <a:r>
              <a:rPr lang="ko-KR" altLang="ko-KR" b="1" dirty="0" err="1"/>
              <a:t>Happiness</a:t>
            </a:r>
            <a:r>
              <a:rPr lang="ko-KR" altLang="ko-KR" b="1" dirty="0"/>
              <a:t> </a:t>
            </a:r>
            <a:r>
              <a:rPr lang="ko-KR" altLang="ko-KR" b="1" dirty="0" err="1"/>
              <a:t>Ranking</a:t>
            </a:r>
            <a:r>
              <a:rPr lang="ko-KR" altLang="ko-KR" b="1" dirty="0"/>
              <a:t> </a:t>
            </a:r>
            <a:r>
              <a:rPr lang="ko-KR" altLang="ko-KR" b="1" dirty="0" err="1"/>
              <a:t>Falls</a:t>
            </a:r>
            <a:r>
              <a:rPr lang="ko-KR" altLang="ko-KR" b="1" dirty="0"/>
              <a:t> </a:t>
            </a:r>
            <a:r>
              <a:rPr lang="ko-KR" altLang="ko-KR" b="1" dirty="0" err="1"/>
              <a:t>Again</a:t>
            </a:r>
            <a:r>
              <a:rPr lang="ko-KR" altLang="ko-KR" b="1" dirty="0"/>
              <a:t>… </a:t>
            </a:r>
            <a:endParaRPr lang="en-US" altLang="ko-KR" b="1" dirty="0"/>
          </a:p>
          <a:p>
            <a:r>
              <a:rPr lang="ko-KR" altLang="ko-KR" b="1" dirty="0"/>
              <a:t>67th </a:t>
            </a:r>
            <a:r>
              <a:rPr lang="ko-KR" altLang="ko-KR" b="1" dirty="0" err="1"/>
              <a:t>Out</a:t>
            </a:r>
            <a:r>
              <a:rPr lang="ko-KR" altLang="ko-KR" b="1" dirty="0"/>
              <a:t> of 147 </a:t>
            </a:r>
            <a:r>
              <a:rPr lang="ko-KR" altLang="ko-KR" b="1" dirty="0" err="1"/>
              <a:t>Countries</a:t>
            </a:r>
            <a:r>
              <a:rPr lang="ko-KR" altLang="ko-KR" b="1" dirty="0"/>
              <a:t> </a:t>
            </a:r>
            <a:r>
              <a:rPr lang="ko-KR" altLang="ko-KR" b="1" dirty="0" err="1"/>
              <a:t>This</a:t>
            </a:r>
            <a:r>
              <a:rPr lang="ko-KR" altLang="ko-KR" b="1" dirty="0"/>
              <a:t> </a:t>
            </a:r>
            <a:r>
              <a:rPr lang="ko-KR" altLang="ko-KR" b="1" dirty="0" err="1"/>
              <a:t>Year</a:t>
            </a:r>
            <a:r>
              <a:rPr lang="ko-KR" altLang="en-US" b="1" dirty="0"/>
              <a:t> </a:t>
            </a:r>
            <a:r>
              <a:rPr kumimoji="1" lang="en-US" altLang="ko-KR" b="1" dirty="0"/>
              <a:t>(</a:t>
            </a:r>
            <a:r>
              <a:rPr kumimoji="1" lang="en-US" altLang="ko-KR" b="1" dirty="0" err="1"/>
              <a:t>Yeonhap</a:t>
            </a:r>
            <a:r>
              <a:rPr kumimoji="1" lang="en-US" altLang="ko-KR" b="1" dirty="0"/>
              <a:t> News, 20260319)</a:t>
            </a:r>
            <a:endParaRPr kumimoji="1"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145647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부동산, 설계된 절망 - 교보문고">
            <a:extLst>
              <a:ext uri="{FF2B5EF4-FFF2-40B4-BE49-F238E27FC236}">
                <a16:creationId xmlns:a16="http://schemas.microsoft.com/office/drawing/2014/main" id="{60289E6E-914A-F3FD-BD49-DF9187DAA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331" y="1002942"/>
            <a:ext cx="4149378" cy="6172200"/>
          </a:xfrm>
          <a:prstGeom prst="rect">
            <a:avLst/>
          </a:prstGeom>
        </p:spPr>
      </p:pic>
      <p:pic>
        <p:nvPicPr>
          <p:cNvPr id="3" name="그림 2" descr="국토부, 전세사기 피해자 추가 인정...4명 중 3명 40세 미만 '청년층' - 더나은미래">
            <a:extLst>
              <a:ext uri="{FF2B5EF4-FFF2-40B4-BE49-F238E27FC236}">
                <a16:creationId xmlns:a16="http://schemas.microsoft.com/office/drawing/2014/main" id="{6436B0E3-41CA-06B8-48EB-449C94B47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4493" y="1002942"/>
            <a:ext cx="7772400" cy="503991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B643F9D7-E67B-C9AB-9579-E113A6409FCA}"/>
              </a:ext>
            </a:extLst>
          </p:cNvPr>
          <p:cNvGrpSpPr/>
          <p:nvPr/>
        </p:nvGrpSpPr>
        <p:grpSpPr>
          <a:xfrm>
            <a:off x="594039" y="4842528"/>
            <a:ext cx="4778062" cy="1200329"/>
            <a:chOff x="4443211" y="6917565"/>
            <a:chExt cx="4778062" cy="1200329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63315F41-9483-8E12-428D-2262DD80A4C3}"/>
                </a:ext>
              </a:extLst>
            </p:cNvPr>
            <p:cNvSpPr/>
            <p:nvPr/>
          </p:nvSpPr>
          <p:spPr>
            <a:xfrm>
              <a:off x="4443211" y="6917565"/>
              <a:ext cx="4778062" cy="875763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C0C7070-2DCC-50B9-4386-E760F4753EE9}"/>
                </a:ext>
              </a:extLst>
            </p:cNvPr>
            <p:cNvSpPr txBox="1"/>
            <p:nvPr/>
          </p:nvSpPr>
          <p:spPr>
            <a:xfrm>
              <a:off x="4811173" y="6917565"/>
              <a:ext cx="4270464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ko-KR" sz="1400" dirty="0" err="1"/>
                <a:t>Real</a:t>
              </a:r>
              <a:r>
                <a:rPr lang="ko-KR" altLang="ko-KR" sz="1400" dirty="0"/>
                <a:t> </a:t>
              </a:r>
              <a:r>
                <a:rPr lang="ko-KR" altLang="ko-KR" sz="1400" dirty="0" err="1"/>
                <a:t>Estate</a:t>
              </a:r>
              <a:r>
                <a:rPr lang="ko-KR" altLang="ko-KR" sz="1400" dirty="0"/>
                <a:t>: </a:t>
              </a:r>
              <a:r>
                <a:rPr lang="ko-KR" altLang="ko-KR" sz="1400" dirty="0" err="1"/>
                <a:t>Despair</a:t>
              </a:r>
              <a:r>
                <a:rPr lang="ko-KR" altLang="ko-KR" sz="1400" dirty="0"/>
                <a:t> </a:t>
              </a:r>
              <a:r>
                <a:rPr lang="ko-KR" altLang="ko-KR" sz="1400" dirty="0" err="1"/>
                <a:t>by</a:t>
              </a:r>
              <a:r>
                <a:rPr lang="ko-KR" altLang="ko-KR" sz="1400" dirty="0"/>
                <a:t> </a:t>
              </a:r>
              <a:r>
                <a:rPr lang="ko-KR" altLang="ko-KR" sz="1400" dirty="0" err="1"/>
                <a:t>Design</a:t>
              </a:r>
              <a:endParaRPr lang="ko-KR" altLang="ko-KR" sz="1400" dirty="0"/>
            </a:p>
            <a:p>
              <a:r>
                <a:rPr lang="ko-KR" altLang="ko-KR" sz="1400" dirty="0" err="1"/>
                <a:t>How</a:t>
              </a:r>
              <a:r>
                <a:rPr lang="ko-KR" altLang="ko-KR" sz="1400" dirty="0"/>
                <a:t> </a:t>
              </a:r>
              <a:r>
                <a:rPr lang="ko-KR" altLang="ko-KR" sz="1400" dirty="0" err="1"/>
                <a:t>Did</a:t>
              </a:r>
              <a:r>
                <a:rPr lang="ko-KR" altLang="ko-KR" sz="1400" dirty="0"/>
                <a:t> </a:t>
              </a:r>
              <a:r>
                <a:rPr lang="ko-KR" altLang="ko-KR" sz="1400" dirty="0" err="1"/>
                <a:t>the</a:t>
              </a:r>
              <a:r>
                <a:rPr lang="ko-KR" altLang="ko-KR" sz="1400" dirty="0"/>
                <a:t> </a:t>
              </a:r>
              <a:r>
                <a:rPr lang="ko-KR" altLang="ko-KR" sz="1400" dirty="0" err="1"/>
                <a:t>Government</a:t>
              </a:r>
              <a:r>
                <a:rPr lang="ko-KR" altLang="ko-KR" sz="1400" dirty="0"/>
                <a:t> </a:t>
              </a:r>
              <a:r>
                <a:rPr lang="ko-KR" altLang="ko-KR" sz="1400" dirty="0" err="1"/>
                <a:t>Create</a:t>
              </a:r>
              <a:r>
                <a:rPr lang="ko-KR" altLang="ko-KR" sz="1400" dirty="0"/>
                <a:t> </a:t>
              </a:r>
              <a:r>
                <a:rPr lang="ko-KR" altLang="ko-KR" sz="1400" dirty="0" err="1"/>
                <a:t>a</a:t>
              </a:r>
              <a:r>
                <a:rPr lang="ko-KR" altLang="ko-KR" sz="1400" dirty="0"/>
                <a:t> </a:t>
              </a:r>
              <a:r>
                <a:rPr lang="ko-KR" altLang="ko-KR" sz="1400" dirty="0" err="1"/>
                <a:t>Game</a:t>
              </a:r>
              <a:r>
                <a:rPr lang="ko-KR" altLang="ko-KR" sz="1400" dirty="0"/>
                <a:t> </a:t>
              </a:r>
              <a:endParaRPr lang="en-US" altLang="ko-KR" sz="1400" dirty="0"/>
            </a:p>
            <a:p>
              <a:r>
                <a:rPr lang="ko-KR" altLang="ko-KR" sz="1400" dirty="0" err="1"/>
                <a:t>Where</a:t>
              </a:r>
              <a:r>
                <a:rPr lang="ko-KR" altLang="ko-KR" sz="1400" dirty="0"/>
                <a:t> </a:t>
              </a:r>
              <a:r>
                <a:rPr lang="ko-KR" altLang="ko-KR" sz="1400" dirty="0" err="1"/>
                <a:t>the</a:t>
              </a:r>
              <a:r>
                <a:rPr lang="ko-KR" altLang="ko-KR" sz="1400" dirty="0"/>
                <a:t> </a:t>
              </a:r>
              <a:r>
                <a:rPr lang="ko-KR" altLang="ko-KR" sz="1400" dirty="0" err="1"/>
                <a:t>Winners</a:t>
              </a:r>
              <a:r>
                <a:rPr lang="ko-KR" altLang="ko-KR" sz="1400" dirty="0"/>
                <a:t> </a:t>
              </a:r>
              <a:r>
                <a:rPr lang="ko-KR" altLang="ko-KR" sz="1400" dirty="0" err="1"/>
                <a:t>Are</a:t>
              </a:r>
              <a:r>
                <a:rPr lang="ko-KR" altLang="ko-KR" sz="1400" dirty="0"/>
                <a:t> </a:t>
              </a:r>
              <a:r>
                <a:rPr lang="ko-KR" altLang="ko-KR" sz="1400" dirty="0" err="1"/>
                <a:t>Already</a:t>
              </a:r>
              <a:r>
                <a:rPr lang="ko-KR" altLang="ko-KR" sz="1400" dirty="0"/>
                <a:t> </a:t>
              </a:r>
              <a:r>
                <a:rPr lang="ko-KR" altLang="ko-KR" sz="1400" dirty="0" err="1"/>
                <a:t>Decided</a:t>
              </a:r>
              <a:r>
                <a:rPr lang="ko-KR" altLang="ko-KR" sz="1400" dirty="0"/>
                <a:t>?</a:t>
              </a:r>
            </a:p>
            <a:p>
              <a:endParaRPr kumimoji="1" lang="ko-KR" altLang="en-US" sz="1400" dirty="0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034D4203-1B90-8E0E-69F2-4375C22E3458}"/>
              </a:ext>
            </a:extLst>
          </p:cNvPr>
          <p:cNvGrpSpPr/>
          <p:nvPr/>
        </p:nvGrpSpPr>
        <p:grpSpPr>
          <a:xfrm>
            <a:off x="7696808" y="3038747"/>
            <a:ext cx="6414869" cy="968303"/>
            <a:chOff x="7052024" y="6920922"/>
            <a:chExt cx="6414869" cy="968303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52685FDB-6D9B-6EC0-E766-E72974658F3C}"/>
                </a:ext>
              </a:extLst>
            </p:cNvPr>
            <p:cNvSpPr/>
            <p:nvPr/>
          </p:nvSpPr>
          <p:spPr>
            <a:xfrm>
              <a:off x="7052024" y="6920922"/>
              <a:ext cx="6414869" cy="96830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246D126-5609-2C56-61DA-BB7379D07AE0}"/>
                </a:ext>
              </a:extLst>
            </p:cNvPr>
            <p:cNvSpPr txBox="1"/>
            <p:nvPr/>
          </p:nvSpPr>
          <p:spPr>
            <a:xfrm>
              <a:off x="7332791" y="7081907"/>
              <a:ext cx="585333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ko-KR" sz="1600" dirty="0" err="1"/>
                <a:t>Young</a:t>
              </a:r>
              <a:r>
                <a:rPr lang="ko-KR" altLang="ko-KR" sz="1600" dirty="0"/>
                <a:t> </a:t>
              </a:r>
              <a:r>
                <a:rPr lang="ko-KR" altLang="ko-KR" sz="1600" dirty="0" err="1"/>
                <a:t>Victims</a:t>
              </a:r>
              <a:r>
                <a:rPr lang="ko-KR" altLang="ko-KR" sz="1600" dirty="0"/>
                <a:t> of </a:t>
              </a:r>
              <a:r>
                <a:rPr lang="ko-KR" altLang="ko-KR" sz="1600" dirty="0" err="1"/>
                <a:t>South</a:t>
              </a:r>
              <a:r>
                <a:rPr lang="ko-KR" altLang="ko-KR" sz="1600" dirty="0"/>
                <a:t> </a:t>
              </a:r>
              <a:r>
                <a:rPr lang="ko-KR" altLang="ko-KR" sz="1600" dirty="0" err="1"/>
                <a:t>Korea's</a:t>
              </a:r>
              <a:r>
                <a:rPr lang="ko-KR" altLang="ko-KR" sz="1600" dirty="0"/>
                <a:t> </a:t>
              </a:r>
              <a:r>
                <a:rPr lang="ko-KR" altLang="ko-KR" sz="1600" dirty="0" err="1"/>
                <a:t>Housing</a:t>
              </a:r>
              <a:r>
                <a:rPr lang="ko-KR" altLang="ko-KR" sz="1600" dirty="0"/>
                <a:t> </a:t>
              </a:r>
              <a:r>
                <a:rPr lang="ko-KR" altLang="ko-KR" sz="1600" dirty="0" err="1"/>
                <a:t>Deposit</a:t>
              </a:r>
              <a:r>
                <a:rPr lang="ko-KR" altLang="ko-KR" sz="1600" dirty="0"/>
                <a:t> </a:t>
              </a:r>
              <a:r>
                <a:rPr lang="ko-KR" altLang="ko-KR" sz="1600" dirty="0" err="1"/>
                <a:t>Scams</a:t>
              </a:r>
              <a:r>
                <a:rPr lang="ko-KR" altLang="ko-KR" sz="1600" dirty="0"/>
                <a:t>...</a:t>
              </a:r>
            </a:p>
            <a:p>
              <a:r>
                <a:rPr lang="ko-KR" altLang="ko-KR" sz="1600" dirty="0" err="1"/>
                <a:t>Trapped</a:t>
              </a:r>
              <a:r>
                <a:rPr lang="ko-KR" altLang="ko-KR" sz="1600" dirty="0"/>
                <a:t> </a:t>
              </a:r>
              <a:r>
                <a:rPr lang="ko-KR" altLang="ko-KR" sz="1600" dirty="0" err="1"/>
                <a:t>in</a:t>
              </a:r>
              <a:r>
                <a:rPr lang="ko-KR" altLang="ko-KR" sz="1600" dirty="0"/>
                <a:t> </a:t>
              </a:r>
              <a:r>
                <a:rPr lang="ko-KR" altLang="ko-KR" sz="1600" dirty="0" err="1"/>
                <a:t>Debt</a:t>
              </a:r>
              <a:r>
                <a:rPr lang="ko-KR" altLang="ko-KR" sz="1600" dirty="0"/>
                <a:t>, </a:t>
              </a:r>
              <a:r>
                <a:rPr lang="ko-KR" altLang="ko-KR" sz="1600" dirty="0" err="1"/>
                <a:t>Desperately</a:t>
              </a:r>
              <a:r>
                <a:rPr lang="ko-KR" altLang="ko-KR" sz="1600" dirty="0"/>
                <a:t> </a:t>
              </a:r>
              <a:r>
                <a:rPr lang="ko-KR" altLang="ko-KR" sz="1600" dirty="0" err="1"/>
                <a:t>Seeking</a:t>
              </a:r>
              <a:r>
                <a:rPr lang="ko-KR" altLang="ko-KR" sz="1600" dirty="0"/>
                <a:t> </a:t>
              </a:r>
              <a:r>
                <a:rPr lang="ko-KR" altLang="ko-KR" sz="1600" dirty="0" err="1"/>
                <a:t>Help</a:t>
              </a:r>
              <a:r>
                <a:rPr lang="ko-KR" altLang="ko-KR" sz="1600" dirty="0"/>
                <a:t>.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747CF45-88FD-1FFD-382B-325D94E9B19E}"/>
              </a:ext>
            </a:extLst>
          </p:cNvPr>
          <p:cNvSpPr txBox="1"/>
          <p:nvPr/>
        </p:nvSpPr>
        <p:spPr>
          <a:xfrm>
            <a:off x="5736339" y="6414429"/>
            <a:ext cx="81217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b="1" dirty="0" err="1"/>
              <a:t>Even</a:t>
            </a:r>
            <a:r>
              <a:rPr lang="ko-KR" altLang="ko-KR" b="1" dirty="0"/>
              <a:t> </a:t>
            </a:r>
            <a:r>
              <a:rPr lang="ko-KR" altLang="ko-KR" b="1" dirty="0" err="1"/>
              <a:t>young</a:t>
            </a:r>
            <a:r>
              <a:rPr lang="ko-KR" altLang="ko-KR" b="1" dirty="0"/>
              <a:t> </a:t>
            </a:r>
            <a:r>
              <a:rPr lang="ko-KR" altLang="ko-KR" b="1" dirty="0" err="1"/>
              <a:t>Koreans</a:t>
            </a:r>
            <a:r>
              <a:rPr lang="ko-KR" altLang="ko-KR" b="1" dirty="0"/>
              <a:t>, </a:t>
            </a:r>
            <a:r>
              <a:rPr lang="ko-KR" altLang="ko-KR" b="1" dirty="0" err="1"/>
              <a:t>some</a:t>
            </a:r>
            <a:r>
              <a:rPr lang="ko-KR" altLang="ko-KR" b="1" dirty="0"/>
              <a:t> </a:t>
            </a:r>
            <a:r>
              <a:rPr lang="ko-KR" altLang="ko-KR" b="1" dirty="0" err="1"/>
              <a:t>still</a:t>
            </a:r>
            <a:r>
              <a:rPr lang="ko-KR" altLang="ko-KR" b="1" dirty="0"/>
              <a:t> </a:t>
            </a:r>
            <a:r>
              <a:rPr lang="ko-KR" altLang="ko-KR" b="1" dirty="0" err="1"/>
              <a:t>in</a:t>
            </a:r>
            <a:r>
              <a:rPr lang="ko-KR" altLang="ko-KR" b="1" dirty="0"/>
              <a:t> </a:t>
            </a:r>
            <a:r>
              <a:rPr lang="ko-KR" altLang="ko-KR" b="1" dirty="0" err="1"/>
              <a:t>their</a:t>
            </a:r>
            <a:r>
              <a:rPr lang="ko-KR" altLang="ko-KR" b="1" dirty="0"/>
              <a:t> </a:t>
            </a:r>
            <a:r>
              <a:rPr lang="ko-KR" altLang="ko-KR" b="1" dirty="0" err="1"/>
              <a:t>teens</a:t>
            </a:r>
            <a:r>
              <a:rPr lang="ko-KR" altLang="ko-KR" b="1" dirty="0"/>
              <a:t>, </a:t>
            </a:r>
            <a:endParaRPr lang="en-US" altLang="ko-KR" b="1" dirty="0"/>
          </a:p>
          <a:p>
            <a:r>
              <a:rPr lang="ko-KR" altLang="ko-KR" b="1" dirty="0" err="1"/>
              <a:t>grow</a:t>
            </a:r>
            <a:r>
              <a:rPr lang="ko-KR" altLang="ko-KR" b="1" dirty="0"/>
              <a:t> </a:t>
            </a:r>
            <a:r>
              <a:rPr lang="ko-KR" altLang="ko-KR" b="1" dirty="0" err="1"/>
              <a:t>up</a:t>
            </a:r>
            <a:r>
              <a:rPr lang="ko-KR" altLang="ko-KR" b="1" dirty="0"/>
              <a:t> </a:t>
            </a:r>
            <a:r>
              <a:rPr lang="ko-KR" altLang="ko-KR" b="1" dirty="0" err="1"/>
              <a:t>believing</a:t>
            </a:r>
            <a:r>
              <a:rPr lang="ko-KR" altLang="ko-KR" b="1" dirty="0"/>
              <a:t> </a:t>
            </a:r>
            <a:r>
              <a:rPr lang="ko-KR" altLang="ko-KR" b="1" dirty="0" err="1"/>
              <a:t>that</a:t>
            </a:r>
            <a:r>
              <a:rPr lang="ko-KR" altLang="ko-KR" b="1" dirty="0"/>
              <a:t> </a:t>
            </a:r>
            <a:r>
              <a:rPr lang="ko-KR" altLang="ko-KR" b="1" dirty="0" err="1"/>
              <a:t>owning</a:t>
            </a:r>
            <a:r>
              <a:rPr lang="ko-KR" altLang="ko-KR" b="1" dirty="0"/>
              <a:t> </a:t>
            </a:r>
            <a:r>
              <a:rPr lang="ko-KR" altLang="ko-KR" b="1" dirty="0" err="1"/>
              <a:t>a</a:t>
            </a:r>
            <a:r>
              <a:rPr lang="ko-KR" altLang="ko-KR" b="1" dirty="0"/>
              <a:t> </a:t>
            </a:r>
            <a:r>
              <a:rPr lang="ko-KR" altLang="ko-KR" b="1" dirty="0" err="1"/>
              <a:t>home</a:t>
            </a:r>
            <a:r>
              <a:rPr lang="ko-KR" altLang="ko-KR" b="1" dirty="0"/>
              <a:t> </a:t>
            </a:r>
            <a:r>
              <a:rPr lang="ko-KR" altLang="ko-KR" b="1" dirty="0" err="1"/>
              <a:t>is</a:t>
            </a:r>
            <a:r>
              <a:rPr lang="ko-KR" altLang="ko-KR" b="1" dirty="0"/>
              <a:t> </a:t>
            </a:r>
            <a:r>
              <a:rPr lang="ko-KR" altLang="ko-KR" b="1" dirty="0" err="1"/>
              <a:t>the</a:t>
            </a:r>
            <a:r>
              <a:rPr lang="ko-KR" altLang="ko-KR" b="1" dirty="0"/>
              <a:t> </a:t>
            </a:r>
            <a:r>
              <a:rPr lang="ko-KR" altLang="ko-KR" b="1" dirty="0" err="1"/>
              <a:t>only</a:t>
            </a:r>
            <a:r>
              <a:rPr lang="ko-KR" altLang="ko-KR" b="1" dirty="0"/>
              <a:t> </a:t>
            </a:r>
            <a:r>
              <a:rPr lang="ko-KR" altLang="ko-KR" b="1" dirty="0" err="1"/>
              <a:t>way</a:t>
            </a:r>
            <a:r>
              <a:rPr lang="ko-KR" altLang="ko-KR" b="1" dirty="0"/>
              <a:t> </a:t>
            </a:r>
            <a:r>
              <a:rPr lang="ko-KR" altLang="ko-KR" b="1" dirty="0" err="1"/>
              <a:t>to</a:t>
            </a:r>
            <a:r>
              <a:rPr lang="ko-KR" altLang="ko-KR" b="1" dirty="0"/>
              <a:t> </a:t>
            </a:r>
            <a:r>
              <a:rPr lang="ko-KR" altLang="ko-KR" b="1" dirty="0" err="1"/>
              <a:t>be</a:t>
            </a:r>
            <a:r>
              <a:rPr lang="ko-KR" altLang="ko-KR" b="1" dirty="0"/>
              <a:t> </a:t>
            </a:r>
            <a:r>
              <a:rPr lang="ko-KR" altLang="ko-KR" b="1" dirty="0" err="1"/>
              <a:t>successful</a:t>
            </a:r>
            <a:r>
              <a:rPr lang="ko-KR" altLang="ko-KR" b="1" dirty="0"/>
              <a:t> </a:t>
            </a:r>
            <a:r>
              <a:rPr lang="ko-KR" altLang="ko-KR" b="1" dirty="0" err="1"/>
              <a:t>in</a:t>
            </a:r>
            <a:r>
              <a:rPr lang="ko-KR" altLang="ko-KR" b="1" dirty="0"/>
              <a:t> </a:t>
            </a:r>
            <a:r>
              <a:rPr lang="ko-KR" altLang="ko-KR" b="1" dirty="0" err="1"/>
              <a:t>life</a:t>
            </a:r>
            <a:r>
              <a:rPr lang="ko-KR" altLang="ko-KR" b="1" dirty="0"/>
              <a:t>.</a:t>
            </a:r>
            <a:endParaRPr kumimoji="1"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803625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01E07E-2DF9-85C0-528C-A646DB683165}"/>
              </a:ext>
            </a:extLst>
          </p:cNvPr>
          <p:cNvSpPr txBox="1"/>
          <p:nvPr/>
        </p:nvSpPr>
        <p:spPr>
          <a:xfrm>
            <a:off x="1493949" y="448370"/>
            <a:ext cx="116425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b="1" dirty="0" err="1">
                <a:solidFill>
                  <a:srgbClr val="FF0000"/>
                </a:solidFill>
              </a:rPr>
              <a:t>South</a:t>
            </a:r>
            <a:r>
              <a:rPr lang="ko-KR" altLang="ko-KR" b="1" dirty="0">
                <a:solidFill>
                  <a:srgbClr val="FF0000"/>
                </a:solidFill>
              </a:rPr>
              <a:t> </a:t>
            </a:r>
            <a:r>
              <a:rPr lang="ko-KR" altLang="ko-KR" b="1" dirty="0" err="1">
                <a:solidFill>
                  <a:srgbClr val="FF0000"/>
                </a:solidFill>
              </a:rPr>
              <a:t>Korea's</a:t>
            </a:r>
            <a:r>
              <a:rPr lang="ko-KR" altLang="ko-KR" b="1" dirty="0">
                <a:solidFill>
                  <a:srgbClr val="FF0000"/>
                </a:solidFill>
              </a:rPr>
              <a:t> </a:t>
            </a:r>
            <a:r>
              <a:rPr lang="ko-KR" altLang="ko-KR" b="1" dirty="0" err="1">
                <a:solidFill>
                  <a:srgbClr val="FF0000"/>
                </a:solidFill>
              </a:rPr>
              <a:t>real</a:t>
            </a:r>
            <a:r>
              <a:rPr lang="ko-KR" altLang="ko-KR" b="1" dirty="0">
                <a:solidFill>
                  <a:srgbClr val="FF0000"/>
                </a:solidFill>
              </a:rPr>
              <a:t> </a:t>
            </a:r>
            <a:r>
              <a:rPr lang="ko-KR" altLang="ko-KR" b="1" dirty="0" err="1">
                <a:solidFill>
                  <a:srgbClr val="FF0000"/>
                </a:solidFill>
              </a:rPr>
              <a:t>estate</a:t>
            </a:r>
            <a:r>
              <a:rPr lang="ko-KR" altLang="ko-KR" b="1" dirty="0">
                <a:solidFill>
                  <a:srgbClr val="FF0000"/>
                </a:solidFill>
              </a:rPr>
              <a:t> </a:t>
            </a:r>
            <a:r>
              <a:rPr lang="ko-KR" altLang="ko-KR" b="1" dirty="0" err="1">
                <a:solidFill>
                  <a:srgbClr val="FF0000"/>
                </a:solidFill>
              </a:rPr>
              <a:t>prices</a:t>
            </a:r>
            <a:r>
              <a:rPr lang="ko-KR" altLang="ko-KR" b="1" dirty="0">
                <a:solidFill>
                  <a:srgbClr val="FF0000"/>
                </a:solidFill>
              </a:rPr>
              <a:t> </a:t>
            </a:r>
            <a:r>
              <a:rPr lang="ko-KR" altLang="ko-KR" b="1" dirty="0" err="1">
                <a:solidFill>
                  <a:srgbClr val="FF0000"/>
                </a:solidFill>
              </a:rPr>
              <a:t>are</a:t>
            </a:r>
            <a:r>
              <a:rPr lang="ko-KR" altLang="ko-KR" b="1" dirty="0">
                <a:solidFill>
                  <a:srgbClr val="FF0000"/>
                </a:solidFill>
              </a:rPr>
              <a:t> </a:t>
            </a:r>
            <a:r>
              <a:rPr lang="ko-KR" altLang="ko-KR" b="1" dirty="0" err="1">
                <a:solidFill>
                  <a:srgbClr val="FF0000"/>
                </a:solidFill>
              </a:rPr>
              <a:t>heavily</a:t>
            </a:r>
            <a:r>
              <a:rPr lang="ko-KR" altLang="ko-KR" b="1" dirty="0">
                <a:solidFill>
                  <a:srgbClr val="FF0000"/>
                </a:solidFill>
              </a:rPr>
              <a:t> </a:t>
            </a:r>
            <a:r>
              <a:rPr lang="ko-KR" altLang="ko-KR" b="1" dirty="0" err="1">
                <a:solidFill>
                  <a:srgbClr val="FF0000"/>
                </a:solidFill>
              </a:rPr>
              <a:t>influenced</a:t>
            </a:r>
            <a:r>
              <a:rPr lang="ko-KR" altLang="ko-KR" b="1" dirty="0">
                <a:solidFill>
                  <a:srgbClr val="FF0000"/>
                </a:solidFill>
              </a:rPr>
              <a:t> </a:t>
            </a:r>
            <a:r>
              <a:rPr lang="ko-KR" altLang="ko-KR" b="1" dirty="0" err="1">
                <a:solidFill>
                  <a:srgbClr val="FF0000"/>
                </a:solidFill>
              </a:rPr>
              <a:t>by</a:t>
            </a:r>
            <a:r>
              <a:rPr lang="ko-KR" altLang="ko-KR" b="1" dirty="0">
                <a:solidFill>
                  <a:srgbClr val="FF0000"/>
                </a:solidFill>
              </a:rPr>
              <a:t> </a:t>
            </a:r>
            <a:r>
              <a:rPr lang="ko-KR" altLang="ko-KR" b="1" dirty="0" err="1">
                <a:solidFill>
                  <a:srgbClr val="FF0000"/>
                </a:solidFill>
              </a:rPr>
              <a:t>government</a:t>
            </a:r>
            <a:r>
              <a:rPr lang="ko-KR" altLang="ko-KR" b="1" dirty="0">
                <a:solidFill>
                  <a:srgbClr val="FF0000"/>
                </a:solidFill>
              </a:rPr>
              <a:t> </a:t>
            </a:r>
            <a:r>
              <a:rPr lang="ko-KR" altLang="ko-KR" b="1" dirty="0" err="1">
                <a:solidFill>
                  <a:srgbClr val="FF0000"/>
                </a:solidFill>
              </a:rPr>
              <a:t>housing</a:t>
            </a:r>
            <a:r>
              <a:rPr lang="ko-KR" altLang="ko-KR" b="1" dirty="0">
                <a:solidFill>
                  <a:srgbClr val="FF0000"/>
                </a:solidFill>
              </a:rPr>
              <a:t> </a:t>
            </a:r>
            <a:r>
              <a:rPr lang="ko-KR" altLang="ko-KR" b="1" dirty="0" err="1">
                <a:solidFill>
                  <a:srgbClr val="FF0000"/>
                </a:solidFill>
              </a:rPr>
              <a:t>policies</a:t>
            </a:r>
            <a:r>
              <a:rPr lang="ko-KR" altLang="ko-KR" b="1" dirty="0">
                <a:solidFill>
                  <a:srgbClr val="FF0000"/>
                </a:solidFill>
              </a:rPr>
              <a:t>.</a:t>
            </a:r>
          </a:p>
          <a:p>
            <a:r>
              <a:rPr lang="ko-KR" altLang="ko-KR" b="1" dirty="0" err="1"/>
              <a:t>However</a:t>
            </a:r>
            <a:r>
              <a:rPr lang="ko-KR" altLang="ko-KR" b="1" dirty="0"/>
              <a:t>, </a:t>
            </a:r>
            <a:r>
              <a:rPr lang="ko-KR" altLang="ko-KR" b="1" dirty="0" err="1"/>
              <a:t>these</a:t>
            </a:r>
            <a:r>
              <a:rPr lang="ko-KR" altLang="ko-KR" b="1" dirty="0"/>
              <a:t> </a:t>
            </a:r>
            <a:r>
              <a:rPr lang="ko-KR" altLang="ko-KR" b="1" dirty="0" err="1"/>
              <a:t>policies</a:t>
            </a:r>
            <a:r>
              <a:rPr lang="ko-KR" altLang="ko-KR" b="1" dirty="0"/>
              <a:t> </a:t>
            </a:r>
            <a:r>
              <a:rPr lang="ko-KR" altLang="ko-KR" b="1" dirty="0" err="1"/>
              <a:t>change</a:t>
            </a:r>
            <a:r>
              <a:rPr lang="ko-KR" altLang="ko-KR" b="1" dirty="0"/>
              <a:t> </a:t>
            </a:r>
            <a:r>
              <a:rPr lang="ko-KR" altLang="ko-KR" b="1" dirty="0" err="1"/>
              <a:t>dozens</a:t>
            </a:r>
            <a:r>
              <a:rPr lang="ko-KR" altLang="ko-KR" b="1" dirty="0"/>
              <a:t> of </a:t>
            </a:r>
            <a:r>
              <a:rPr lang="ko-KR" altLang="ko-KR" b="1" dirty="0" err="1"/>
              <a:t>times</a:t>
            </a:r>
            <a:r>
              <a:rPr lang="ko-KR" altLang="ko-KR" b="1" dirty="0"/>
              <a:t> </a:t>
            </a:r>
            <a:r>
              <a:rPr lang="ko-KR" altLang="ko-KR" b="1" dirty="0" err="1"/>
              <a:t>under</a:t>
            </a:r>
            <a:r>
              <a:rPr lang="ko-KR" altLang="ko-KR" b="1" dirty="0"/>
              <a:t> </a:t>
            </a:r>
            <a:r>
              <a:rPr lang="ko-KR" altLang="ko-KR" b="1" dirty="0" err="1"/>
              <a:t>each</a:t>
            </a:r>
            <a:r>
              <a:rPr lang="ko-KR" altLang="ko-KR" b="1" dirty="0"/>
              <a:t> </a:t>
            </a:r>
            <a:r>
              <a:rPr lang="ko-KR" altLang="ko-KR" b="1" dirty="0" err="1"/>
              <a:t>administration</a:t>
            </a:r>
            <a:r>
              <a:rPr lang="ko-KR" altLang="ko-KR" b="1" dirty="0"/>
              <a:t>, and </a:t>
            </a:r>
            <a:r>
              <a:rPr lang="ko-KR" altLang="ko-KR" b="1" dirty="0" err="1"/>
              <a:t>most</a:t>
            </a:r>
            <a:r>
              <a:rPr lang="ko-KR" altLang="ko-KR" b="1" dirty="0"/>
              <a:t> </a:t>
            </a:r>
            <a:r>
              <a:rPr lang="ko-KR" altLang="ko-KR" b="1" dirty="0" err="1"/>
              <a:t>people</a:t>
            </a:r>
            <a:r>
              <a:rPr lang="ko-KR" altLang="ko-KR" b="1" dirty="0"/>
              <a:t> </a:t>
            </a:r>
            <a:r>
              <a:rPr lang="ko-KR" altLang="ko-KR" b="1" dirty="0" err="1"/>
              <a:t>struggle</a:t>
            </a:r>
            <a:r>
              <a:rPr lang="ko-KR" altLang="ko-KR" b="1" dirty="0"/>
              <a:t> </a:t>
            </a:r>
            <a:r>
              <a:rPr lang="ko-KR" altLang="ko-KR" b="1" dirty="0" err="1"/>
              <a:t>to</a:t>
            </a:r>
            <a:r>
              <a:rPr lang="ko-KR" altLang="ko-KR" b="1" dirty="0"/>
              <a:t> </a:t>
            </a:r>
            <a:r>
              <a:rPr lang="ko-KR" altLang="ko-KR" b="1" dirty="0" err="1"/>
              <a:t>understand</a:t>
            </a:r>
            <a:r>
              <a:rPr lang="ko-KR" altLang="ko-KR" b="1" dirty="0"/>
              <a:t> </a:t>
            </a:r>
            <a:r>
              <a:rPr lang="ko-KR" altLang="ko-KR" b="1" dirty="0" err="1"/>
              <a:t>how</a:t>
            </a:r>
            <a:r>
              <a:rPr lang="ko-KR" altLang="ko-KR" b="1" dirty="0"/>
              <a:t> </a:t>
            </a:r>
            <a:r>
              <a:rPr lang="ko-KR" altLang="ko-KR" b="1" dirty="0" err="1"/>
              <a:t>these</a:t>
            </a:r>
            <a:r>
              <a:rPr lang="ko-KR" altLang="ko-KR" b="1" dirty="0"/>
              <a:t> </a:t>
            </a:r>
            <a:r>
              <a:rPr lang="ko-KR" altLang="ko-KR" b="1" dirty="0" err="1"/>
              <a:t>changes</a:t>
            </a:r>
            <a:r>
              <a:rPr lang="ko-KR" altLang="ko-KR" b="1" dirty="0"/>
              <a:t> </a:t>
            </a:r>
            <a:r>
              <a:rPr lang="ko-KR" altLang="ko-KR" b="1" dirty="0" err="1"/>
              <a:t>affect</a:t>
            </a:r>
            <a:r>
              <a:rPr lang="ko-KR" altLang="ko-KR" b="1" dirty="0"/>
              <a:t> </a:t>
            </a:r>
            <a:r>
              <a:rPr lang="ko-KR" altLang="ko-KR" b="1" dirty="0" err="1"/>
              <a:t>the</a:t>
            </a:r>
            <a:r>
              <a:rPr lang="ko-KR" altLang="ko-KR" b="1" dirty="0"/>
              <a:t> </a:t>
            </a:r>
            <a:r>
              <a:rPr lang="ko-KR" altLang="ko-KR" b="1" dirty="0" err="1"/>
              <a:t>housing</a:t>
            </a:r>
            <a:r>
              <a:rPr lang="ko-KR" altLang="ko-KR" b="1" dirty="0"/>
              <a:t> </a:t>
            </a:r>
            <a:r>
              <a:rPr lang="ko-KR" altLang="ko-KR" b="1" dirty="0" err="1"/>
              <a:t>market</a:t>
            </a:r>
            <a:r>
              <a:rPr lang="ko-KR" altLang="ko-KR" b="1" dirty="0"/>
              <a:t>.</a:t>
            </a:r>
          </a:p>
          <a:p>
            <a:r>
              <a:rPr lang="ko-KR" altLang="ko-KR" b="1" dirty="0" err="1">
                <a:solidFill>
                  <a:srgbClr val="FF0000"/>
                </a:solidFill>
              </a:rPr>
              <a:t>Even</a:t>
            </a:r>
            <a:r>
              <a:rPr lang="ko-KR" altLang="ko-KR" b="1" dirty="0">
                <a:solidFill>
                  <a:srgbClr val="FF0000"/>
                </a:solidFill>
              </a:rPr>
              <a:t> </a:t>
            </a:r>
            <a:r>
              <a:rPr lang="ko-KR" altLang="ko-KR" b="1" dirty="0" err="1">
                <a:solidFill>
                  <a:srgbClr val="FF0000"/>
                </a:solidFill>
              </a:rPr>
              <a:t>policymakers</a:t>
            </a:r>
            <a:r>
              <a:rPr lang="ko-KR" altLang="ko-KR" b="1" dirty="0">
                <a:solidFill>
                  <a:srgbClr val="FF0000"/>
                </a:solidFill>
              </a:rPr>
              <a:t> </a:t>
            </a:r>
            <a:r>
              <a:rPr lang="ko-KR" altLang="ko-KR" b="1" dirty="0" err="1">
                <a:solidFill>
                  <a:srgbClr val="FF0000"/>
                </a:solidFill>
              </a:rPr>
              <a:t>often</a:t>
            </a:r>
            <a:r>
              <a:rPr lang="ko-KR" altLang="ko-KR" b="1" dirty="0">
                <a:solidFill>
                  <a:srgbClr val="FF0000"/>
                </a:solidFill>
              </a:rPr>
              <a:t> </a:t>
            </a:r>
            <a:r>
              <a:rPr lang="ko-KR" altLang="ko-KR" b="1" dirty="0" err="1">
                <a:solidFill>
                  <a:srgbClr val="FF0000"/>
                </a:solidFill>
              </a:rPr>
              <a:t>fail</a:t>
            </a:r>
            <a:r>
              <a:rPr lang="ko-KR" altLang="ko-KR" b="1" dirty="0">
                <a:solidFill>
                  <a:srgbClr val="FF0000"/>
                </a:solidFill>
              </a:rPr>
              <a:t> </a:t>
            </a:r>
            <a:r>
              <a:rPr lang="ko-KR" altLang="ko-KR" b="1" dirty="0" err="1"/>
              <a:t>to</a:t>
            </a:r>
            <a:r>
              <a:rPr lang="ko-KR" altLang="ko-KR" b="1" dirty="0"/>
              <a:t> </a:t>
            </a:r>
            <a:r>
              <a:rPr lang="ko-KR" altLang="ko-KR" b="1" dirty="0" err="1"/>
              <a:t>fully</a:t>
            </a:r>
            <a:r>
              <a:rPr lang="ko-KR" altLang="ko-KR" b="1" dirty="0"/>
              <a:t> </a:t>
            </a:r>
            <a:r>
              <a:rPr lang="ko-KR" altLang="ko-KR" b="1" dirty="0" err="1"/>
              <a:t>understand</a:t>
            </a:r>
            <a:r>
              <a:rPr lang="ko-KR" altLang="ko-KR" b="1" dirty="0"/>
              <a:t> </a:t>
            </a:r>
            <a:r>
              <a:rPr lang="ko-KR" altLang="ko-KR" b="1" dirty="0" err="1"/>
              <a:t>the</a:t>
            </a:r>
            <a:r>
              <a:rPr lang="ko-KR" altLang="ko-KR" b="1" dirty="0"/>
              <a:t> </a:t>
            </a:r>
            <a:r>
              <a:rPr lang="ko-KR" altLang="ko-KR" b="1" dirty="0" err="1"/>
              <a:t>complex</a:t>
            </a:r>
            <a:r>
              <a:rPr lang="ko-KR" altLang="ko-KR" b="1" dirty="0"/>
              <a:t> </a:t>
            </a:r>
            <a:r>
              <a:rPr lang="ko-KR" altLang="ko-KR" b="1" dirty="0" err="1"/>
              <a:t>economic</a:t>
            </a:r>
            <a:r>
              <a:rPr lang="ko-KR" altLang="ko-KR" b="1" dirty="0"/>
              <a:t> </a:t>
            </a:r>
            <a:r>
              <a:rPr lang="ko-KR" altLang="ko-KR" b="1" dirty="0" err="1"/>
              <a:t>factors</a:t>
            </a:r>
            <a:r>
              <a:rPr lang="ko-KR" altLang="ko-KR" b="1" dirty="0"/>
              <a:t> and </a:t>
            </a:r>
            <a:r>
              <a:rPr lang="ko-KR" altLang="ko-KR" b="1" dirty="0" err="1"/>
              <a:t>public</a:t>
            </a:r>
            <a:r>
              <a:rPr lang="ko-KR" altLang="ko-KR" b="1" dirty="0"/>
              <a:t> </a:t>
            </a:r>
            <a:r>
              <a:rPr lang="ko-KR" altLang="ko-KR" b="1" dirty="0" err="1"/>
              <a:t>psychology</a:t>
            </a:r>
            <a:r>
              <a:rPr lang="ko-KR" altLang="ko-KR" b="1" dirty="0"/>
              <a:t> </a:t>
            </a:r>
            <a:r>
              <a:rPr lang="ko-KR" altLang="ko-KR" b="1" dirty="0" err="1"/>
              <a:t>that</a:t>
            </a:r>
            <a:r>
              <a:rPr lang="ko-KR" altLang="ko-KR" b="1" dirty="0"/>
              <a:t> </a:t>
            </a:r>
            <a:r>
              <a:rPr lang="ko-KR" altLang="ko-KR" b="1" dirty="0" err="1"/>
              <a:t>shape</a:t>
            </a:r>
            <a:r>
              <a:rPr lang="ko-KR" altLang="ko-KR" b="1" dirty="0"/>
              <a:t> </a:t>
            </a:r>
            <a:r>
              <a:rPr lang="ko-KR" altLang="ko-KR" b="1" dirty="0" err="1"/>
              <a:t>the</a:t>
            </a:r>
            <a:r>
              <a:rPr lang="ko-KR" altLang="ko-KR" b="1" dirty="0"/>
              <a:t> </a:t>
            </a:r>
            <a:r>
              <a:rPr lang="ko-KR" altLang="ko-KR" b="1" dirty="0" err="1"/>
              <a:t>real</a:t>
            </a:r>
            <a:r>
              <a:rPr lang="ko-KR" altLang="ko-KR" b="1" dirty="0"/>
              <a:t> </a:t>
            </a:r>
            <a:r>
              <a:rPr lang="ko-KR" altLang="ko-KR" b="1" dirty="0" err="1"/>
              <a:t>estate</a:t>
            </a:r>
            <a:r>
              <a:rPr lang="ko-KR" altLang="ko-KR" b="1" dirty="0"/>
              <a:t> </a:t>
            </a:r>
            <a:r>
              <a:rPr lang="ko-KR" altLang="ko-KR" b="1" dirty="0" err="1"/>
              <a:t>market</a:t>
            </a:r>
            <a:r>
              <a:rPr lang="ko-KR" altLang="ko-KR" b="1" dirty="0"/>
              <a:t>, </a:t>
            </a:r>
            <a:r>
              <a:rPr lang="ko-KR" altLang="ko-KR" b="1" dirty="0" err="1"/>
              <a:t>leading</a:t>
            </a:r>
            <a:r>
              <a:rPr lang="ko-KR" altLang="ko-KR" b="1" dirty="0"/>
              <a:t> </a:t>
            </a:r>
            <a:r>
              <a:rPr lang="ko-KR" altLang="ko-KR" b="1" dirty="0" err="1"/>
              <a:t>to</a:t>
            </a:r>
            <a:r>
              <a:rPr lang="ko-KR" altLang="ko-KR" b="1" dirty="0"/>
              <a:t> </a:t>
            </a:r>
            <a:r>
              <a:rPr lang="ko-KR" altLang="ko-KR" b="1" dirty="0" err="1"/>
              <a:t>policies</a:t>
            </a:r>
            <a:r>
              <a:rPr lang="ko-KR" altLang="ko-KR" b="1" dirty="0"/>
              <a:t> </a:t>
            </a:r>
            <a:r>
              <a:rPr lang="ko-KR" altLang="ko-KR" b="1" dirty="0" err="1"/>
              <a:t>that</a:t>
            </a:r>
            <a:r>
              <a:rPr lang="ko-KR" altLang="ko-KR" b="1" dirty="0"/>
              <a:t> </a:t>
            </a:r>
            <a:r>
              <a:rPr lang="ko-KR" altLang="ko-KR" b="1" dirty="0" err="1"/>
              <a:t>fail</a:t>
            </a:r>
            <a:r>
              <a:rPr lang="ko-KR" altLang="ko-KR" b="1" dirty="0"/>
              <a:t> </a:t>
            </a:r>
            <a:r>
              <a:rPr lang="ko-KR" altLang="ko-KR" b="1" dirty="0" err="1"/>
              <a:t>to</a:t>
            </a:r>
            <a:r>
              <a:rPr lang="ko-KR" altLang="ko-KR" b="1" dirty="0"/>
              <a:t> </a:t>
            </a:r>
            <a:r>
              <a:rPr lang="ko-KR" altLang="ko-KR" b="1" dirty="0" err="1"/>
              <a:t>achieve</a:t>
            </a:r>
            <a:r>
              <a:rPr lang="ko-KR" altLang="ko-KR" b="1" dirty="0"/>
              <a:t> </a:t>
            </a:r>
            <a:r>
              <a:rPr lang="ko-KR" altLang="ko-KR" b="1" dirty="0" err="1"/>
              <a:t>their</a:t>
            </a:r>
            <a:r>
              <a:rPr lang="ko-KR" altLang="ko-KR" b="1" dirty="0"/>
              <a:t> </a:t>
            </a:r>
            <a:r>
              <a:rPr lang="ko-KR" altLang="ko-KR" b="1" dirty="0" err="1"/>
              <a:t>intended</a:t>
            </a:r>
            <a:r>
              <a:rPr lang="ko-KR" altLang="ko-KR" b="1" dirty="0"/>
              <a:t> </a:t>
            </a:r>
            <a:r>
              <a:rPr lang="ko-KR" altLang="ko-KR" b="1" dirty="0" err="1"/>
              <a:t>goals</a:t>
            </a:r>
            <a:r>
              <a:rPr lang="ko-KR" altLang="ko-KR" b="1" dirty="0"/>
              <a:t>.</a:t>
            </a:r>
          </a:p>
        </p:txBody>
      </p:sp>
      <p:pic>
        <p:nvPicPr>
          <p:cNvPr id="3" name="그림 2" descr="文정부 부동산대책, 24차례의 결과… 서울 아파트 평균가 5억 올랐다 | 뉴데일리">
            <a:extLst>
              <a:ext uri="{FF2B5EF4-FFF2-40B4-BE49-F238E27FC236}">
                <a16:creationId xmlns:a16="http://schemas.microsoft.com/office/drawing/2014/main" id="{5A34DF6E-0200-5D20-6E37-C3C597531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039" y="1925698"/>
            <a:ext cx="9306239" cy="6020567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C34E5D9-6CEF-420E-E336-8808EBAD4C89}"/>
              </a:ext>
            </a:extLst>
          </p:cNvPr>
          <p:cNvSpPr/>
          <p:nvPr/>
        </p:nvSpPr>
        <p:spPr>
          <a:xfrm>
            <a:off x="8621119" y="4253299"/>
            <a:ext cx="5228822" cy="92727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8597A2-9867-A524-6081-66043A38BABA}"/>
              </a:ext>
            </a:extLst>
          </p:cNvPr>
          <p:cNvSpPr txBox="1"/>
          <p:nvPr/>
        </p:nvSpPr>
        <p:spPr>
          <a:xfrm>
            <a:off x="8925058" y="4393774"/>
            <a:ext cx="46209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sz="1600" dirty="0"/>
              <a:t>The </a:t>
            </a:r>
            <a:r>
              <a:rPr lang="ko-KR" altLang="ko-KR" sz="1600" dirty="0" err="1"/>
              <a:t>green</a:t>
            </a:r>
            <a:r>
              <a:rPr lang="ko-KR" altLang="ko-KR" sz="1600" dirty="0"/>
              <a:t> </a:t>
            </a:r>
            <a:r>
              <a:rPr lang="ko-KR" altLang="ko-KR" sz="1600" dirty="0" err="1"/>
              <a:t>circles</a:t>
            </a:r>
            <a:r>
              <a:rPr lang="ko-KR" altLang="ko-KR" sz="1600" dirty="0"/>
              <a:t> </a:t>
            </a:r>
            <a:r>
              <a:rPr lang="ko-KR" altLang="ko-KR" sz="1600" dirty="0" err="1"/>
              <a:t>indicate</a:t>
            </a:r>
            <a:r>
              <a:rPr lang="ko-KR" altLang="ko-KR" sz="1600" dirty="0"/>
              <a:t> </a:t>
            </a:r>
            <a:endParaRPr lang="en-US" altLang="ko-KR" sz="1600" dirty="0"/>
          </a:p>
          <a:p>
            <a:r>
              <a:rPr lang="ko-KR" altLang="ko-KR" sz="1600" dirty="0" err="1"/>
              <a:t>when</a:t>
            </a:r>
            <a:r>
              <a:rPr lang="ko-KR" altLang="ko-KR" sz="1600" dirty="0"/>
              <a:t> </a:t>
            </a:r>
            <a:r>
              <a:rPr lang="ko-KR" altLang="ko-KR" sz="1600" dirty="0" err="1"/>
              <a:t>new</a:t>
            </a:r>
            <a:r>
              <a:rPr lang="ko-KR" altLang="ko-KR" sz="1600" dirty="0"/>
              <a:t> </a:t>
            </a:r>
            <a:r>
              <a:rPr lang="ko-KR" altLang="ko-KR" sz="1600" dirty="0" err="1"/>
              <a:t>housing</a:t>
            </a:r>
            <a:r>
              <a:rPr lang="ko-KR" altLang="ko-KR" sz="1600" dirty="0"/>
              <a:t> </a:t>
            </a:r>
            <a:r>
              <a:rPr lang="ko-KR" altLang="ko-KR" sz="1600" dirty="0" err="1"/>
              <a:t>policies</a:t>
            </a:r>
            <a:r>
              <a:rPr lang="ko-KR" altLang="ko-KR" sz="1600" dirty="0"/>
              <a:t> </a:t>
            </a:r>
            <a:r>
              <a:rPr lang="ko-KR" altLang="ko-KR" sz="1600" dirty="0" err="1"/>
              <a:t>were</a:t>
            </a:r>
            <a:r>
              <a:rPr lang="ko-KR" altLang="ko-KR" sz="1600" dirty="0"/>
              <a:t> </a:t>
            </a:r>
            <a:r>
              <a:rPr lang="ko-KR" altLang="ko-KR" sz="1600" dirty="0" err="1"/>
              <a:t>announced</a:t>
            </a:r>
            <a:r>
              <a:rPr lang="ko-KR" altLang="ko-KR" sz="1600" dirty="0"/>
              <a:t>.</a:t>
            </a:r>
            <a:endParaRPr kumimoji="1" lang="ko-KR" altLang="en-US" sz="16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B09F0E9-A122-849C-02A3-6AAE2DFD09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8140" y="4424838"/>
            <a:ext cx="381000" cy="29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904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A6C225-9D4D-6DEA-57A8-8DD6ECB40102}"/>
              </a:ext>
            </a:extLst>
          </p:cNvPr>
          <p:cNvSpPr txBox="1"/>
          <p:nvPr/>
        </p:nvSpPr>
        <p:spPr>
          <a:xfrm>
            <a:off x="1768649" y="2898630"/>
            <a:ext cx="1109310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b="1" dirty="0">
                <a:solidFill>
                  <a:srgbClr val="FF0000"/>
                </a:solidFill>
              </a:rPr>
              <a:t>To achieve </a:t>
            </a:r>
            <a:r>
              <a:rPr kumimoji="1" lang="en-US" altLang="ko-KR" sz="2000" b="1" dirty="0">
                <a:solidFill>
                  <a:srgbClr val="FF0000"/>
                </a:solidFill>
              </a:rPr>
              <a:t>Social Good (Happiness for All)</a:t>
            </a:r>
            <a:r>
              <a:rPr kumimoji="1" lang="ko-KR" altLang="en-US" sz="2000" b="1" dirty="0">
                <a:solidFill>
                  <a:srgbClr val="FF0000"/>
                </a:solidFill>
              </a:rPr>
              <a:t> in South Korea</a:t>
            </a:r>
            <a:r>
              <a:rPr kumimoji="1" lang="ko-KR" altLang="en-US" sz="2000" b="1" dirty="0"/>
              <a:t>,</a:t>
            </a:r>
            <a:endParaRPr kumimoji="1" lang="en-US" altLang="ko-KR" sz="2000" b="1" dirty="0"/>
          </a:p>
          <a:p>
            <a:pPr marL="285750" indent="-285750">
              <a:buFontTx/>
              <a:buChar char="-"/>
            </a:pPr>
            <a:r>
              <a:rPr kumimoji="1" lang="ko-KR" altLang="en-US" sz="2000" b="1" dirty="0"/>
              <a:t>Everyone should be able to understand how housing policy changes may affect them</a:t>
            </a:r>
            <a:r>
              <a:rPr kumimoji="1" lang="en-US" altLang="ko-KR" sz="2000" b="1" dirty="0"/>
              <a:t>.</a:t>
            </a:r>
          </a:p>
          <a:p>
            <a:pPr marL="285750" indent="-285750">
              <a:buFontTx/>
              <a:buChar char="-"/>
            </a:pPr>
            <a:r>
              <a:rPr kumimoji="1" lang="ko-KR" altLang="en-US" sz="2000" b="1" dirty="0"/>
              <a:t>We need to help lawmakers understand complex causal links </a:t>
            </a:r>
            <a:r>
              <a:rPr kumimoji="1" lang="ko-KR" altLang="en-US" sz="2000" b="1" dirty="0" err="1"/>
              <a:t>and design better policies</a:t>
            </a:r>
            <a:r>
              <a:rPr kumimoji="1" lang="en-US" altLang="ko-KR" sz="2000" b="1" dirty="0"/>
              <a:t>.</a:t>
            </a:r>
            <a:endParaRPr kumimoji="1" lang="ko-KR" altLang="en-US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4ED597-0671-2311-3279-51DC3793CA7D}"/>
              </a:ext>
            </a:extLst>
          </p:cNvPr>
          <p:cNvSpPr txBox="1"/>
          <p:nvPr/>
        </p:nvSpPr>
        <p:spPr>
          <a:xfrm>
            <a:off x="4639626" y="4919729"/>
            <a:ext cx="53511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400" b="1" dirty="0" err="1"/>
              <a:t>SweetHome</a:t>
            </a:r>
            <a:r>
              <a:rPr kumimoji="1" lang="en-US" altLang="ko-KR" sz="2400" b="1" dirty="0"/>
              <a:t> is Exactly what we want!</a:t>
            </a:r>
            <a:endParaRPr kumimoji="1"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200041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9707AF97-6321-452F-9C28-C8E295A5DB07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9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pPr>
            <a:r>
              <a:rPr sz="9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rPr>
              <a:t>01  POLICY CONTEXT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B49BB1F-9C84-42A8-AC58-FC73EBBA6423}"/>
              </a:ext>
            </a:extLst>
          </p:cNvPr>
          <p:cNvSpPr>
            <a:spLocks noGrp="1"/>
          </p:cNvSpPr>
          <p:nvPr/>
        </p:nvSpPr>
        <p:spPr>
          <a:xfrm>
            <a:off x="495300" y="581025"/>
            <a:ext cx="13449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0000"/>
              </a:lnSpc>
              <a:buNone/>
              <a:defRPr sz="27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27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Housing policy tools change in rapid succession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4952EA0-883F-4E7D-87EA-728A6F32EF72}"/>
              </a:ext>
            </a:extLst>
          </p:cNvPr>
          <p:cNvSpPr>
            <a:spLocks noGrp="1"/>
          </p:cNvSpPr>
          <p:nvPr/>
        </p:nvSpPr>
        <p:spPr>
          <a:xfrm>
            <a:off x="419100" y="1152525"/>
            <a:ext cx="1343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0000"/>
              </a:lnSpc>
              <a:buNone/>
              <a:defRPr sz="127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7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Recent measures have combined area designations, lending rules and housing supply policies.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52694DC0-0785-4614-B626-22AE501DD86C}"/>
              </a:ext>
            </a:extLst>
          </p:cNvPr>
          <p:cNvSpPr>
            <a:spLocks noGrp="1"/>
          </p:cNvSpPr>
          <p:nvPr/>
        </p:nvSpPr>
        <p:spPr>
          <a:xfrm>
            <a:off x="419100" y="7848600"/>
            <a:ext cx="13792200" cy="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AE0D7CE-9E2F-4D06-8DD9-3B9810C8B3DE}"/>
              </a:ext>
            </a:extLst>
          </p:cNvPr>
          <p:cNvSpPr>
            <a:spLocks noGrp="1"/>
          </p:cNvSpPr>
          <p:nvPr/>
        </p:nvSpPr>
        <p:spPr>
          <a:xfrm>
            <a:off x="419100" y="7962900"/>
            <a:ext cx="619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pPr>
            <a:r>
              <a: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rPr>
              <a:t>SweetHome | Google DeepMind AI Hackathon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770551F-192A-40D1-930B-D4179ABC5DDB}"/>
              </a:ext>
            </a:extLst>
          </p:cNvPr>
          <p:cNvSpPr>
            <a:spLocks noGrp="1"/>
          </p:cNvSpPr>
          <p:nvPr/>
        </p:nvSpPr>
        <p:spPr>
          <a:xfrm>
            <a:off x="13830300" y="796290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r">
              <a:lnSpc>
                <a:spcPct val="108000"/>
              </a:lnSpc>
              <a:buNone/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pPr>
            <a:r>
              <a: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rPr>
              <a:t>06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4A2102C8-7E99-4D88-ACF2-82C12ED9BC5E}"/>
              </a:ext>
            </a:extLst>
          </p:cNvPr>
          <p:cNvSpPr>
            <a:spLocks noGrp="1"/>
          </p:cNvSpPr>
          <p:nvPr/>
        </p:nvSpPr>
        <p:spPr>
          <a:xfrm>
            <a:off x="1200150" y="4095750"/>
            <a:ext cx="12230100" cy="0"/>
          </a:xfrm>
          <a:prstGeom prst="line">
            <a:avLst/>
          </a:prstGeom>
          <a:noFill/>
          <a:ln w="2857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E01D6C80-C96C-4A85-8D64-73D213B97DA6}"/>
              </a:ext>
            </a:extLst>
          </p:cNvPr>
          <p:cNvSpPr>
            <a:spLocks noGrp="1"/>
          </p:cNvSpPr>
          <p:nvPr/>
        </p:nvSpPr>
        <p:spPr>
          <a:xfrm>
            <a:off x="1285875" y="3990975"/>
            <a:ext cx="209550" cy="209550"/>
          </a:xfrm>
          <a:prstGeom prst="ellipse">
            <a:avLst/>
          </a:prstGeom>
          <a:solidFill>
            <a:srgbClr val="007D79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165457B-535D-4A98-BCD1-0BB979DE1F8D}"/>
              </a:ext>
            </a:extLst>
          </p:cNvPr>
          <p:cNvSpPr>
            <a:spLocks noGrp="1"/>
          </p:cNvSpPr>
          <p:nvPr/>
        </p:nvSpPr>
        <p:spPr>
          <a:xfrm>
            <a:off x="838200" y="2628900"/>
            <a:ext cx="1104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050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ctr">
              <a:lnSpc>
                <a:spcPct val="108000"/>
              </a:lnSpc>
              <a:buNone/>
              <a:defRPr sz="1050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defRPr>
            </a:pPr>
            <a:r>
              <a:rPr sz="1050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rPr>
              <a:t>2025.02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15AF304-19F1-4C9B-9ECA-2DDDE5CF1841}"/>
              </a:ext>
            </a:extLst>
          </p:cNvPr>
          <p:cNvSpPr>
            <a:spLocks noGrp="1"/>
          </p:cNvSpPr>
          <p:nvPr/>
        </p:nvSpPr>
        <p:spPr>
          <a:xfrm>
            <a:off x="514350" y="2914650"/>
            <a:ext cx="1752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42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ctr">
              <a:lnSpc>
                <a:spcPct val="100000"/>
              </a:lnSpc>
              <a:buNone/>
              <a:defRPr sz="142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42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Land transaction</a:t>
            </a:r>
          </a:p>
          <a:p>
            <a:pPr algn="ctr">
              <a:lnSpc>
                <a:spcPct val="100000"/>
              </a:lnSpc>
              <a:buNone/>
              <a:defRPr sz="142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42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permits eased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5276B03-5272-4288-A55B-9AC48260F30B}"/>
              </a:ext>
            </a:extLst>
          </p:cNvPr>
          <p:cNvSpPr>
            <a:spLocks noGrp="1"/>
          </p:cNvSpPr>
          <p:nvPr/>
        </p:nvSpPr>
        <p:spPr>
          <a:xfrm>
            <a:off x="438150" y="3524250"/>
            <a:ext cx="190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013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ctr">
              <a:lnSpc>
                <a:spcPct val="106000"/>
              </a:lnSpc>
              <a:buNone/>
              <a:defRPr sz="1013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013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Jamsil, Samseong, Daechi, Cheongdam</a:t>
            </a:r>
          </a:p>
          <a:p>
            <a:pPr algn="ctr">
              <a:lnSpc>
                <a:spcPct val="106000"/>
              </a:lnSpc>
              <a:buNone/>
              <a:defRPr sz="1013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013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291 apartment complexes</a:t>
            </a:r>
          </a:p>
        </p:txBody>
      </p:sp>
      <p:sp>
        <p:nvSpPr>
          <p:cNvPr id="12" name="직선 연결선[R] 11">
            <a:extLst>
              <a:ext uri="{FF2B5EF4-FFF2-40B4-BE49-F238E27FC236}">
                <a16:creationId xmlns:a16="http://schemas.microsoft.com/office/drawing/2014/main" id="{08643681-5A74-4A98-93F7-6CA8BF30A255}"/>
              </a:ext>
            </a:extLst>
          </p:cNvPr>
          <p:cNvSpPr>
            <a:spLocks noGrp="1"/>
          </p:cNvSpPr>
          <p:nvPr/>
        </p:nvSpPr>
        <p:spPr>
          <a:xfrm>
            <a:off x="1390650" y="3581400"/>
            <a:ext cx="0" cy="342900"/>
          </a:xfrm>
          <a:prstGeom prst="line">
            <a:avLst/>
          </a:prstGeom>
          <a:noFill/>
          <a:ln w="14288">
            <a:solidFill>
              <a:srgbClr val="007D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B09314DB-A5CF-41BB-A4AC-1285F3E5D412}"/>
              </a:ext>
            </a:extLst>
          </p:cNvPr>
          <p:cNvSpPr>
            <a:spLocks noGrp="1"/>
          </p:cNvSpPr>
          <p:nvPr/>
        </p:nvSpPr>
        <p:spPr>
          <a:xfrm>
            <a:off x="3571875" y="3990975"/>
            <a:ext cx="209550" cy="209550"/>
          </a:xfrm>
          <a:prstGeom prst="ellipse">
            <a:avLst/>
          </a:prstGeom>
          <a:solidFill>
            <a:srgbClr val="002D9C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630A386-FE57-44D6-9598-2620594102FF}"/>
              </a:ext>
            </a:extLst>
          </p:cNvPr>
          <p:cNvSpPr>
            <a:spLocks noGrp="1"/>
          </p:cNvSpPr>
          <p:nvPr/>
        </p:nvSpPr>
        <p:spPr>
          <a:xfrm>
            <a:off x="3124200" y="4495800"/>
            <a:ext cx="1104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050" b="1" i="0">
                <a:solidFill>
                  <a:srgbClr val="002D9C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ctr">
              <a:lnSpc>
                <a:spcPct val="108000"/>
              </a:lnSpc>
              <a:buNone/>
              <a:defRPr sz="1050" b="1" i="0">
                <a:solidFill>
                  <a:srgbClr val="002D9C"/>
                </a:solidFill>
                <a:latin typeface="IBM Plex Sans"/>
                <a:ea typeface="IBM Plex Sans KR"/>
                <a:cs typeface="IBM Plex Sans"/>
              </a:defRPr>
            </a:pPr>
            <a:r>
              <a:rPr sz="1050" b="1" i="0">
                <a:solidFill>
                  <a:srgbClr val="002D9C"/>
                </a:solidFill>
                <a:latin typeface="IBM Plex Sans"/>
                <a:ea typeface="IBM Plex Sans KR"/>
                <a:cs typeface="IBM Plex Sans"/>
              </a:rPr>
              <a:t>2025.03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D7C51D3-2194-47BE-A6FF-45E53CD0B19E}"/>
              </a:ext>
            </a:extLst>
          </p:cNvPr>
          <p:cNvSpPr>
            <a:spLocks noGrp="1"/>
          </p:cNvSpPr>
          <p:nvPr/>
        </p:nvSpPr>
        <p:spPr>
          <a:xfrm>
            <a:off x="2800350" y="4819650"/>
            <a:ext cx="1752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42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ctr">
              <a:lnSpc>
                <a:spcPct val="100000"/>
              </a:lnSpc>
              <a:buNone/>
              <a:defRPr sz="142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42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Permit zones</a:t>
            </a:r>
          </a:p>
          <a:p>
            <a:pPr algn="ctr">
              <a:lnSpc>
                <a:spcPct val="100000"/>
              </a:lnSpc>
              <a:buNone/>
              <a:defRPr sz="142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42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expanded again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26AB5B6-D597-4D2B-AF34-19FC41091F9E}"/>
              </a:ext>
            </a:extLst>
          </p:cNvPr>
          <p:cNvSpPr>
            <a:spLocks noGrp="1"/>
          </p:cNvSpPr>
          <p:nvPr/>
        </p:nvSpPr>
        <p:spPr>
          <a:xfrm>
            <a:off x="2724150" y="5448300"/>
            <a:ext cx="190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013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ctr">
              <a:lnSpc>
                <a:spcPct val="106000"/>
              </a:lnSpc>
              <a:buNone/>
              <a:defRPr sz="1013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013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Gangnam 3 districts, Yongsan</a:t>
            </a:r>
          </a:p>
          <a:p>
            <a:pPr algn="ctr">
              <a:lnSpc>
                <a:spcPct val="106000"/>
              </a:lnSpc>
              <a:buNone/>
              <a:defRPr sz="1013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013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All apartments</a:t>
            </a:r>
          </a:p>
        </p:txBody>
      </p:sp>
      <p:sp>
        <p:nvSpPr>
          <p:cNvPr id="17" name="직선 연결선[R] 16">
            <a:extLst>
              <a:ext uri="{FF2B5EF4-FFF2-40B4-BE49-F238E27FC236}">
                <a16:creationId xmlns:a16="http://schemas.microsoft.com/office/drawing/2014/main" id="{8ABEAE84-4F56-40B2-B860-B8B0F3CCBA3C}"/>
              </a:ext>
            </a:extLst>
          </p:cNvPr>
          <p:cNvSpPr>
            <a:spLocks noGrp="1"/>
          </p:cNvSpPr>
          <p:nvPr/>
        </p:nvSpPr>
        <p:spPr>
          <a:xfrm>
            <a:off x="3676650" y="4200525"/>
            <a:ext cx="0" cy="323850"/>
          </a:xfrm>
          <a:prstGeom prst="line">
            <a:avLst/>
          </a:prstGeom>
          <a:noFill/>
          <a:ln w="14288">
            <a:solidFill>
              <a:srgbClr val="002D9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5231E227-ED78-4C8C-B606-3834A407DA9B}"/>
              </a:ext>
            </a:extLst>
          </p:cNvPr>
          <p:cNvSpPr>
            <a:spLocks noGrp="1"/>
          </p:cNvSpPr>
          <p:nvPr/>
        </p:nvSpPr>
        <p:spPr>
          <a:xfrm>
            <a:off x="5857875" y="3990975"/>
            <a:ext cx="209550" cy="209550"/>
          </a:xfrm>
          <a:prstGeom prst="ellipse">
            <a:avLst/>
          </a:prstGeom>
          <a:solidFill>
            <a:srgbClr val="0F62FE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DED0FB4-B247-4F67-B61D-7D7CD966335E}"/>
              </a:ext>
            </a:extLst>
          </p:cNvPr>
          <p:cNvSpPr>
            <a:spLocks noGrp="1"/>
          </p:cNvSpPr>
          <p:nvPr/>
        </p:nvSpPr>
        <p:spPr>
          <a:xfrm>
            <a:off x="5410200" y="2628900"/>
            <a:ext cx="1104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050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ctr">
              <a:lnSpc>
                <a:spcPct val="108000"/>
              </a:lnSpc>
              <a:buNone/>
              <a:defRPr sz="1050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pPr>
            <a:r>
              <a:rPr sz="1050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rPr>
              <a:t>2025.06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A39B27E-77B9-4A50-A0E1-83B0BD18D95C}"/>
              </a:ext>
            </a:extLst>
          </p:cNvPr>
          <p:cNvSpPr>
            <a:spLocks noGrp="1"/>
          </p:cNvSpPr>
          <p:nvPr/>
        </p:nvSpPr>
        <p:spPr>
          <a:xfrm>
            <a:off x="5086350" y="2914650"/>
            <a:ext cx="1752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42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ctr">
              <a:lnSpc>
                <a:spcPct val="100000"/>
              </a:lnSpc>
              <a:buNone/>
              <a:defRPr sz="142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42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Household debt</a:t>
            </a:r>
          </a:p>
          <a:p>
            <a:pPr algn="ctr">
              <a:lnSpc>
                <a:spcPct val="100000"/>
              </a:lnSpc>
              <a:buNone/>
              <a:defRPr sz="142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42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rules tightened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3F683B1-8558-46EF-A9D7-7F1A7FCF26DE}"/>
              </a:ext>
            </a:extLst>
          </p:cNvPr>
          <p:cNvSpPr>
            <a:spLocks noGrp="1"/>
          </p:cNvSpPr>
          <p:nvPr/>
        </p:nvSpPr>
        <p:spPr>
          <a:xfrm>
            <a:off x="5010150" y="3524250"/>
            <a:ext cx="190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013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ctr">
              <a:lnSpc>
                <a:spcPct val="106000"/>
              </a:lnSpc>
              <a:buNone/>
              <a:defRPr sz="1013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013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KRW 600m mortgage cap</a:t>
            </a:r>
          </a:p>
          <a:p>
            <a:pPr algn="ctr">
              <a:lnSpc>
                <a:spcPct val="106000"/>
              </a:lnSpc>
              <a:buNone/>
              <a:defRPr sz="1013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013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Move-in requirement</a:t>
            </a:r>
          </a:p>
        </p:txBody>
      </p:sp>
      <p:sp>
        <p:nvSpPr>
          <p:cNvPr id="22" name="직선 연결선[R] 21">
            <a:extLst>
              <a:ext uri="{FF2B5EF4-FFF2-40B4-BE49-F238E27FC236}">
                <a16:creationId xmlns:a16="http://schemas.microsoft.com/office/drawing/2014/main" id="{F4C4C1F0-C69E-4C94-8446-F5530B31560B}"/>
              </a:ext>
            </a:extLst>
          </p:cNvPr>
          <p:cNvSpPr>
            <a:spLocks noGrp="1"/>
          </p:cNvSpPr>
          <p:nvPr/>
        </p:nvSpPr>
        <p:spPr>
          <a:xfrm>
            <a:off x="5962650" y="3581400"/>
            <a:ext cx="0" cy="342900"/>
          </a:xfrm>
          <a:prstGeom prst="line">
            <a:avLst/>
          </a:prstGeom>
          <a:noFill/>
          <a:ln w="14288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7BC82142-123F-4230-AA0D-9393641F6BF1}"/>
              </a:ext>
            </a:extLst>
          </p:cNvPr>
          <p:cNvSpPr>
            <a:spLocks noGrp="1"/>
          </p:cNvSpPr>
          <p:nvPr/>
        </p:nvSpPr>
        <p:spPr>
          <a:xfrm>
            <a:off x="8143875" y="3990975"/>
            <a:ext cx="209550" cy="209550"/>
          </a:xfrm>
          <a:prstGeom prst="ellipse">
            <a:avLst/>
          </a:prstGeom>
          <a:solidFill>
            <a:srgbClr val="007D79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0554BE5-B61B-4DD7-A455-599258DC3235}"/>
              </a:ext>
            </a:extLst>
          </p:cNvPr>
          <p:cNvSpPr>
            <a:spLocks noGrp="1"/>
          </p:cNvSpPr>
          <p:nvPr/>
        </p:nvSpPr>
        <p:spPr>
          <a:xfrm>
            <a:off x="7696200" y="4495800"/>
            <a:ext cx="1104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050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ctr">
              <a:lnSpc>
                <a:spcPct val="108000"/>
              </a:lnSpc>
              <a:buNone/>
              <a:defRPr sz="1050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defRPr>
            </a:pPr>
            <a:r>
              <a:rPr sz="1050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rPr>
              <a:t>2025.09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503BC14-2AED-4B9C-96D1-27230A5A54DE}"/>
              </a:ext>
            </a:extLst>
          </p:cNvPr>
          <p:cNvSpPr>
            <a:spLocks noGrp="1"/>
          </p:cNvSpPr>
          <p:nvPr/>
        </p:nvSpPr>
        <p:spPr>
          <a:xfrm>
            <a:off x="7372350" y="4819650"/>
            <a:ext cx="1752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42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ctr">
              <a:lnSpc>
                <a:spcPct val="100000"/>
              </a:lnSpc>
              <a:buNone/>
              <a:defRPr sz="142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42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Capital region</a:t>
            </a:r>
          </a:p>
          <a:p>
            <a:pPr algn="ctr">
              <a:lnSpc>
                <a:spcPct val="100000"/>
              </a:lnSpc>
              <a:buNone/>
              <a:defRPr sz="142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42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supply plan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B4C70E9-E294-4B1F-8EC6-AC25CE13B18A}"/>
              </a:ext>
            </a:extLst>
          </p:cNvPr>
          <p:cNvSpPr>
            <a:spLocks noGrp="1"/>
          </p:cNvSpPr>
          <p:nvPr/>
        </p:nvSpPr>
        <p:spPr>
          <a:xfrm>
            <a:off x="7296150" y="5448300"/>
            <a:ext cx="190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013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ctr">
              <a:lnSpc>
                <a:spcPct val="106000"/>
              </a:lnSpc>
              <a:buNone/>
              <a:defRPr sz="1013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013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By 2030</a:t>
            </a:r>
          </a:p>
          <a:p>
            <a:pPr algn="ctr">
              <a:lnSpc>
                <a:spcPct val="106000"/>
              </a:lnSpc>
              <a:buNone/>
              <a:defRPr sz="1013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013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1.35m homes targeted</a:t>
            </a:r>
          </a:p>
        </p:txBody>
      </p:sp>
      <p:sp>
        <p:nvSpPr>
          <p:cNvPr id="27" name="직선 연결선[R] 26">
            <a:extLst>
              <a:ext uri="{FF2B5EF4-FFF2-40B4-BE49-F238E27FC236}">
                <a16:creationId xmlns:a16="http://schemas.microsoft.com/office/drawing/2014/main" id="{79FD720F-E258-426A-B997-679FC295A828}"/>
              </a:ext>
            </a:extLst>
          </p:cNvPr>
          <p:cNvSpPr>
            <a:spLocks noGrp="1"/>
          </p:cNvSpPr>
          <p:nvPr/>
        </p:nvSpPr>
        <p:spPr>
          <a:xfrm>
            <a:off x="8248650" y="4200525"/>
            <a:ext cx="0" cy="323850"/>
          </a:xfrm>
          <a:prstGeom prst="line">
            <a:avLst/>
          </a:prstGeom>
          <a:noFill/>
          <a:ln w="14288">
            <a:solidFill>
              <a:srgbClr val="007D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E8C4E21E-2DD7-4563-8BEE-8C907F38DC4C}"/>
              </a:ext>
            </a:extLst>
          </p:cNvPr>
          <p:cNvSpPr>
            <a:spLocks noGrp="1"/>
          </p:cNvSpPr>
          <p:nvPr/>
        </p:nvSpPr>
        <p:spPr>
          <a:xfrm>
            <a:off x="10429875" y="3990975"/>
            <a:ext cx="209550" cy="209550"/>
          </a:xfrm>
          <a:prstGeom prst="ellipse">
            <a:avLst/>
          </a:prstGeom>
          <a:solidFill>
            <a:srgbClr val="001D6C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F148B4E-30B9-4105-9E9F-70558B7CE520}"/>
              </a:ext>
            </a:extLst>
          </p:cNvPr>
          <p:cNvSpPr>
            <a:spLocks noGrp="1"/>
          </p:cNvSpPr>
          <p:nvPr/>
        </p:nvSpPr>
        <p:spPr>
          <a:xfrm>
            <a:off x="9982200" y="2628900"/>
            <a:ext cx="1104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050" b="1" i="0">
                <a:solidFill>
                  <a:srgbClr val="001D6C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ctr">
              <a:lnSpc>
                <a:spcPct val="108000"/>
              </a:lnSpc>
              <a:buNone/>
              <a:defRPr sz="1050" b="1" i="0">
                <a:solidFill>
                  <a:srgbClr val="001D6C"/>
                </a:solidFill>
                <a:latin typeface="IBM Plex Sans"/>
                <a:ea typeface="IBM Plex Sans KR"/>
                <a:cs typeface="IBM Plex Sans"/>
              </a:defRPr>
            </a:pPr>
            <a:r>
              <a:rPr sz="1050" b="1" i="0">
                <a:solidFill>
                  <a:srgbClr val="001D6C"/>
                </a:solidFill>
                <a:latin typeface="IBM Plex Sans"/>
                <a:ea typeface="IBM Plex Sans KR"/>
                <a:cs typeface="IBM Plex Sans"/>
              </a:rPr>
              <a:t>2025.10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91E627E-61D2-44B3-9AD7-9D21A94561A0}"/>
              </a:ext>
            </a:extLst>
          </p:cNvPr>
          <p:cNvSpPr>
            <a:spLocks noGrp="1"/>
          </p:cNvSpPr>
          <p:nvPr/>
        </p:nvSpPr>
        <p:spPr>
          <a:xfrm>
            <a:off x="9658350" y="2914650"/>
            <a:ext cx="1752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42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ctr">
              <a:lnSpc>
                <a:spcPct val="100000"/>
              </a:lnSpc>
              <a:buNone/>
              <a:defRPr sz="142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42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Wider controls</a:t>
            </a:r>
          </a:p>
          <a:p>
            <a:pPr algn="ctr">
              <a:lnSpc>
                <a:spcPct val="100000"/>
              </a:lnSpc>
              <a:buNone/>
              <a:defRPr sz="142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42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Tighter lending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73734EA-F3B2-4EAD-8942-35D0BCB30E57}"/>
              </a:ext>
            </a:extLst>
          </p:cNvPr>
          <p:cNvSpPr>
            <a:spLocks noGrp="1"/>
          </p:cNvSpPr>
          <p:nvPr/>
        </p:nvSpPr>
        <p:spPr>
          <a:xfrm>
            <a:off x="9582150" y="3524250"/>
            <a:ext cx="190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013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ctr">
              <a:lnSpc>
                <a:spcPct val="106000"/>
              </a:lnSpc>
              <a:buNone/>
              <a:defRPr sz="1013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013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All Seoul, 12 Gyeonggi areas</a:t>
            </a:r>
          </a:p>
          <a:p>
            <a:pPr algn="ctr">
              <a:lnSpc>
                <a:spcPct val="106000"/>
              </a:lnSpc>
              <a:buNone/>
              <a:defRPr sz="1013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013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LTV: 70% to 40%</a:t>
            </a:r>
          </a:p>
        </p:txBody>
      </p:sp>
      <p:sp>
        <p:nvSpPr>
          <p:cNvPr id="32" name="직선 연결선[R] 31">
            <a:extLst>
              <a:ext uri="{FF2B5EF4-FFF2-40B4-BE49-F238E27FC236}">
                <a16:creationId xmlns:a16="http://schemas.microsoft.com/office/drawing/2014/main" id="{1DF4ACFF-B295-4D56-BB6C-C55383065D1D}"/>
              </a:ext>
            </a:extLst>
          </p:cNvPr>
          <p:cNvSpPr>
            <a:spLocks noGrp="1"/>
          </p:cNvSpPr>
          <p:nvPr/>
        </p:nvSpPr>
        <p:spPr>
          <a:xfrm>
            <a:off x="10534650" y="3581400"/>
            <a:ext cx="0" cy="342900"/>
          </a:xfrm>
          <a:prstGeom prst="line">
            <a:avLst/>
          </a:prstGeom>
          <a:noFill/>
          <a:ln w="14288">
            <a:solidFill>
              <a:srgbClr val="001D6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D55AA6CD-F614-4290-8C26-2F3718F18884}"/>
              </a:ext>
            </a:extLst>
          </p:cNvPr>
          <p:cNvSpPr>
            <a:spLocks noGrp="1"/>
          </p:cNvSpPr>
          <p:nvPr/>
        </p:nvSpPr>
        <p:spPr>
          <a:xfrm>
            <a:off x="12715875" y="3990975"/>
            <a:ext cx="209550" cy="209550"/>
          </a:xfrm>
          <a:prstGeom prst="ellipse">
            <a:avLst/>
          </a:prstGeom>
          <a:solidFill>
            <a:srgbClr val="0F62FE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542E11A-8CE2-4C47-A1C9-7C865421735B}"/>
              </a:ext>
            </a:extLst>
          </p:cNvPr>
          <p:cNvSpPr>
            <a:spLocks noGrp="1"/>
          </p:cNvSpPr>
          <p:nvPr/>
        </p:nvSpPr>
        <p:spPr>
          <a:xfrm>
            <a:off x="12268200" y="4495800"/>
            <a:ext cx="1104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050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ctr">
              <a:lnSpc>
                <a:spcPct val="108000"/>
              </a:lnSpc>
              <a:buNone/>
              <a:defRPr sz="1050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pPr>
            <a:r>
              <a:rPr sz="1050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rPr>
              <a:t>2026.04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91EB97B-F7B0-4780-AF2F-E6DBB16986F9}"/>
              </a:ext>
            </a:extLst>
          </p:cNvPr>
          <p:cNvSpPr>
            <a:spLocks noGrp="1"/>
          </p:cNvSpPr>
          <p:nvPr/>
        </p:nvSpPr>
        <p:spPr>
          <a:xfrm>
            <a:off x="11944350" y="4819650"/>
            <a:ext cx="1752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42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ctr">
              <a:lnSpc>
                <a:spcPct val="100000"/>
              </a:lnSpc>
              <a:buNone/>
              <a:defRPr sz="142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42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Household loans</a:t>
            </a:r>
          </a:p>
          <a:p>
            <a:pPr algn="ctr">
              <a:lnSpc>
                <a:spcPct val="100000"/>
              </a:lnSpc>
              <a:buNone/>
              <a:defRPr sz="142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42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further restricted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79D660F-E1F5-45AF-960C-1F85490B995A}"/>
              </a:ext>
            </a:extLst>
          </p:cNvPr>
          <p:cNvSpPr>
            <a:spLocks noGrp="1"/>
          </p:cNvSpPr>
          <p:nvPr/>
        </p:nvSpPr>
        <p:spPr>
          <a:xfrm>
            <a:off x="11868150" y="5448300"/>
            <a:ext cx="190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013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ctr">
              <a:lnSpc>
                <a:spcPct val="106000"/>
              </a:lnSpc>
              <a:buNone/>
              <a:defRPr sz="1013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013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Managed growth target: 1.5%</a:t>
            </a:r>
          </a:p>
          <a:p>
            <a:pPr algn="ctr">
              <a:lnSpc>
                <a:spcPct val="106000"/>
              </a:lnSpc>
              <a:buNone/>
              <a:defRPr sz="1013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013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Loan renewal restrictions</a:t>
            </a:r>
          </a:p>
        </p:txBody>
      </p:sp>
      <p:sp>
        <p:nvSpPr>
          <p:cNvPr id="37" name="직선 연결선[R] 36">
            <a:extLst>
              <a:ext uri="{FF2B5EF4-FFF2-40B4-BE49-F238E27FC236}">
                <a16:creationId xmlns:a16="http://schemas.microsoft.com/office/drawing/2014/main" id="{FDC8AE3E-0A11-4292-8F7F-CEF03D6959E1}"/>
              </a:ext>
            </a:extLst>
          </p:cNvPr>
          <p:cNvSpPr>
            <a:spLocks noGrp="1"/>
          </p:cNvSpPr>
          <p:nvPr/>
        </p:nvSpPr>
        <p:spPr>
          <a:xfrm>
            <a:off x="12820650" y="4200525"/>
            <a:ext cx="0" cy="323850"/>
          </a:xfrm>
          <a:prstGeom prst="line">
            <a:avLst/>
          </a:prstGeom>
          <a:noFill/>
          <a:ln w="14288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C6DD9DA-26FC-4043-B68E-9197B3F87203}"/>
              </a:ext>
            </a:extLst>
          </p:cNvPr>
          <p:cNvSpPr>
            <a:spLocks noGrp="1"/>
          </p:cNvSpPr>
          <p:nvPr/>
        </p:nvSpPr>
        <p:spPr>
          <a:xfrm>
            <a:off x="1562100" y="6343650"/>
            <a:ext cx="11506200" cy="742950"/>
          </a:xfrm>
          <a:prstGeom prst="rect">
            <a:avLst/>
          </a:prstGeom>
          <a:solidFill>
            <a:srgbClr val="F4F4F4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995C9FA-AD5D-4A38-AD25-90FC09FAE8D5}"/>
              </a:ext>
            </a:extLst>
          </p:cNvPr>
          <p:cNvSpPr>
            <a:spLocks noGrp="1"/>
          </p:cNvSpPr>
          <p:nvPr/>
        </p:nvSpPr>
        <p:spPr>
          <a:xfrm>
            <a:off x="1866900" y="6543675"/>
            <a:ext cx="10896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ctr">
              <a:lnSpc>
                <a:spcPct val="108000"/>
              </a:lnSpc>
              <a:buNone/>
              <a:defRPr sz="18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8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Policymakers need to assess policy combinations and timing, alongside individual tools.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60BE86C-3B4B-4587-A4B2-7596853EEEF1}"/>
              </a:ext>
            </a:extLst>
          </p:cNvPr>
          <p:cNvSpPr>
            <a:spLocks noGrp="1"/>
          </p:cNvSpPr>
          <p:nvPr/>
        </p:nvSpPr>
        <p:spPr>
          <a:xfrm>
            <a:off x="419100" y="7543800"/>
            <a:ext cx="13792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0000"/>
              </a:lnSpc>
              <a:buNone/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pPr>
            <a:r>
              <a: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rPr>
              <a:t>Sources: Seoul (Feb 2025), joint ministries (Mar 2025), MOLIT and FSC (Jun, Sep, Oct 2025 and Apr 2026).</a:t>
            </a:r>
          </a:p>
        </p:txBody>
      </p:sp>
    </p:spTree>
    <p:extLst>
      <p:ext uri="{BB962C8B-B14F-4D97-AF65-F5344CB8AC3E}">
        <p14:creationId xmlns:p14="http://schemas.microsoft.com/office/powerpoint/2010/main" val="1914380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09EADD5F-6DD3-4CA4-ADA6-BCF86AE89839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9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pPr>
            <a:r>
              <a:rPr sz="9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rPr>
              <a:t>02  OBSERVED EFFECT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9408833-5A40-4B2E-B5E8-3B4DAC2E7CD7}"/>
              </a:ext>
            </a:extLst>
          </p:cNvPr>
          <p:cNvSpPr>
            <a:spLocks noGrp="1"/>
          </p:cNvSpPr>
          <p:nvPr/>
        </p:nvSpPr>
        <p:spPr>
          <a:xfrm>
            <a:off x="495300" y="581025"/>
            <a:ext cx="13449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0000"/>
              </a:lnSpc>
              <a:buNone/>
              <a:defRPr sz="27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27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Targeted rules can have different effects in nearby areas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180735E-03B3-4AF4-A8F4-73F83B779A98}"/>
              </a:ext>
            </a:extLst>
          </p:cNvPr>
          <p:cNvSpPr>
            <a:spLocks noGrp="1"/>
          </p:cNvSpPr>
          <p:nvPr/>
        </p:nvSpPr>
        <p:spPr>
          <a:xfrm>
            <a:off x="419100" y="1152525"/>
            <a:ext cx="1343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0000"/>
              </a:lnSpc>
              <a:buNone/>
              <a:defRPr sz="127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7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Retrospective estimates for the 2020 land transaction permit zones in Jamsil, Samseong, Daechi and Cheongdam.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79FBA76C-80A8-4231-AE83-55FD57159534}"/>
              </a:ext>
            </a:extLst>
          </p:cNvPr>
          <p:cNvSpPr>
            <a:spLocks noGrp="1"/>
          </p:cNvSpPr>
          <p:nvPr/>
        </p:nvSpPr>
        <p:spPr>
          <a:xfrm>
            <a:off x="419100" y="7848600"/>
            <a:ext cx="13792200" cy="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48796AC-390C-4A7E-8C35-B4E320A072C8}"/>
              </a:ext>
            </a:extLst>
          </p:cNvPr>
          <p:cNvSpPr>
            <a:spLocks noGrp="1"/>
          </p:cNvSpPr>
          <p:nvPr/>
        </p:nvSpPr>
        <p:spPr>
          <a:xfrm>
            <a:off x="419100" y="7962900"/>
            <a:ext cx="619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pPr>
            <a:r>
              <a: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rPr>
              <a:t>SweetHome | Google DeepMind AI Hackathon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6C0486E-3A5F-47DA-BCA2-16E2AF7EE611}"/>
              </a:ext>
            </a:extLst>
          </p:cNvPr>
          <p:cNvSpPr>
            <a:spLocks noGrp="1"/>
          </p:cNvSpPr>
          <p:nvPr/>
        </p:nvSpPr>
        <p:spPr>
          <a:xfrm>
            <a:off x="13830300" y="796290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r">
              <a:lnSpc>
                <a:spcPct val="108000"/>
              </a:lnSpc>
              <a:buNone/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pPr>
            <a:r>
              <a: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rPr>
              <a:t>07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73A15C9-B570-42D3-8153-A367BFC6ABC6}"/>
              </a:ext>
            </a:extLst>
          </p:cNvPr>
          <p:cNvSpPr>
            <a:spLocks noGrp="1"/>
          </p:cNvSpPr>
          <p:nvPr/>
        </p:nvSpPr>
        <p:spPr>
          <a:xfrm>
            <a:off x="857250" y="19621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1" i="0">
                <a:solidFill>
                  <a:srgbClr val="002D9C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125" b="1" i="0">
                <a:solidFill>
                  <a:srgbClr val="002D9C"/>
                </a:solidFill>
                <a:latin typeface="IBM Plex Sans"/>
                <a:ea typeface="IBM Plex Sans KR"/>
                <a:cs typeface="IBM Plex Sans"/>
              </a:defRPr>
            </a:pPr>
            <a:r>
              <a:rPr sz="1125" b="1" i="0">
                <a:solidFill>
                  <a:srgbClr val="002D9C"/>
                </a:solidFill>
                <a:latin typeface="IBM Plex Sans"/>
                <a:ea typeface="IBM Plex Sans KR"/>
                <a:cs typeface="IBM Plex Sans"/>
              </a:rPr>
              <a:t>Inside regulated areas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8F3E67E-B229-4E32-A474-099D2C1B05C4}"/>
              </a:ext>
            </a:extLst>
          </p:cNvPr>
          <p:cNvSpPr>
            <a:spLocks noGrp="1"/>
          </p:cNvSpPr>
          <p:nvPr/>
        </p:nvSpPr>
        <p:spPr>
          <a:xfrm>
            <a:off x="857250" y="2695575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3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3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Home sales volume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8360D50-C117-4D3C-B9E1-C6E76382928C}"/>
              </a:ext>
            </a:extLst>
          </p:cNvPr>
          <p:cNvSpPr>
            <a:spLocks noGrp="1"/>
          </p:cNvSpPr>
          <p:nvPr/>
        </p:nvSpPr>
        <p:spPr>
          <a:xfrm>
            <a:off x="3638550" y="2647950"/>
            <a:ext cx="4010025" cy="438150"/>
          </a:xfrm>
          <a:prstGeom prst="rect">
            <a:avLst/>
          </a:prstGeom>
          <a:solidFill>
            <a:srgbClr val="001D6C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3487F05-43A9-4861-9878-A23FC4B2B62D}"/>
              </a:ext>
            </a:extLst>
          </p:cNvPr>
          <p:cNvSpPr>
            <a:spLocks noGrp="1"/>
          </p:cNvSpPr>
          <p:nvPr/>
        </p:nvSpPr>
        <p:spPr>
          <a:xfrm>
            <a:off x="7820025" y="2676525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 i="0">
                <a:solidFill>
                  <a:srgbClr val="001D6C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800" b="1" i="0">
                <a:solidFill>
                  <a:srgbClr val="001D6C"/>
                </a:solidFill>
                <a:latin typeface="IBM Plex Sans"/>
                <a:ea typeface="IBM Plex Sans KR"/>
                <a:cs typeface="IBM Plex Sans"/>
              </a:defRPr>
            </a:pPr>
            <a:r>
              <a:rPr sz="1800" b="1" i="0">
                <a:solidFill>
                  <a:srgbClr val="001D6C"/>
                </a:solidFill>
                <a:latin typeface="IBM Plex Sans"/>
                <a:ea typeface="IBM Plex Sans KR"/>
                <a:cs typeface="IBM Plex Sans"/>
              </a:rPr>
              <a:t>-38.3%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2CE4E0F-0015-4AB2-81C8-7D3415E13695}"/>
              </a:ext>
            </a:extLst>
          </p:cNvPr>
          <p:cNvSpPr>
            <a:spLocks noGrp="1"/>
          </p:cNvSpPr>
          <p:nvPr/>
        </p:nvSpPr>
        <p:spPr>
          <a:xfrm>
            <a:off x="857250" y="3838575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3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3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Home prices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A8B99B5-81A5-4383-BD6C-B2841493AC19}"/>
              </a:ext>
            </a:extLst>
          </p:cNvPr>
          <p:cNvSpPr>
            <a:spLocks noGrp="1"/>
          </p:cNvSpPr>
          <p:nvPr/>
        </p:nvSpPr>
        <p:spPr>
          <a:xfrm>
            <a:off x="3638550" y="3790950"/>
            <a:ext cx="1352550" cy="438150"/>
          </a:xfrm>
          <a:prstGeom prst="rect">
            <a:avLst/>
          </a:prstGeom>
          <a:solidFill>
            <a:srgbClr val="0F62FE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8487A3D-5C12-452C-ADD1-D08C85DA3B22}"/>
              </a:ext>
            </a:extLst>
          </p:cNvPr>
          <p:cNvSpPr>
            <a:spLocks noGrp="1"/>
          </p:cNvSpPr>
          <p:nvPr/>
        </p:nvSpPr>
        <p:spPr>
          <a:xfrm>
            <a:off x="5162550" y="3819525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800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pPr>
            <a:r>
              <a:rPr sz="1800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rPr>
              <a:t>-4.3%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0880A92-4065-4379-9C4F-3CAB7E50A1BC}"/>
              </a:ext>
            </a:extLst>
          </p:cNvPr>
          <p:cNvSpPr>
            <a:spLocks noGrp="1"/>
          </p:cNvSpPr>
          <p:nvPr/>
        </p:nvSpPr>
        <p:spPr>
          <a:xfrm>
            <a:off x="857250" y="5305425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3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3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Unregulated homes within 5 km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32A33F4-39C2-449D-97B2-C28AFF60879B}"/>
              </a:ext>
            </a:extLst>
          </p:cNvPr>
          <p:cNvSpPr>
            <a:spLocks noGrp="1"/>
          </p:cNvSpPr>
          <p:nvPr/>
        </p:nvSpPr>
        <p:spPr>
          <a:xfrm>
            <a:off x="3638550" y="5257800"/>
            <a:ext cx="1104900" cy="438150"/>
          </a:xfrm>
          <a:prstGeom prst="rect">
            <a:avLst/>
          </a:prstGeom>
          <a:solidFill>
            <a:srgbClr val="007D79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EDC7D4A-3C87-4C34-B44B-2C8F6E5C44EF}"/>
              </a:ext>
            </a:extLst>
          </p:cNvPr>
          <p:cNvSpPr>
            <a:spLocks noGrp="1"/>
          </p:cNvSpPr>
          <p:nvPr/>
        </p:nvSpPr>
        <p:spPr>
          <a:xfrm>
            <a:off x="4914900" y="5286375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800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defRPr>
            </a:pPr>
            <a:r>
              <a:rPr sz="1800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rPr>
              <a:t>+2.3%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C14F5B2-7064-47B5-90F6-64DF15CA9532}"/>
              </a:ext>
            </a:extLst>
          </p:cNvPr>
          <p:cNvSpPr>
            <a:spLocks noGrp="1"/>
          </p:cNvSpPr>
          <p:nvPr/>
        </p:nvSpPr>
        <p:spPr>
          <a:xfrm>
            <a:off x="3638550" y="61912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050" b="1" i="0">
                <a:solidFill>
                  <a:srgbClr val="002D9C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ctr">
              <a:lnSpc>
                <a:spcPct val="108000"/>
              </a:lnSpc>
              <a:buNone/>
              <a:defRPr sz="1050" b="1" i="0">
                <a:solidFill>
                  <a:srgbClr val="002D9C"/>
                </a:solidFill>
                <a:latin typeface="IBM Plex Sans"/>
                <a:ea typeface="IBM Plex Sans KR"/>
                <a:cs typeface="IBM Plex Sans"/>
              </a:defRPr>
            </a:pPr>
            <a:r>
              <a:rPr sz="1050" b="1" i="0">
                <a:solidFill>
                  <a:srgbClr val="002D9C"/>
                </a:solidFill>
                <a:latin typeface="IBM Plex Sans"/>
                <a:ea typeface="IBM Plex Sans KR"/>
                <a:cs typeface="IBM Plex Sans"/>
              </a:rPr>
              <a:t>Direct effect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03756A8-48D4-49A5-B403-F3A33BB97F09}"/>
              </a:ext>
            </a:extLst>
          </p:cNvPr>
          <p:cNvSpPr>
            <a:spLocks noGrp="1"/>
          </p:cNvSpPr>
          <p:nvPr/>
        </p:nvSpPr>
        <p:spPr>
          <a:xfrm>
            <a:off x="5619750" y="61912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050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ctr">
              <a:lnSpc>
                <a:spcPct val="108000"/>
              </a:lnSpc>
              <a:buNone/>
              <a:defRPr sz="1050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defRPr>
            </a:pPr>
            <a:r>
              <a:rPr sz="1050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rPr>
              <a:t>Spillover effect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D68DB45C-7D68-4CCF-9723-4B610F6F0C39}"/>
              </a:ext>
            </a:extLst>
          </p:cNvPr>
          <p:cNvSpPr>
            <a:spLocks noGrp="1"/>
          </p:cNvSpPr>
          <p:nvPr/>
        </p:nvSpPr>
        <p:spPr>
          <a:xfrm>
            <a:off x="9715500" y="2628900"/>
            <a:ext cx="3219450" cy="3219450"/>
          </a:xfrm>
          <a:prstGeom prst="ellipse">
            <a:avLst/>
          </a:prstGeom>
          <a:solidFill>
            <a:srgbClr val="E5F6F5"/>
          </a:solidFill>
          <a:ln w="19050">
            <a:solidFill>
              <a:srgbClr val="007D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5D92135F-535F-4B0B-A9E3-F81AAF2F5950}"/>
              </a:ext>
            </a:extLst>
          </p:cNvPr>
          <p:cNvSpPr>
            <a:spLocks noGrp="1"/>
          </p:cNvSpPr>
          <p:nvPr/>
        </p:nvSpPr>
        <p:spPr>
          <a:xfrm>
            <a:off x="10525125" y="3438525"/>
            <a:ext cx="1600200" cy="1600200"/>
          </a:xfrm>
          <a:prstGeom prst="ellipse">
            <a:avLst/>
          </a:prstGeom>
          <a:solidFill>
            <a:srgbClr val="EDF5FF"/>
          </a:solidFill>
          <a:ln w="1905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E7EC0D0-43C3-47ED-868E-38F3C0B92549}"/>
              </a:ext>
            </a:extLst>
          </p:cNvPr>
          <p:cNvSpPr>
            <a:spLocks noGrp="1"/>
          </p:cNvSpPr>
          <p:nvPr/>
        </p:nvSpPr>
        <p:spPr>
          <a:xfrm>
            <a:off x="9829800" y="2781300"/>
            <a:ext cx="2990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ctr">
              <a:lnSpc>
                <a:spcPct val="108000"/>
              </a:lnSpc>
              <a:buNone/>
              <a:defRPr sz="1350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defRPr>
            </a:pPr>
            <a:r>
              <a:rPr sz="1350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rPr>
              <a:t>Nearby unregulated areas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A6CCDFF-2751-4D0E-8067-DF5613B79E51}"/>
              </a:ext>
            </a:extLst>
          </p:cNvPr>
          <p:cNvSpPr>
            <a:spLocks noGrp="1"/>
          </p:cNvSpPr>
          <p:nvPr/>
        </p:nvSpPr>
        <p:spPr>
          <a:xfrm>
            <a:off x="10477500" y="310515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250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ctr">
              <a:lnSpc>
                <a:spcPct val="108000"/>
              </a:lnSpc>
              <a:buNone/>
              <a:defRPr sz="2250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defRPr>
            </a:pPr>
            <a:r>
              <a:rPr sz="2250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rPr>
              <a:t>+2.3%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82F6A5A-312A-406C-8AA2-F276BB254BBB}"/>
              </a:ext>
            </a:extLst>
          </p:cNvPr>
          <p:cNvSpPr>
            <a:spLocks noGrp="1"/>
          </p:cNvSpPr>
          <p:nvPr/>
        </p:nvSpPr>
        <p:spPr>
          <a:xfrm>
            <a:off x="10687050" y="3810000"/>
            <a:ext cx="1295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275" b="1" i="0">
                <a:solidFill>
                  <a:srgbClr val="002D9C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ctr">
              <a:lnSpc>
                <a:spcPct val="108000"/>
              </a:lnSpc>
              <a:buNone/>
              <a:defRPr sz="1275" b="1" i="0">
                <a:solidFill>
                  <a:srgbClr val="002D9C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75" b="1" i="0">
                <a:solidFill>
                  <a:srgbClr val="002D9C"/>
                </a:solidFill>
                <a:latin typeface="IBM Plex Sans"/>
                <a:ea typeface="IBM Plex Sans KR"/>
                <a:cs typeface="IBM Plex Sans"/>
              </a:rPr>
              <a:t>Permit zones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A980B62-2E96-460D-820A-4D3A0DF45415}"/>
              </a:ext>
            </a:extLst>
          </p:cNvPr>
          <p:cNvSpPr>
            <a:spLocks noGrp="1"/>
          </p:cNvSpPr>
          <p:nvPr/>
        </p:nvSpPr>
        <p:spPr>
          <a:xfrm>
            <a:off x="10601325" y="4181475"/>
            <a:ext cx="1447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275" b="1" i="0">
                <a:solidFill>
                  <a:srgbClr val="001D6C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ctr">
              <a:lnSpc>
                <a:spcPct val="105000"/>
              </a:lnSpc>
              <a:buNone/>
              <a:defRPr sz="1275" b="1" i="0">
                <a:solidFill>
                  <a:srgbClr val="001D6C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75" b="1" i="0">
                <a:solidFill>
                  <a:srgbClr val="001D6C"/>
                </a:solidFill>
                <a:latin typeface="IBM Plex Sans"/>
                <a:ea typeface="IBM Plex Sans KR"/>
                <a:cs typeface="IBM Plex Sans"/>
              </a:rPr>
              <a:t>Prices -4.3%</a:t>
            </a:r>
          </a:p>
          <a:p>
            <a:pPr algn="ctr">
              <a:lnSpc>
                <a:spcPct val="105000"/>
              </a:lnSpc>
              <a:buNone/>
              <a:defRPr sz="1275" b="1" i="0">
                <a:solidFill>
                  <a:srgbClr val="001D6C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75" b="1" i="0">
                <a:solidFill>
                  <a:srgbClr val="001D6C"/>
                </a:solidFill>
                <a:latin typeface="IBM Plex Sans"/>
                <a:ea typeface="IBM Plex Sans KR"/>
                <a:cs typeface="IBM Plex Sans"/>
              </a:rPr>
              <a:t>Sales -38.3%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8618CF5-F7D0-4FDE-8B2A-A1B191938920}"/>
              </a:ext>
            </a:extLst>
          </p:cNvPr>
          <p:cNvSpPr>
            <a:spLocks noGrp="1"/>
          </p:cNvSpPr>
          <p:nvPr/>
        </p:nvSpPr>
        <p:spPr>
          <a:xfrm>
            <a:off x="9077325" y="6210300"/>
            <a:ext cx="449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ctr">
              <a:lnSpc>
                <a:spcPct val="115000"/>
              </a:lnSpc>
              <a:buNone/>
              <a:defRPr sz="135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35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Rules may stabilize the target area while shifting demand to nearby areas.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7E78655-B84D-4E6E-99EE-12A9BC4E82A1}"/>
              </a:ext>
            </a:extLst>
          </p:cNvPr>
          <p:cNvSpPr>
            <a:spLocks noGrp="1"/>
          </p:cNvSpPr>
          <p:nvPr/>
        </p:nvSpPr>
        <p:spPr>
          <a:xfrm>
            <a:off x="781050" y="6819900"/>
            <a:ext cx="7905750" cy="514350"/>
          </a:xfrm>
          <a:prstGeom prst="rect">
            <a:avLst/>
          </a:prstGeom>
          <a:solidFill>
            <a:srgbClr val="FFF1F1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A5EA2BC-9136-477D-BB5F-031C179989D3}"/>
              </a:ext>
            </a:extLst>
          </p:cNvPr>
          <p:cNvSpPr>
            <a:spLocks noGrp="1"/>
          </p:cNvSpPr>
          <p:nvPr/>
        </p:nvSpPr>
        <p:spPr>
          <a:xfrm>
            <a:off x="971550" y="6972300"/>
            <a:ext cx="7524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1" i="0">
                <a:solidFill>
                  <a:srgbClr val="DA1E28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125" b="1" i="0">
                <a:solidFill>
                  <a:srgbClr val="DA1E28"/>
                </a:solidFill>
                <a:latin typeface="IBM Plex Sans"/>
                <a:ea typeface="IBM Plex Sans KR"/>
                <a:cs typeface="IBM Plex Sans"/>
              </a:defRPr>
            </a:pPr>
            <a:r>
              <a:rPr sz="1125" b="1" i="0">
                <a:solidFill>
                  <a:srgbClr val="DA1E28"/>
                </a:solidFill>
                <a:latin typeface="IBM Plex Sans"/>
                <a:ea typeface="IBM Plex Sans KR"/>
                <a:cs typeface="IBM Plex Sans"/>
              </a:rPr>
              <a:t>These estimates cannot be applied directly to other periods or the entire capital region.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07DB959-DA1B-4F5B-AD30-D524B2482979}"/>
              </a:ext>
            </a:extLst>
          </p:cNvPr>
          <p:cNvSpPr>
            <a:spLocks noGrp="1"/>
          </p:cNvSpPr>
          <p:nvPr/>
        </p:nvSpPr>
        <p:spPr>
          <a:xfrm>
            <a:off x="419100" y="7543800"/>
            <a:ext cx="13792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0000"/>
              </a:lnSpc>
              <a:buNone/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pPr>
            <a:r>
              <a: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rPr>
              <a:t>Source: KDI Research Report 2023-06, Housing Markets and Regulation. Estimates apply to specific designations in Seoul.</a:t>
            </a:r>
          </a:p>
        </p:txBody>
      </p:sp>
    </p:spTree>
    <p:extLst>
      <p:ext uri="{BB962C8B-B14F-4D97-AF65-F5344CB8AC3E}">
        <p14:creationId xmlns:p14="http://schemas.microsoft.com/office/powerpoint/2010/main" val="15151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FC1D35D6-509C-4C42-8458-34D0C32A499C}"/>
              </a:ext>
            </a:extLst>
          </p:cNvPr>
          <p:cNvCxnSpPr>
            <a:stCxn id="15" idx="3"/>
            <a:endCxn id="18" idx="1"/>
          </p:cNvCxnSpPr>
          <p:nvPr/>
        </p:nvCxnSpPr>
        <p:spPr>
          <a:xfrm>
            <a:off x="3181350" y="5286375"/>
            <a:ext cx="1123950" cy="0"/>
          </a:xfrm>
          <a:prstGeom prst="straightConnector1">
            <a:avLst/>
          </a:prstGeom>
          <a:ln w="19050">
            <a:solidFill>
              <a:srgbClr val="D7DCE2"/>
            </a:solidFill>
            <a:prstDash val="solid"/>
            <a:tailEnd type="triangle" w="sm" len="sm"/>
          </a:ln>
        </p:spPr>
      </p:cxn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6557AB60-9AAF-4205-B260-51FDD21AA82C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9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pPr>
            <a:r>
              <a:rPr sz="9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rPr>
              <a:t>03  POLICY INTERACTION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51F7B91-4A2F-4F5A-8D29-DDF259BF5FB9}"/>
              </a:ext>
            </a:extLst>
          </p:cNvPr>
          <p:cNvSpPr>
            <a:spLocks noGrp="1"/>
          </p:cNvSpPr>
          <p:nvPr/>
        </p:nvSpPr>
        <p:spPr>
          <a:xfrm>
            <a:off x="495300" y="581025"/>
            <a:ext cx="13449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0000"/>
              </a:lnSpc>
              <a:buNone/>
              <a:defRPr sz="27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27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Policy effects depend on rates, timing and household finances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7CAEA20-27FB-48FD-8563-22EF877220A0}"/>
              </a:ext>
            </a:extLst>
          </p:cNvPr>
          <p:cNvSpPr>
            <a:spLocks noGrp="1"/>
          </p:cNvSpPr>
          <p:nvPr/>
        </p:nvSpPr>
        <p:spPr>
          <a:xfrm>
            <a:off x="419100" y="1152525"/>
            <a:ext cx="1343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0000"/>
              </a:lnSpc>
              <a:buNone/>
              <a:defRPr sz="127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7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The same rule can have different effects across market conditions and household groups.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3CB5B5FE-F890-4084-B0B7-334F90ECF5A3}"/>
              </a:ext>
            </a:extLst>
          </p:cNvPr>
          <p:cNvSpPr>
            <a:spLocks noGrp="1"/>
          </p:cNvSpPr>
          <p:nvPr/>
        </p:nvSpPr>
        <p:spPr>
          <a:xfrm>
            <a:off x="419100" y="7848600"/>
            <a:ext cx="13792200" cy="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969EBED-98EB-466F-9E08-0B33799AF100}"/>
              </a:ext>
            </a:extLst>
          </p:cNvPr>
          <p:cNvSpPr>
            <a:spLocks noGrp="1"/>
          </p:cNvSpPr>
          <p:nvPr/>
        </p:nvSpPr>
        <p:spPr>
          <a:xfrm>
            <a:off x="419100" y="7962900"/>
            <a:ext cx="619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pPr>
            <a:r>
              <a: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rPr>
              <a:t>SweetHome | Google DeepMind AI Hackathon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718B1E2-F68D-4692-9BD7-0A26D20FD0FC}"/>
              </a:ext>
            </a:extLst>
          </p:cNvPr>
          <p:cNvSpPr>
            <a:spLocks noGrp="1"/>
          </p:cNvSpPr>
          <p:nvPr/>
        </p:nvSpPr>
        <p:spPr>
          <a:xfrm>
            <a:off x="13830300" y="796290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r">
              <a:lnSpc>
                <a:spcPct val="108000"/>
              </a:lnSpc>
              <a:buNone/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pPr>
            <a:r>
              <a: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rPr>
              <a:t>08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08947C46-85CB-4962-BB1D-EF4B1B77CDD2}"/>
              </a:ext>
            </a:extLst>
          </p:cNvPr>
          <p:cNvSpPr>
            <a:spLocks noGrp="1"/>
          </p:cNvSpPr>
          <p:nvPr/>
        </p:nvSpPr>
        <p:spPr>
          <a:xfrm>
            <a:off x="7372350" y="1847850"/>
            <a:ext cx="0" cy="518160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295C7A96-084D-4225-AEB4-F87FD874305F}"/>
              </a:ext>
            </a:extLst>
          </p:cNvPr>
          <p:cNvSpPr>
            <a:spLocks noGrp="1"/>
          </p:cNvSpPr>
          <p:nvPr/>
        </p:nvSpPr>
        <p:spPr>
          <a:xfrm>
            <a:off x="819150" y="1905000"/>
            <a:ext cx="2171700" cy="304800"/>
          </a:xfrm>
          <a:prstGeom prst="roundRect">
            <a:avLst>
              <a:gd name="adj" fmla="val 37500"/>
            </a:avLst>
          </a:prstGeom>
          <a:solidFill>
            <a:srgbClr val="EDF5FF"/>
          </a:solidFill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975" b="1">
                <a:solidFill>
                  <a:srgbClr val="002D9C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ctr">
              <a:defRPr sz="975" b="1">
                <a:solidFill>
                  <a:srgbClr val="002D9C"/>
                </a:solidFill>
                <a:latin typeface="IBM Plex Sans"/>
                <a:ea typeface="IBM Plex Sans KR"/>
                <a:cs typeface="IBM Plex Sans"/>
              </a:defRPr>
            </a:pPr>
            <a:r>
              <a:rPr sz="975" b="1">
                <a:solidFill>
                  <a:srgbClr val="002D9C"/>
                </a:solidFill>
                <a:latin typeface="IBM Plex Sans"/>
                <a:ea typeface="IBM Plex Sans KR"/>
                <a:cs typeface="IBM Plex Sans"/>
              </a:rPr>
              <a:t>Monetary policy and timing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3982D70-9CE9-45A9-AC19-1CD2B1F5B142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5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5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25 bp policy rate cut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757A025-5035-404A-96A6-2A5C523371BE}"/>
              </a:ext>
            </a:extLst>
          </p:cNvPr>
          <p:cNvSpPr>
            <a:spLocks noGrp="1"/>
          </p:cNvSpPr>
          <p:nvPr/>
        </p:nvSpPr>
        <p:spPr>
          <a:xfrm>
            <a:off x="857250" y="31051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05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05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Seoul apartment prices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BC7EFAC-7210-495C-B869-BFDD326B0119}"/>
              </a:ext>
            </a:extLst>
          </p:cNvPr>
          <p:cNvSpPr>
            <a:spLocks noGrp="1"/>
          </p:cNvSpPr>
          <p:nvPr/>
        </p:nvSpPr>
        <p:spPr>
          <a:xfrm>
            <a:off x="2952750" y="2952750"/>
            <a:ext cx="1619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2850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pPr>
            <a:r>
              <a:rPr sz="2850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rPr>
              <a:t>+1.4%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76D8BEA-3826-4CE9-860A-CD2D694F8695}"/>
              </a:ext>
            </a:extLst>
          </p:cNvPr>
          <p:cNvSpPr>
            <a:spLocks noGrp="1"/>
          </p:cNvSpPr>
          <p:nvPr/>
        </p:nvSpPr>
        <p:spPr>
          <a:xfrm>
            <a:off x="857250" y="37147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05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05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Mortgage lending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D489F5B-FA83-483B-9B83-6C453119067C}"/>
              </a:ext>
            </a:extLst>
          </p:cNvPr>
          <p:cNvSpPr>
            <a:spLocks noGrp="1"/>
          </p:cNvSpPr>
          <p:nvPr/>
        </p:nvSpPr>
        <p:spPr>
          <a:xfrm>
            <a:off x="2952750" y="3562350"/>
            <a:ext cx="1619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2850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pPr>
            <a:r>
              <a:rPr sz="2850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rPr>
              <a:t>+1.2%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786A04D-F253-4B27-831B-62E3DD9A49D7}"/>
              </a:ext>
            </a:extLst>
          </p:cNvPr>
          <p:cNvSpPr>
            <a:spLocks noGrp="1"/>
          </p:cNvSpPr>
          <p:nvPr/>
        </p:nvSpPr>
        <p:spPr>
          <a:xfrm>
            <a:off x="4743450" y="32766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050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pPr>
            <a:r>
              <a:rPr sz="1050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rPr>
              <a:t>Average response over 1 year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DC3879F-2923-44D4-A64A-AA4483741A72}"/>
              </a:ext>
            </a:extLst>
          </p:cNvPr>
          <p:cNvSpPr>
            <a:spLocks noGrp="1"/>
          </p:cNvSpPr>
          <p:nvPr/>
        </p:nvSpPr>
        <p:spPr>
          <a:xfrm>
            <a:off x="838200" y="4686300"/>
            <a:ext cx="2343150" cy="1200150"/>
          </a:xfrm>
          <a:prstGeom prst="rect">
            <a:avLst/>
          </a:prstGeom>
          <a:solidFill>
            <a:srgbClr val="E5F6F5"/>
          </a:solidFill>
          <a:ln w="9525">
            <a:solidFill>
              <a:srgbClr val="007D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BDE8AE6-BAAC-412E-B6E8-63A8E4D70949}"/>
              </a:ext>
            </a:extLst>
          </p:cNvPr>
          <p:cNvSpPr>
            <a:spLocks noGrp="1"/>
          </p:cNvSpPr>
          <p:nvPr/>
        </p:nvSpPr>
        <p:spPr>
          <a:xfrm>
            <a:off x="1009650" y="48387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350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defRPr>
            </a:pPr>
            <a:r>
              <a:rPr sz="1350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rPr>
              <a:t>Early tightening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F54B26F-BB61-4584-9224-6E4BE0708283}"/>
              </a:ext>
            </a:extLst>
          </p:cNvPr>
          <p:cNvSpPr>
            <a:spLocks noGrp="1"/>
          </p:cNvSpPr>
          <p:nvPr/>
        </p:nvSpPr>
        <p:spPr>
          <a:xfrm>
            <a:off x="1009650" y="5181600"/>
            <a:ext cx="2000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14000"/>
              </a:lnSpc>
              <a:buNone/>
              <a:defRPr sz="105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05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Before the rate cut</a:t>
            </a:r>
          </a:p>
          <a:p>
            <a:pPr algn="l">
              <a:lnSpc>
                <a:spcPct val="114000"/>
              </a:lnSpc>
              <a:buNone/>
              <a:defRPr sz="105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05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Policy index raised by 0.25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3CF24F9-B7A9-4A8C-A764-8291811DE40B}"/>
              </a:ext>
            </a:extLst>
          </p:cNvPr>
          <p:cNvSpPr>
            <a:spLocks noGrp="1"/>
          </p:cNvSpPr>
          <p:nvPr/>
        </p:nvSpPr>
        <p:spPr>
          <a:xfrm>
            <a:off x="4305300" y="4686300"/>
            <a:ext cx="2343150" cy="1200150"/>
          </a:xfrm>
          <a:prstGeom prst="rect">
            <a:avLst/>
          </a:prstGeom>
          <a:solidFill>
            <a:srgbClr val="F4F4F4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4EEA0CF-D98A-443C-A65B-9174B25A97E5}"/>
              </a:ext>
            </a:extLst>
          </p:cNvPr>
          <p:cNvSpPr>
            <a:spLocks noGrp="1"/>
          </p:cNvSpPr>
          <p:nvPr/>
        </p:nvSpPr>
        <p:spPr>
          <a:xfrm>
            <a:off x="4476750" y="48387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350" b="1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350" b="1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4-6 months later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5C670A6-2407-470F-ABA1-4CD5F897578F}"/>
              </a:ext>
            </a:extLst>
          </p:cNvPr>
          <p:cNvSpPr>
            <a:spLocks noGrp="1"/>
          </p:cNvSpPr>
          <p:nvPr/>
        </p:nvSpPr>
        <p:spPr>
          <a:xfrm>
            <a:off x="4476750" y="5181600"/>
            <a:ext cx="2000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14000"/>
              </a:lnSpc>
              <a:buNone/>
              <a:defRPr sz="105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05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Policy tightening</a:t>
            </a:r>
          </a:p>
          <a:p>
            <a:pPr algn="l">
              <a:lnSpc>
                <a:spcPct val="114000"/>
              </a:lnSpc>
              <a:buNone/>
              <a:defRPr sz="105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05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of the same size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55C071E-EED6-4977-AD40-9D003F12F16E}"/>
              </a:ext>
            </a:extLst>
          </p:cNvPr>
          <p:cNvSpPr>
            <a:spLocks noGrp="1"/>
          </p:cNvSpPr>
          <p:nvPr/>
        </p:nvSpPr>
        <p:spPr>
          <a:xfrm>
            <a:off x="857250" y="615315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05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05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Loan growth pressure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0259B6E-E7E3-42B0-8F60-179BD2D48B1C}"/>
              </a:ext>
            </a:extLst>
          </p:cNvPr>
          <p:cNvSpPr>
            <a:spLocks noGrp="1"/>
          </p:cNvSpPr>
          <p:nvPr/>
        </p:nvSpPr>
        <p:spPr>
          <a:xfrm>
            <a:off x="2286000" y="6019800"/>
            <a:ext cx="114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2025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defRPr>
            </a:pPr>
            <a:r>
              <a:rPr sz="2025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rPr>
              <a:t>-0.4%p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240AC75-A39B-4FED-AE3F-41A0D5E5177D}"/>
              </a:ext>
            </a:extLst>
          </p:cNvPr>
          <p:cNvSpPr>
            <a:spLocks noGrp="1"/>
          </p:cNvSpPr>
          <p:nvPr/>
        </p:nvSpPr>
        <p:spPr>
          <a:xfrm>
            <a:off x="5162550" y="6019800"/>
            <a:ext cx="142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2025" b="1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2025" b="1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~ -0.2 pp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E12C852-059A-44E3-87AA-546659BE3934}"/>
              </a:ext>
            </a:extLst>
          </p:cNvPr>
          <p:cNvSpPr>
            <a:spLocks noGrp="1"/>
          </p:cNvSpPr>
          <p:nvPr/>
        </p:nvSpPr>
        <p:spPr>
          <a:xfrm>
            <a:off x="838200" y="6724650"/>
            <a:ext cx="581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3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93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pPr>
            <a:r>
              <a:rPr sz="93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rPr>
              <a:t>Results include sign restrictions in the VAR model</a:t>
            </a: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F93EBC72-3B5A-4243-95C4-3D3FD066CA5A}"/>
              </a:ext>
            </a:extLst>
          </p:cNvPr>
          <p:cNvSpPr>
            <a:spLocks noGrp="1"/>
          </p:cNvSpPr>
          <p:nvPr/>
        </p:nvSpPr>
        <p:spPr>
          <a:xfrm>
            <a:off x="7886700" y="1905000"/>
            <a:ext cx="1790700" cy="304800"/>
          </a:xfrm>
          <a:prstGeom prst="roundRect">
            <a:avLst>
              <a:gd name="adj" fmla="val 37500"/>
            </a:avLst>
          </a:prstGeom>
          <a:solidFill>
            <a:srgbClr val="E5F6F5"/>
          </a:solidFill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975" b="1">
                <a:solidFill>
                  <a:srgbClr val="007D79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ctr">
              <a:defRPr sz="975" b="1">
                <a:solidFill>
                  <a:srgbClr val="007D79"/>
                </a:solidFill>
                <a:latin typeface="IBM Plex Sans"/>
                <a:ea typeface="IBM Plex Sans KR"/>
                <a:cs typeface="IBM Plex Sans"/>
              </a:defRPr>
            </a:pPr>
            <a:r>
              <a:rPr sz="975" b="1">
                <a:solidFill>
                  <a:srgbClr val="007D79"/>
                </a:solidFill>
                <a:latin typeface="IBM Plex Sans"/>
                <a:ea typeface="IBM Plex Sans KR"/>
                <a:cs typeface="IBM Plex Sans"/>
              </a:rPr>
              <a:t>Household exposure</a:t>
            </a: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009F437D-EEF9-40C3-8112-47989F889CF1}"/>
              </a:ext>
            </a:extLst>
          </p:cNvPr>
          <p:cNvSpPr>
            <a:spLocks noGrp="1"/>
          </p:cNvSpPr>
          <p:nvPr/>
        </p:nvSpPr>
        <p:spPr>
          <a:xfrm>
            <a:off x="7981950" y="2667000"/>
            <a:ext cx="285750" cy="285750"/>
          </a:xfrm>
          <a:prstGeom prst="ellipse">
            <a:avLst/>
          </a:prstGeom>
          <a:solidFill>
            <a:srgbClr val="007D79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8B1EC00-85F4-458E-81EC-5BD2FECD1A57}"/>
              </a:ext>
            </a:extLst>
          </p:cNvPr>
          <p:cNvSpPr>
            <a:spLocks noGrp="1"/>
          </p:cNvSpPr>
          <p:nvPr/>
        </p:nvSpPr>
        <p:spPr>
          <a:xfrm>
            <a:off x="8458200" y="26098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3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3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Newlyweds without a home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8C8405E-CDED-49FE-B419-57202561B72E}"/>
              </a:ext>
            </a:extLst>
          </p:cNvPr>
          <p:cNvSpPr>
            <a:spLocks noGrp="1"/>
          </p:cNvSpPr>
          <p:nvPr/>
        </p:nvSpPr>
        <p:spPr>
          <a:xfrm>
            <a:off x="8458200" y="29718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88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12000"/>
              </a:lnSpc>
              <a:buNone/>
              <a:defRPr sz="1088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088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Cash and policy loan eligibility change where they can afford to buy.</a:t>
            </a:r>
          </a:p>
        </p:txBody>
      </p:sp>
      <p:sp>
        <p:nvSpPr>
          <p:cNvPr id="30" name="직선 연결선[R] 29">
            <a:extLst>
              <a:ext uri="{FF2B5EF4-FFF2-40B4-BE49-F238E27FC236}">
                <a16:creationId xmlns:a16="http://schemas.microsoft.com/office/drawing/2014/main" id="{0668E00C-3E57-449C-AF82-37ABAD1AB3ED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5448300" cy="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B06AF454-A75F-49EE-B35F-BEF7A965493E}"/>
              </a:ext>
            </a:extLst>
          </p:cNvPr>
          <p:cNvSpPr>
            <a:spLocks noGrp="1"/>
          </p:cNvSpPr>
          <p:nvPr/>
        </p:nvSpPr>
        <p:spPr>
          <a:xfrm>
            <a:off x="7981950" y="3695700"/>
            <a:ext cx="285750" cy="285750"/>
          </a:xfrm>
          <a:prstGeom prst="ellipse">
            <a:avLst/>
          </a:prstGeom>
          <a:solidFill>
            <a:srgbClr val="0F62FE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622E57A-33EB-433C-8BD0-85DAD4647DEF}"/>
              </a:ext>
            </a:extLst>
          </p:cNvPr>
          <p:cNvSpPr>
            <a:spLocks noGrp="1"/>
          </p:cNvSpPr>
          <p:nvPr/>
        </p:nvSpPr>
        <p:spPr>
          <a:xfrm>
            <a:off x="8458200" y="36385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3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3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Buyers with high DSR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50D811C-7D78-4CEC-820D-39296DA65EE6}"/>
              </a:ext>
            </a:extLst>
          </p:cNvPr>
          <p:cNvSpPr>
            <a:spLocks noGrp="1"/>
          </p:cNvSpPr>
          <p:nvPr/>
        </p:nvSpPr>
        <p:spPr>
          <a:xfrm>
            <a:off x="8458200" y="40005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88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12000"/>
              </a:lnSpc>
              <a:buNone/>
              <a:defRPr sz="1088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088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The same rate change can mean larger repayment burdens and spending cuts.</a:t>
            </a:r>
          </a:p>
        </p:txBody>
      </p:sp>
      <p:sp>
        <p:nvSpPr>
          <p:cNvPr id="34" name="직선 연결선[R] 33">
            <a:extLst>
              <a:ext uri="{FF2B5EF4-FFF2-40B4-BE49-F238E27FC236}">
                <a16:creationId xmlns:a16="http://schemas.microsoft.com/office/drawing/2014/main" id="{736B26FA-AA7E-4300-9F02-EF16D3BAA206}"/>
              </a:ext>
            </a:extLst>
          </p:cNvPr>
          <p:cNvSpPr>
            <a:spLocks noGrp="1"/>
          </p:cNvSpPr>
          <p:nvPr/>
        </p:nvSpPr>
        <p:spPr>
          <a:xfrm>
            <a:off x="7981950" y="4533900"/>
            <a:ext cx="5448300" cy="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4CBCA136-21D7-43A4-B469-6369D9DC7D28}"/>
              </a:ext>
            </a:extLst>
          </p:cNvPr>
          <p:cNvSpPr>
            <a:spLocks noGrp="1"/>
          </p:cNvSpPr>
          <p:nvPr/>
        </p:nvSpPr>
        <p:spPr>
          <a:xfrm>
            <a:off x="7981950" y="4724400"/>
            <a:ext cx="285750" cy="285750"/>
          </a:xfrm>
          <a:prstGeom prst="ellipse">
            <a:avLst/>
          </a:prstGeom>
          <a:solidFill>
            <a:srgbClr val="007D79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75F479C-E065-4E4C-A069-E250B1B2035B}"/>
              </a:ext>
            </a:extLst>
          </p:cNvPr>
          <p:cNvSpPr>
            <a:spLocks noGrp="1"/>
          </p:cNvSpPr>
          <p:nvPr/>
        </p:nvSpPr>
        <p:spPr>
          <a:xfrm>
            <a:off x="8458200" y="46672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3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3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Owners moving home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059A725-2C1B-4CEB-98B3-D10F11E972A0}"/>
              </a:ext>
            </a:extLst>
          </p:cNvPr>
          <p:cNvSpPr>
            <a:spLocks noGrp="1"/>
          </p:cNvSpPr>
          <p:nvPr/>
        </p:nvSpPr>
        <p:spPr>
          <a:xfrm>
            <a:off x="8458200" y="50292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88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12000"/>
              </a:lnSpc>
              <a:buNone/>
              <a:defRPr sz="1088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088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Sale timing and extra loan conditions can delay a move.</a:t>
            </a:r>
          </a:p>
        </p:txBody>
      </p:sp>
      <p:sp>
        <p:nvSpPr>
          <p:cNvPr id="38" name="직선 연결선[R] 37">
            <a:extLst>
              <a:ext uri="{FF2B5EF4-FFF2-40B4-BE49-F238E27FC236}">
                <a16:creationId xmlns:a16="http://schemas.microsoft.com/office/drawing/2014/main" id="{4B971213-6B37-4C3F-A4D3-43BD4E62FD2E}"/>
              </a:ext>
            </a:extLst>
          </p:cNvPr>
          <p:cNvSpPr>
            <a:spLocks noGrp="1"/>
          </p:cNvSpPr>
          <p:nvPr/>
        </p:nvSpPr>
        <p:spPr>
          <a:xfrm>
            <a:off x="7981950" y="5562600"/>
            <a:ext cx="5448300" cy="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DF30A32F-50CF-4433-9BEB-BD724FB91723}"/>
              </a:ext>
            </a:extLst>
          </p:cNvPr>
          <p:cNvSpPr>
            <a:spLocks noGrp="1"/>
          </p:cNvSpPr>
          <p:nvPr/>
        </p:nvSpPr>
        <p:spPr>
          <a:xfrm>
            <a:off x="7981950" y="5753100"/>
            <a:ext cx="285750" cy="285750"/>
          </a:xfrm>
          <a:prstGeom prst="ellipse">
            <a:avLst/>
          </a:prstGeom>
          <a:solidFill>
            <a:srgbClr val="007D79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8B8EE24-EFEB-479E-9AD1-C365DC99E54C}"/>
              </a:ext>
            </a:extLst>
          </p:cNvPr>
          <p:cNvSpPr>
            <a:spLocks noGrp="1"/>
          </p:cNvSpPr>
          <p:nvPr/>
        </p:nvSpPr>
        <p:spPr>
          <a:xfrm>
            <a:off x="8458200" y="56959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3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3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Owners and landlords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8B1A7EE-5496-4314-BCE2-565CB50001E8}"/>
              </a:ext>
            </a:extLst>
          </p:cNvPr>
          <p:cNvSpPr>
            <a:spLocks noGrp="1"/>
          </p:cNvSpPr>
          <p:nvPr/>
        </p:nvSpPr>
        <p:spPr>
          <a:xfrm>
            <a:off x="8458200" y="60579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88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12000"/>
              </a:lnSpc>
              <a:buNone/>
              <a:defRPr sz="1088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088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Loan renewals, taxes and rental terms interact.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D215ABE-FBAB-43A3-BD1A-0E31C7A6E533}"/>
              </a:ext>
            </a:extLst>
          </p:cNvPr>
          <p:cNvSpPr>
            <a:spLocks noGrp="1"/>
          </p:cNvSpPr>
          <p:nvPr/>
        </p:nvSpPr>
        <p:spPr>
          <a:xfrm>
            <a:off x="7905750" y="6705600"/>
            <a:ext cx="5505450" cy="514350"/>
          </a:xfrm>
          <a:prstGeom prst="rect">
            <a:avLst/>
          </a:prstGeom>
          <a:solidFill>
            <a:srgbClr val="EDF5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8841933-71A5-4E68-ACD5-D6640CD3EB93}"/>
              </a:ext>
            </a:extLst>
          </p:cNvPr>
          <p:cNvSpPr>
            <a:spLocks noGrp="1"/>
          </p:cNvSpPr>
          <p:nvPr/>
        </p:nvSpPr>
        <p:spPr>
          <a:xfrm>
            <a:off x="8096250" y="6858000"/>
            <a:ext cx="5124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1" i="0">
                <a:solidFill>
                  <a:srgbClr val="002D9C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125" b="1" i="0">
                <a:solidFill>
                  <a:srgbClr val="002D9C"/>
                </a:solidFill>
                <a:latin typeface="IBM Plex Sans"/>
                <a:ea typeface="IBM Plex Sans KR"/>
                <a:cs typeface="IBM Plex Sans"/>
              </a:defRPr>
            </a:pPr>
            <a:r>
              <a:rPr sz="1125" b="1" i="0">
                <a:solidFill>
                  <a:srgbClr val="002D9C"/>
                </a:solidFill>
                <a:latin typeface="IBM Plex Sans"/>
                <a:ea typeface="IBM Plex Sans KR"/>
                <a:cs typeface="IBM Plex Sans"/>
              </a:rPr>
              <a:t>A 1 pp DSR rise slowed annual consumption by 0.37% on average, with large differences across groups.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9500568-4970-42D9-8AFD-0B4704C8B120}"/>
              </a:ext>
            </a:extLst>
          </p:cNvPr>
          <p:cNvSpPr>
            <a:spLocks noGrp="1"/>
          </p:cNvSpPr>
          <p:nvPr/>
        </p:nvSpPr>
        <p:spPr>
          <a:xfrm>
            <a:off x="419100" y="7543800"/>
            <a:ext cx="13792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0000"/>
              </a:lnSpc>
              <a:buNone/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pPr>
            <a:r>
              <a: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rPr>
              <a:t>Sources: BOK Issue Notes 2025-26 and 2022-45. Figures depend on each study's sample and model assumptions.</a:t>
            </a:r>
          </a:p>
        </p:txBody>
      </p:sp>
    </p:spTree>
    <p:extLst>
      <p:ext uri="{BB962C8B-B14F-4D97-AF65-F5344CB8AC3E}">
        <p14:creationId xmlns:p14="http://schemas.microsoft.com/office/powerpoint/2010/main" val="1268892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>
            <a:extLst>
              <a:ext uri="{FF2B5EF4-FFF2-40B4-BE49-F238E27FC236}">
                <a16:creationId xmlns:a16="http://schemas.microsoft.com/office/drawing/2014/main" id="{E8C77C92-761B-48CD-AA23-D98DD6C1BDCD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9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pPr>
            <a:r>
              <a:rPr sz="9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rPr>
              <a:t>04  DECISION GAP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8E942BD-EC9A-42B0-95F1-35EF96B05E88}"/>
              </a:ext>
            </a:extLst>
          </p:cNvPr>
          <p:cNvSpPr>
            <a:spLocks noGrp="1"/>
          </p:cNvSpPr>
          <p:nvPr/>
        </p:nvSpPr>
        <p:spPr>
          <a:xfrm>
            <a:off x="495300" y="581025"/>
            <a:ext cx="13449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0000"/>
              </a:lnSpc>
              <a:buNone/>
              <a:defRPr sz="27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27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Key questions for policy impact assessment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304BE65-82D3-42A2-ADAC-902F71B44DD7}"/>
              </a:ext>
            </a:extLst>
          </p:cNvPr>
          <p:cNvSpPr>
            <a:spLocks noGrp="1"/>
          </p:cNvSpPr>
          <p:nvPr/>
        </p:nvSpPr>
        <p:spPr>
          <a:xfrm>
            <a:off x="419100" y="1152525"/>
            <a:ext cx="1343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0000"/>
              </a:lnSpc>
              <a:buNone/>
              <a:defRPr sz="127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7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Policymakers are the primary users. Individuals can explore changes in their buying power and options.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4ED0B6B7-263C-4871-93B4-1328C92C2D05}"/>
              </a:ext>
            </a:extLst>
          </p:cNvPr>
          <p:cNvSpPr>
            <a:spLocks noGrp="1"/>
          </p:cNvSpPr>
          <p:nvPr/>
        </p:nvSpPr>
        <p:spPr>
          <a:xfrm>
            <a:off x="419100" y="7848600"/>
            <a:ext cx="13792200" cy="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44EEC60-35FB-4201-AF25-ED3027B869AE}"/>
              </a:ext>
            </a:extLst>
          </p:cNvPr>
          <p:cNvSpPr>
            <a:spLocks noGrp="1"/>
          </p:cNvSpPr>
          <p:nvPr/>
        </p:nvSpPr>
        <p:spPr>
          <a:xfrm>
            <a:off x="419100" y="7962900"/>
            <a:ext cx="619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pPr>
            <a:r>
              <a: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rPr>
              <a:t>SweetHome | Google DeepMind AI Hackathon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4573EAE-C818-43EB-BAE1-800FAAD5701B}"/>
              </a:ext>
            </a:extLst>
          </p:cNvPr>
          <p:cNvSpPr>
            <a:spLocks noGrp="1"/>
          </p:cNvSpPr>
          <p:nvPr/>
        </p:nvSpPr>
        <p:spPr>
          <a:xfrm>
            <a:off x="13830300" y="796290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r">
              <a:lnSpc>
                <a:spcPct val="108000"/>
              </a:lnSpc>
              <a:buNone/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pPr>
            <a:r>
              <a: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rPr>
              <a:t>09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4E8725E-6175-479F-A733-61C4E3C5B772}"/>
              </a:ext>
            </a:extLst>
          </p:cNvPr>
          <p:cNvSpPr>
            <a:spLocks noGrp="1"/>
          </p:cNvSpPr>
          <p:nvPr/>
        </p:nvSpPr>
        <p:spPr>
          <a:xfrm>
            <a:off x="609600" y="1847850"/>
            <a:ext cx="4019550" cy="5105400"/>
          </a:xfrm>
          <a:prstGeom prst="rect">
            <a:avLst/>
          </a:prstGeom>
          <a:solidFill>
            <a:srgbClr val="001D6C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7F72E1F-ED42-4D4E-A46C-BE52BBEC1E23}"/>
              </a:ext>
            </a:extLst>
          </p:cNvPr>
          <p:cNvSpPr>
            <a:spLocks noGrp="1"/>
          </p:cNvSpPr>
          <p:nvPr/>
        </p:nvSpPr>
        <p:spPr>
          <a:xfrm>
            <a:off x="914400" y="21907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 i="0">
                <a:solidFill>
                  <a:srgbClr val="D0E2F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050" b="1" i="0">
                <a:solidFill>
                  <a:srgbClr val="D0E2FF"/>
                </a:solidFill>
                <a:latin typeface="IBM Plex Sans"/>
                <a:ea typeface="IBM Plex Sans KR"/>
                <a:cs typeface="IBM Plex Sans"/>
              </a:defRPr>
            </a:pPr>
            <a:r>
              <a:rPr sz="1050" b="1" i="0">
                <a:solidFill>
                  <a:srgbClr val="D0E2FF"/>
                </a:solidFill>
                <a:latin typeface="IBM Plex Sans"/>
                <a:ea typeface="IBM Plex Sans KR"/>
                <a:cs typeface="IBM Plex Sans"/>
              </a:rPr>
              <a:t>Primary users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032F8DD-6F67-4C94-90BE-F614CB54861E}"/>
              </a:ext>
            </a:extLst>
          </p:cNvPr>
          <p:cNvSpPr>
            <a:spLocks noGrp="1"/>
          </p:cNvSpPr>
          <p:nvPr/>
        </p:nvSpPr>
        <p:spPr>
          <a:xfrm>
            <a:off x="914400" y="2667000"/>
            <a:ext cx="304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 i="0">
                <a:solidFill>
                  <a:srgbClr val="FFFFF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2850" b="1" i="0">
                <a:solidFill>
                  <a:srgbClr val="FFFFFF"/>
                </a:solidFill>
                <a:latin typeface="IBM Plex Sans"/>
                <a:ea typeface="IBM Plex Sans KR"/>
                <a:cs typeface="IBM Plex Sans"/>
              </a:defRPr>
            </a:pPr>
            <a:r>
              <a:rPr sz="2850" b="1" i="0">
                <a:solidFill>
                  <a:srgbClr val="FFFFFF"/>
                </a:solidFill>
                <a:latin typeface="IBM Plex Sans"/>
                <a:ea typeface="IBM Plex Sans KR"/>
                <a:cs typeface="IBM Plex Sans"/>
              </a:rPr>
              <a:t>Policymakers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50152C8-52B8-4AD0-BE11-1F11FBBD0E77}"/>
              </a:ext>
            </a:extLst>
          </p:cNvPr>
          <p:cNvSpPr>
            <a:spLocks noGrp="1"/>
          </p:cNvSpPr>
          <p:nvPr/>
        </p:nvSpPr>
        <p:spPr>
          <a:xfrm>
            <a:off x="914400" y="3409950"/>
            <a:ext cx="31051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 i="0">
                <a:solidFill>
                  <a:srgbClr val="FFFFF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18000"/>
              </a:lnSpc>
              <a:buNone/>
              <a:defRPr sz="1500" b="0" i="0">
                <a:solidFill>
                  <a:srgbClr val="FFFFFF"/>
                </a:solidFill>
                <a:latin typeface="IBM Plex Sans"/>
                <a:ea typeface="IBM Plex Sans KR"/>
                <a:cs typeface="IBM Plex Sans"/>
              </a:defRPr>
            </a:pPr>
            <a:r>
              <a:rPr sz="1500" b="0" i="0">
                <a:solidFill>
                  <a:srgbClr val="FFFFFF"/>
                </a:solidFill>
                <a:latin typeface="IBM Plex Sans"/>
                <a:ea typeface="IBM Plex Sans KR"/>
                <a:cs typeface="IBM Plex Sans"/>
              </a:rPr>
              <a:t>Compare scope and exemptions.</a:t>
            </a:r>
          </a:p>
          <a:p>
            <a:pPr algn="l">
              <a:lnSpc>
                <a:spcPct val="118000"/>
              </a:lnSpc>
              <a:buNone/>
              <a:defRPr sz="1500" b="0" i="0">
                <a:solidFill>
                  <a:srgbClr val="FFFFFF"/>
                </a:solidFill>
                <a:latin typeface="IBM Plex Sans"/>
                <a:ea typeface="IBM Plex Sans KR"/>
                <a:cs typeface="IBM Plex Sans"/>
              </a:defRPr>
            </a:pPr>
            <a:r>
              <a:rPr sz="1500" b="0" i="0">
                <a:solidFill>
                  <a:srgbClr val="FFFFFF"/>
                </a:solidFill>
                <a:latin typeface="IBM Plex Sans"/>
                <a:ea typeface="IBM Plex Sans KR"/>
                <a:cs typeface="IBM Plex Sans"/>
              </a:rPr>
              <a:t>Review side effects and safeguards</a:t>
            </a:r>
          </a:p>
          <a:p>
            <a:pPr algn="l">
              <a:lnSpc>
                <a:spcPct val="118000"/>
              </a:lnSpc>
              <a:buNone/>
              <a:defRPr sz="1500" b="0" i="0">
                <a:solidFill>
                  <a:srgbClr val="FFFFFF"/>
                </a:solidFill>
                <a:latin typeface="IBM Plex Sans"/>
                <a:ea typeface="IBM Plex Sans KR"/>
                <a:cs typeface="IBM Plex Sans"/>
              </a:defRPr>
            </a:pPr>
            <a:r>
              <a:rPr sz="1500" b="0" i="0">
                <a:solidFill>
                  <a:srgbClr val="FFFFFF"/>
                </a:solidFill>
                <a:latin typeface="IBM Plex Sans"/>
                <a:ea typeface="IBM Plex Sans KR"/>
                <a:cs typeface="IBM Plex Sans"/>
              </a:rPr>
              <a:t>before implementation.</a:t>
            </a:r>
          </a:p>
        </p:txBody>
      </p:sp>
      <p:sp>
        <p:nvSpPr>
          <p:cNvPr id="11" name="직선 연결선[R] 10">
            <a:extLst>
              <a:ext uri="{FF2B5EF4-FFF2-40B4-BE49-F238E27FC236}">
                <a16:creationId xmlns:a16="http://schemas.microsoft.com/office/drawing/2014/main" id="{B7E9A9C0-E3E8-4A3F-9261-B5E8C93F3F75}"/>
              </a:ext>
            </a:extLst>
          </p:cNvPr>
          <p:cNvSpPr>
            <a:spLocks noGrp="1"/>
          </p:cNvSpPr>
          <p:nvPr/>
        </p:nvSpPr>
        <p:spPr>
          <a:xfrm>
            <a:off x="914400" y="4895850"/>
            <a:ext cx="3105150" cy="0"/>
          </a:xfrm>
          <a:prstGeom prst="line">
            <a:avLst/>
          </a:prstGeom>
          <a:noFill/>
          <a:ln w="1905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01F6B60-A5AE-4CC3-B795-A54C1DD8DD51}"/>
              </a:ext>
            </a:extLst>
          </p:cNvPr>
          <p:cNvSpPr>
            <a:spLocks noGrp="1"/>
          </p:cNvSpPr>
          <p:nvPr/>
        </p:nvSpPr>
        <p:spPr>
          <a:xfrm>
            <a:off x="914400" y="52197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 i="0">
                <a:solidFill>
                  <a:srgbClr val="D0E2F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050" b="1" i="0">
                <a:solidFill>
                  <a:srgbClr val="D0E2FF"/>
                </a:solidFill>
                <a:latin typeface="IBM Plex Sans"/>
                <a:ea typeface="IBM Plex Sans KR"/>
                <a:cs typeface="IBM Plex Sans"/>
              </a:defRPr>
            </a:pPr>
            <a:r>
              <a:rPr sz="1050" b="1" i="0">
                <a:solidFill>
                  <a:srgbClr val="D0E2FF"/>
                </a:solidFill>
                <a:latin typeface="IBM Plex Sans"/>
                <a:ea typeface="IBM Plex Sans KR"/>
                <a:cs typeface="IBM Plex Sans"/>
              </a:rPr>
              <a:t>Secondary users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ED6C146-8F62-4057-BAE0-8F7CCB4445EA}"/>
              </a:ext>
            </a:extLst>
          </p:cNvPr>
          <p:cNvSpPr>
            <a:spLocks noGrp="1"/>
          </p:cNvSpPr>
          <p:nvPr/>
        </p:nvSpPr>
        <p:spPr>
          <a:xfrm>
            <a:off x="914400" y="5581650"/>
            <a:ext cx="1524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 i="0">
                <a:solidFill>
                  <a:srgbClr val="FFFFF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2100" b="1" i="0">
                <a:solidFill>
                  <a:srgbClr val="FFFFFF"/>
                </a:solidFill>
                <a:latin typeface="IBM Plex Sans"/>
                <a:ea typeface="IBM Plex Sans KR"/>
                <a:cs typeface="IBM Plex Sans"/>
              </a:defRPr>
            </a:pPr>
            <a:r>
              <a:rPr sz="2100" b="1" i="0">
                <a:solidFill>
                  <a:srgbClr val="FFFFFF"/>
                </a:solidFill>
                <a:latin typeface="IBM Plex Sans"/>
                <a:ea typeface="IBM Plex Sans KR"/>
                <a:cs typeface="IBM Plex Sans"/>
              </a:rPr>
              <a:t>Individuals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B8396C0-6FC1-4EE6-ADCD-56C0FF479C0E}"/>
              </a:ext>
            </a:extLst>
          </p:cNvPr>
          <p:cNvSpPr>
            <a:spLocks noGrp="1"/>
          </p:cNvSpPr>
          <p:nvPr/>
        </p:nvSpPr>
        <p:spPr>
          <a:xfrm>
            <a:off x="914400" y="6096000"/>
            <a:ext cx="31051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 i="0">
                <a:solidFill>
                  <a:srgbClr val="FFFFF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12000"/>
              </a:lnSpc>
              <a:buNone/>
              <a:defRPr sz="1275" b="0" i="0">
                <a:solidFill>
                  <a:srgbClr val="FFFFFF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75" b="0" i="0">
                <a:solidFill>
                  <a:srgbClr val="FFFFFF"/>
                </a:solidFill>
                <a:latin typeface="IBM Plex Sans"/>
                <a:ea typeface="IBM Plex Sans KR"/>
                <a:cs typeface="IBM Plex Sans"/>
              </a:rPr>
              <a:t>See how borrowing limits and</a:t>
            </a:r>
          </a:p>
          <a:p>
            <a:pPr algn="l">
              <a:lnSpc>
                <a:spcPct val="112000"/>
              </a:lnSpc>
              <a:buNone/>
              <a:defRPr sz="1275" b="0" i="0">
                <a:solidFill>
                  <a:srgbClr val="FFFFFF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75" b="0" i="0">
                <a:solidFill>
                  <a:srgbClr val="FFFFFF"/>
                </a:solidFill>
                <a:latin typeface="IBM Plex Sans"/>
                <a:ea typeface="IBM Plex Sans KR"/>
                <a:cs typeface="IBM Plex Sans"/>
              </a:rPr>
              <a:t>affordable locations change.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D38BDA8-17C0-4E25-A2AC-9A808F7ED545}"/>
              </a:ext>
            </a:extLst>
          </p:cNvPr>
          <p:cNvSpPr>
            <a:spLocks noGrp="1"/>
          </p:cNvSpPr>
          <p:nvPr/>
        </p:nvSpPr>
        <p:spPr>
          <a:xfrm>
            <a:off x="5105400" y="2038350"/>
            <a:ext cx="3867150" cy="1866900"/>
          </a:xfrm>
          <a:prstGeom prst="rect">
            <a:avLst/>
          </a:prstGeom>
          <a:solidFill>
            <a:srgbClr val="EDF5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A1BA663-36C8-4F07-9514-C54ADCE0EC47}"/>
              </a:ext>
            </a:extLst>
          </p:cNvPr>
          <p:cNvSpPr>
            <a:spLocks noGrp="1"/>
          </p:cNvSpPr>
          <p:nvPr/>
        </p:nvSpPr>
        <p:spPr>
          <a:xfrm>
            <a:off x="5334000" y="22479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12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pPr>
            <a:r>
              <a:rPr sz="112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rPr>
              <a:t>01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9F5028D-88C1-4EFC-9A9B-C364C7FF7CAD}"/>
              </a:ext>
            </a:extLst>
          </p:cNvPr>
          <p:cNvSpPr>
            <a:spLocks noGrp="1"/>
          </p:cNvSpPr>
          <p:nvPr/>
        </p:nvSpPr>
        <p:spPr>
          <a:xfrm>
            <a:off x="5334000" y="2667000"/>
            <a:ext cx="3371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0000"/>
              </a:lnSpc>
              <a:buNone/>
              <a:defRPr sz="16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6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Where should it apply?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A95B294-B6AF-41DE-9D47-7FFA2BF93664}"/>
              </a:ext>
            </a:extLst>
          </p:cNvPr>
          <p:cNvSpPr>
            <a:spLocks noGrp="1"/>
          </p:cNvSpPr>
          <p:nvPr/>
        </p:nvSpPr>
        <p:spPr>
          <a:xfrm>
            <a:off x="5334000" y="3238500"/>
            <a:ext cx="3371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12000"/>
              </a:lnSpc>
              <a:buNone/>
              <a:defRPr sz="112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12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Assess target areas and demand shifts to nearby areas together.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A0B9799-8104-40DC-9D7B-D6D4DD3CDDF8}"/>
              </a:ext>
            </a:extLst>
          </p:cNvPr>
          <p:cNvSpPr>
            <a:spLocks noGrp="1"/>
          </p:cNvSpPr>
          <p:nvPr/>
        </p:nvSpPr>
        <p:spPr>
          <a:xfrm>
            <a:off x="9467850" y="2038350"/>
            <a:ext cx="3867150" cy="1866900"/>
          </a:xfrm>
          <a:prstGeom prst="rect">
            <a:avLst/>
          </a:prstGeom>
          <a:solidFill>
            <a:srgbClr val="E5F6F5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4C954BF-CCDE-48F3-8443-1727A8F72771}"/>
              </a:ext>
            </a:extLst>
          </p:cNvPr>
          <p:cNvSpPr>
            <a:spLocks noGrp="1"/>
          </p:cNvSpPr>
          <p:nvPr/>
        </p:nvSpPr>
        <p:spPr>
          <a:xfrm>
            <a:off x="9696450" y="22479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125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defRPr>
            </a:pPr>
            <a:r>
              <a:rPr sz="1125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rPr>
              <a:t>02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A531FAD-EF20-47CE-8590-1F48D5DF20A5}"/>
              </a:ext>
            </a:extLst>
          </p:cNvPr>
          <p:cNvSpPr>
            <a:spLocks noGrp="1"/>
          </p:cNvSpPr>
          <p:nvPr/>
        </p:nvSpPr>
        <p:spPr>
          <a:xfrm>
            <a:off x="9696450" y="2667000"/>
            <a:ext cx="3371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0000"/>
              </a:lnSpc>
              <a:buNone/>
              <a:defRPr sz="16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6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Who faces the greatest impact?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8FBC1C1-87A3-4A65-AF42-DB7FA8FB7690}"/>
              </a:ext>
            </a:extLst>
          </p:cNvPr>
          <p:cNvSpPr>
            <a:spLocks noGrp="1"/>
          </p:cNvSpPr>
          <p:nvPr/>
        </p:nvSpPr>
        <p:spPr>
          <a:xfrm>
            <a:off x="9696450" y="3238500"/>
            <a:ext cx="3371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12000"/>
              </a:lnSpc>
              <a:buNone/>
              <a:defRPr sz="112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12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Compare exposure by income, debt, home ownership and policy loan eligibility.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DEAEB56-CF3C-4F88-8B9E-DB12CB197D14}"/>
              </a:ext>
            </a:extLst>
          </p:cNvPr>
          <p:cNvSpPr>
            <a:spLocks noGrp="1"/>
          </p:cNvSpPr>
          <p:nvPr/>
        </p:nvSpPr>
        <p:spPr>
          <a:xfrm>
            <a:off x="5105400" y="4381500"/>
            <a:ext cx="3867150" cy="1866900"/>
          </a:xfrm>
          <a:prstGeom prst="rect">
            <a:avLst/>
          </a:prstGeom>
          <a:solidFill>
            <a:srgbClr val="F4F4F4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9E11917-EBC0-42B1-8728-5E50D5ED7B76}"/>
              </a:ext>
            </a:extLst>
          </p:cNvPr>
          <p:cNvSpPr>
            <a:spLocks noGrp="1"/>
          </p:cNvSpPr>
          <p:nvPr/>
        </p:nvSpPr>
        <p:spPr>
          <a:xfrm>
            <a:off x="5334000" y="459105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1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125" b="1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125" b="1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03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073CC04-6D78-4771-B805-9ADBA2166E61}"/>
              </a:ext>
            </a:extLst>
          </p:cNvPr>
          <p:cNvSpPr>
            <a:spLocks noGrp="1"/>
          </p:cNvSpPr>
          <p:nvPr/>
        </p:nvSpPr>
        <p:spPr>
          <a:xfrm>
            <a:off x="5334000" y="5010150"/>
            <a:ext cx="3371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0000"/>
              </a:lnSpc>
              <a:buNone/>
              <a:defRPr sz="16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6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How do effects emerge?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8146E9D-0E05-4CAF-B729-A5025AF585A5}"/>
              </a:ext>
            </a:extLst>
          </p:cNvPr>
          <p:cNvSpPr>
            <a:spLocks noGrp="1"/>
          </p:cNvSpPr>
          <p:nvPr/>
        </p:nvSpPr>
        <p:spPr>
          <a:xfrm>
            <a:off x="5334000" y="5581650"/>
            <a:ext cx="3371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12000"/>
              </a:lnSpc>
              <a:buNone/>
              <a:defRPr sz="112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12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Connect borrowing capacity, transactions, expectations and supply delays.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B9681FA-B767-443B-8B2B-AFDA0E1781D9}"/>
              </a:ext>
            </a:extLst>
          </p:cNvPr>
          <p:cNvSpPr>
            <a:spLocks noGrp="1"/>
          </p:cNvSpPr>
          <p:nvPr/>
        </p:nvSpPr>
        <p:spPr>
          <a:xfrm>
            <a:off x="9467850" y="4381500"/>
            <a:ext cx="3867150" cy="1866900"/>
          </a:xfrm>
          <a:prstGeom prst="rect">
            <a:avLst/>
          </a:prstGeom>
          <a:solidFill>
            <a:srgbClr val="EDF5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4B5AF2C-57AA-415F-8157-BC49F7D2E0F8}"/>
              </a:ext>
            </a:extLst>
          </p:cNvPr>
          <p:cNvSpPr>
            <a:spLocks noGrp="1"/>
          </p:cNvSpPr>
          <p:nvPr/>
        </p:nvSpPr>
        <p:spPr>
          <a:xfrm>
            <a:off x="9696450" y="459105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1" i="0">
                <a:solidFill>
                  <a:srgbClr val="002D9C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125" b="1" i="0">
                <a:solidFill>
                  <a:srgbClr val="002D9C"/>
                </a:solidFill>
                <a:latin typeface="IBM Plex Sans"/>
                <a:ea typeface="IBM Plex Sans KR"/>
                <a:cs typeface="IBM Plex Sans"/>
              </a:defRPr>
            </a:pPr>
            <a:r>
              <a:rPr sz="1125" b="1" i="0">
                <a:solidFill>
                  <a:srgbClr val="002D9C"/>
                </a:solidFill>
                <a:latin typeface="IBM Plex Sans"/>
                <a:ea typeface="IBM Plex Sans KR"/>
                <a:cs typeface="IBM Plex Sans"/>
              </a:rPr>
              <a:t>04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FE5271F-6477-4437-A7B9-32F8CBC12C16}"/>
              </a:ext>
            </a:extLst>
          </p:cNvPr>
          <p:cNvSpPr>
            <a:spLocks noGrp="1"/>
          </p:cNvSpPr>
          <p:nvPr/>
        </p:nvSpPr>
        <p:spPr>
          <a:xfrm>
            <a:off x="9696450" y="5010150"/>
            <a:ext cx="3371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0000"/>
              </a:lnSpc>
              <a:buNone/>
              <a:defRPr sz="16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6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Where does the evidence apply?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360212-94D2-44BB-882A-1199C5AB0060}"/>
              </a:ext>
            </a:extLst>
          </p:cNvPr>
          <p:cNvSpPr>
            <a:spLocks noGrp="1"/>
          </p:cNvSpPr>
          <p:nvPr/>
        </p:nvSpPr>
        <p:spPr>
          <a:xfrm>
            <a:off x="9696450" y="5581650"/>
            <a:ext cx="3371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12000"/>
              </a:lnSpc>
              <a:buNone/>
              <a:defRPr sz="112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12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Check whether each study's location, period and method fit the scenario.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3315EBF-C31C-4113-8DEA-5CA5C2AA60A6}"/>
              </a:ext>
            </a:extLst>
          </p:cNvPr>
          <p:cNvSpPr>
            <a:spLocks noGrp="1"/>
          </p:cNvSpPr>
          <p:nvPr/>
        </p:nvSpPr>
        <p:spPr>
          <a:xfrm>
            <a:off x="5181600" y="68199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050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pPr>
            <a:r>
              <a:rPr sz="1050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rPr>
              <a:t>Policy explanation</a:t>
            </a:r>
          </a:p>
        </p:txBody>
      </p:sp>
      <p:sp>
        <p:nvSpPr>
          <p:cNvPr id="32" name="직선 연결선[R] 31">
            <a:extLst>
              <a:ext uri="{FF2B5EF4-FFF2-40B4-BE49-F238E27FC236}">
                <a16:creationId xmlns:a16="http://schemas.microsoft.com/office/drawing/2014/main" id="{6DE1A6E6-7524-4635-B75E-BFDA15AAC466}"/>
              </a:ext>
            </a:extLst>
          </p:cNvPr>
          <p:cNvSpPr>
            <a:spLocks noGrp="1"/>
          </p:cNvSpPr>
          <p:nvPr/>
        </p:nvSpPr>
        <p:spPr>
          <a:xfrm>
            <a:off x="6515100" y="6924675"/>
            <a:ext cx="1428750" cy="0"/>
          </a:xfrm>
          <a:prstGeom prst="line">
            <a:avLst/>
          </a:prstGeom>
          <a:noFill/>
          <a:ln w="19050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F8BF1C5-5597-43C6-A425-0201C2FB28CF}"/>
              </a:ext>
            </a:extLst>
          </p:cNvPr>
          <p:cNvSpPr>
            <a:spLocks noGrp="1"/>
          </p:cNvSpPr>
          <p:nvPr/>
        </p:nvSpPr>
        <p:spPr>
          <a:xfrm>
            <a:off x="8115300" y="68199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050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pPr>
            <a:r>
              <a:rPr sz="1050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rPr>
              <a:t>Impact assessment</a:t>
            </a:r>
          </a:p>
        </p:txBody>
      </p:sp>
      <p:sp>
        <p:nvSpPr>
          <p:cNvPr id="34" name="직선 연결선[R] 33">
            <a:extLst>
              <a:ext uri="{FF2B5EF4-FFF2-40B4-BE49-F238E27FC236}">
                <a16:creationId xmlns:a16="http://schemas.microsoft.com/office/drawing/2014/main" id="{AC174645-4924-4D77-9582-C0D6243377B6}"/>
              </a:ext>
            </a:extLst>
          </p:cNvPr>
          <p:cNvSpPr>
            <a:spLocks noGrp="1"/>
          </p:cNvSpPr>
          <p:nvPr/>
        </p:nvSpPr>
        <p:spPr>
          <a:xfrm>
            <a:off x="9734550" y="6924675"/>
            <a:ext cx="1809750" cy="0"/>
          </a:xfrm>
          <a:prstGeom prst="line">
            <a:avLst/>
          </a:prstGeom>
          <a:noFill/>
          <a:ln w="28575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9EFAF99-326B-4666-A0C6-F131CC9CC412}"/>
              </a:ext>
            </a:extLst>
          </p:cNvPr>
          <p:cNvSpPr>
            <a:spLocks noGrp="1"/>
          </p:cNvSpPr>
          <p:nvPr/>
        </p:nvSpPr>
        <p:spPr>
          <a:xfrm>
            <a:off x="11715750" y="68199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 i="0">
                <a:solidFill>
                  <a:srgbClr val="002D9C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050" b="1" i="0">
                <a:solidFill>
                  <a:srgbClr val="002D9C"/>
                </a:solidFill>
                <a:latin typeface="IBM Plex Sans"/>
                <a:ea typeface="IBM Plex Sans KR"/>
                <a:cs typeface="IBM Plex Sans"/>
              </a:defRPr>
            </a:pPr>
            <a:r>
              <a:rPr sz="1050" b="1" i="0">
                <a:solidFill>
                  <a:srgbClr val="002D9C"/>
                </a:solidFill>
                <a:latin typeface="IBM Plex Sans"/>
                <a:ea typeface="IBM Plex Sans KR"/>
                <a:cs typeface="IBM Plex Sans"/>
              </a:rPr>
              <a:t>Policy decisions</a:t>
            </a:r>
          </a:p>
        </p:txBody>
      </p:sp>
    </p:spTree>
    <p:extLst>
      <p:ext uri="{BB962C8B-B14F-4D97-AF65-F5344CB8AC3E}">
        <p14:creationId xmlns:p14="http://schemas.microsoft.com/office/powerpoint/2010/main" val="767259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A3444060-EDAE-4693-B106-587388A149B8}"/>
              </a:ext>
            </a:extLst>
          </p:cNvPr>
          <p:cNvCxnSpPr>
            <a:stCxn id="21" idx="3"/>
            <a:endCxn id="24" idx="1"/>
          </p:cNvCxnSpPr>
          <p:nvPr/>
        </p:nvCxnSpPr>
        <p:spPr>
          <a:xfrm>
            <a:off x="11811000" y="4114800"/>
            <a:ext cx="571500" cy="0"/>
          </a:xfrm>
          <a:prstGeom prst="straightConnector1">
            <a:avLst/>
          </a:prstGeom>
          <a:ln w="19050">
            <a:solidFill>
              <a:srgbClr val="0F62FE"/>
            </a:solidFill>
            <a:prstDash val="solid"/>
            <a:tailEnd type="triangle" w="sm" len="sm"/>
          </a:ln>
        </p:spPr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0851AC21-4A86-4994-9633-731E5E86C269}"/>
              </a:ext>
            </a:extLst>
          </p:cNvPr>
          <p:cNvCxnSpPr>
            <a:stCxn id="18" idx="3"/>
            <a:endCxn id="21" idx="1"/>
          </p:cNvCxnSpPr>
          <p:nvPr/>
        </p:nvCxnSpPr>
        <p:spPr>
          <a:xfrm>
            <a:off x="8915400" y="4114800"/>
            <a:ext cx="571500" cy="0"/>
          </a:xfrm>
          <a:prstGeom prst="straightConnector1">
            <a:avLst/>
          </a:prstGeom>
          <a:ln w="19050">
            <a:solidFill>
              <a:srgbClr val="007D79"/>
            </a:solidFill>
            <a:prstDash val="solid"/>
            <a:tailEnd type="triangle" w="sm" len="sm"/>
          </a:ln>
        </p:spPr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9169D571-FDFD-44AA-AB54-F31AEB9C2C72}"/>
              </a:ext>
            </a:extLst>
          </p:cNvPr>
          <p:cNvCxnSpPr>
            <a:stCxn id="15" idx="3"/>
            <a:endCxn id="18" idx="1"/>
          </p:cNvCxnSpPr>
          <p:nvPr/>
        </p:nvCxnSpPr>
        <p:spPr>
          <a:xfrm>
            <a:off x="5619750" y="4114800"/>
            <a:ext cx="571500" cy="0"/>
          </a:xfrm>
          <a:prstGeom prst="straightConnector1">
            <a:avLst/>
          </a:prstGeom>
          <a:ln w="19050">
            <a:solidFill>
              <a:srgbClr val="0F62FE"/>
            </a:solidFill>
            <a:prstDash val="solid"/>
            <a:tailEnd type="triangle" w="sm" len="sm"/>
          </a:ln>
        </p:spPr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0AFC788A-5FAA-42A2-9278-9568427C7C2F}"/>
              </a:ext>
            </a:extLst>
          </p:cNvPr>
          <p:cNvCxnSpPr>
            <a:stCxn id="12" idx="3"/>
            <a:endCxn id="15" idx="1"/>
          </p:cNvCxnSpPr>
          <p:nvPr/>
        </p:nvCxnSpPr>
        <p:spPr>
          <a:xfrm>
            <a:off x="2724150" y="4114800"/>
            <a:ext cx="571500" cy="0"/>
          </a:xfrm>
          <a:prstGeom prst="straightConnector1">
            <a:avLst/>
          </a:prstGeom>
          <a:ln w="19050">
            <a:solidFill>
              <a:srgbClr val="0F62FE"/>
            </a:solidFill>
            <a:prstDash val="solid"/>
            <a:tailEnd type="triangle" w="sm" len="sm"/>
          </a:ln>
        </p:spPr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5E3B99E-8E10-420E-AF10-58764E203AFE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9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pPr>
            <a:r>
              <a:rPr sz="9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rPr>
              <a:t>05  PRODUCT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48165AA-C13C-48DA-BB56-391A48E14885}"/>
              </a:ext>
            </a:extLst>
          </p:cNvPr>
          <p:cNvSpPr>
            <a:spLocks noGrp="1"/>
          </p:cNvSpPr>
          <p:nvPr/>
        </p:nvSpPr>
        <p:spPr>
          <a:xfrm>
            <a:off x="495300" y="581025"/>
            <a:ext cx="13449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0000"/>
              </a:lnSpc>
              <a:buNone/>
              <a:defRPr sz="27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27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A reviewable workflow from policy document to scenario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A3DAA23-3CA4-40CA-9953-BAE159FFBC67}"/>
              </a:ext>
            </a:extLst>
          </p:cNvPr>
          <p:cNvSpPr>
            <a:spLocks noGrp="1"/>
          </p:cNvSpPr>
          <p:nvPr/>
        </p:nvSpPr>
        <p:spPr>
          <a:xfrm>
            <a:off x="419100" y="1152525"/>
            <a:ext cx="1343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0000"/>
              </a:lnSpc>
              <a:buNone/>
              <a:defRPr sz="127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7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Upload a document, verify the extracted change, set assumptions and compare the resulting constraints.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AF795000-EBA7-4746-8B97-6E8AA3142706}"/>
              </a:ext>
            </a:extLst>
          </p:cNvPr>
          <p:cNvSpPr>
            <a:spLocks noGrp="1"/>
          </p:cNvSpPr>
          <p:nvPr/>
        </p:nvSpPr>
        <p:spPr>
          <a:xfrm>
            <a:off x="419100" y="7848600"/>
            <a:ext cx="13792200" cy="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A026FF7-B4BF-46D0-A79A-B51F5F8B9929}"/>
              </a:ext>
            </a:extLst>
          </p:cNvPr>
          <p:cNvSpPr>
            <a:spLocks noGrp="1"/>
          </p:cNvSpPr>
          <p:nvPr/>
        </p:nvSpPr>
        <p:spPr>
          <a:xfrm>
            <a:off x="419100" y="7962900"/>
            <a:ext cx="619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pPr>
            <a:r>
              <a: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rPr>
              <a:t>SweetHome | Google DeepMind AI Hackathon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AA36D0A-E49C-42F8-80C5-16B878899A80}"/>
              </a:ext>
            </a:extLst>
          </p:cNvPr>
          <p:cNvSpPr>
            <a:spLocks noGrp="1"/>
          </p:cNvSpPr>
          <p:nvPr/>
        </p:nvSpPr>
        <p:spPr>
          <a:xfrm>
            <a:off x="13830300" y="796290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r">
              <a:lnSpc>
                <a:spcPct val="108000"/>
              </a:lnSpc>
              <a:buNone/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pPr>
            <a:r>
              <a: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rPr>
              <a:t>10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6A4ABFA-58AF-4D5B-8F03-DADA378FE1AA}"/>
              </a:ext>
            </a:extLst>
          </p:cNvPr>
          <p:cNvSpPr>
            <a:spLocks noGrp="1"/>
          </p:cNvSpPr>
          <p:nvPr/>
        </p:nvSpPr>
        <p:spPr>
          <a:xfrm>
            <a:off x="647700" y="1847850"/>
            <a:ext cx="13335000" cy="571500"/>
          </a:xfrm>
          <a:prstGeom prst="rect">
            <a:avLst/>
          </a:prstGeom>
          <a:solidFill>
            <a:srgbClr val="F4F4F4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5153C2B-C33B-419F-B3CF-E6F6BA0D8EC4}"/>
              </a:ext>
            </a:extLst>
          </p:cNvPr>
          <p:cNvSpPr>
            <a:spLocks noGrp="1"/>
          </p:cNvSpPr>
          <p:nvPr/>
        </p:nvSpPr>
        <p:spPr>
          <a:xfrm>
            <a:off x="876300" y="2019300"/>
            <a:ext cx="1485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050" b="1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050" b="1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Human review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9428E2F-16EC-4045-AD1B-F29B90975CD8}"/>
              </a:ext>
            </a:extLst>
          </p:cNvPr>
          <p:cNvSpPr>
            <a:spLocks noGrp="1"/>
          </p:cNvSpPr>
          <p:nvPr/>
        </p:nvSpPr>
        <p:spPr>
          <a:xfrm>
            <a:off x="2667000" y="20002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27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7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Check the source quotation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F5D2F7F-56AE-4F4A-93E8-273D0D15F607}"/>
              </a:ext>
            </a:extLst>
          </p:cNvPr>
          <p:cNvSpPr>
            <a:spLocks noGrp="1"/>
          </p:cNvSpPr>
          <p:nvPr/>
        </p:nvSpPr>
        <p:spPr>
          <a:xfrm>
            <a:off x="6591300" y="200025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27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7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Confirm scope and dates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952099A-B997-43D6-8F3D-0146354D9283}"/>
              </a:ext>
            </a:extLst>
          </p:cNvPr>
          <p:cNvSpPr>
            <a:spLocks noGrp="1"/>
          </p:cNvSpPr>
          <p:nvPr/>
        </p:nvSpPr>
        <p:spPr>
          <a:xfrm>
            <a:off x="10572750" y="20002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27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7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Approve inputs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AC0A1E2-9E40-451C-AB0C-A6ED906E9978}"/>
              </a:ext>
            </a:extLst>
          </p:cNvPr>
          <p:cNvSpPr>
            <a:spLocks noGrp="1"/>
          </p:cNvSpPr>
          <p:nvPr/>
        </p:nvSpPr>
        <p:spPr>
          <a:xfrm>
            <a:off x="685800" y="3028950"/>
            <a:ext cx="2038350" cy="2171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D3EC2E4-4A89-47EE-A22D-C91B83BBE649}"/>
              </a:ext>
            </a:extLst>
          </p:cNvPr>
          <p:cNvSpPr>
            <a:spLocks noGrp="1"/>
          </p:cNvSpPr>
          <p:nvPr/>
        </p:nvSpPr>
        <p:spPr>
          <a:xfrm>
            <a:off x="857250" y="3181350"/>
            <a:ext cx="1695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57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57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Policy input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A0D0755-728A-499C-B1E7-5EB9ED77015A}"/>
              </a:ext>
            </a:extLst>
          </p:cNvPr>
          <p:cNvSpPr>
            <a:spLocks noGrp="1"/>
          </p:cNvSpPr>
          <p:nvPr/>
        </p:nvSpPr>
        <p:spPr>
          <a:xfrm>
            <a:off x="857250" y="3524250"/>
            <a:ext cx="169545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14000"/>
              </a:lnSpc>
              <a:buNone/>
              <a:defRPr sz="127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7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Text, PDF, HWPX</a:t>
            </a:r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7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Official examples</a:t>
            </a:r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7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Legacy HWP: convert first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B846428-6CE3-4FF5-9944-0E134C83D89D}"/>
              </a:ext>
            </a:extLst>
          </p:cNvPr>
          <p:cNvSpPr>
            <a:spLocks noGrp="1"/>
          </p:cNvSpPr>
          <p:nvPr/>
        </p:nvSpPr>
        <p:spPr>
          <a:xfrm>
            <a:off x="3295650" y="3028950"/>
            <a:ext cx="2324100" cy="2171700"/>
          </a:xfrm>
          <a:prstGeom prst="rect">
            <a:avLst/>
          </a:prstGeom>
          <a:solidFill>
            <a:srgbClr val="EDF5FF"/>
          </a:solidFill>
          <a:ln w="9525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FDF376B-8141-4FD4-86BD-D2CA3F5E74D3}"/>
              </a:ext>
            </a:extLst>
          </p:cNvPr>
          <p:cNvSpPr>
            <a:spLocks noGrp="1"/>
          </p:cNvSpPr>
          <p:nvPr/>
        </p:nvSpPr>
        <p:spPr>
          <a:xfrm>
            <a:off x="3467100" y="3181350"/>
            <a:ext cx="1981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5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pPr>
            <a:r>
              <a:rPr sz="15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rPr>
              <a:t>Rule extraction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984C1D9-E63C-47F8-8ACB-F1AA38541337}"/>
              </a:ext>
            </a:extLst>
          </p:cNvPr>
          <p:cNvSpPr>
            <a:spLocks noGrp="1"/>
          </p:cNvSpPr>
          <p:nvPr/>
        </p:nvSpPr>
        <p:spPr>
          <a:xfrm>
            <a:off x="3467100" y="3524250"/>
            <a:ext cx="19812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14000"/>
              </a:lnSpc>
              <a:buNone/>
              <a:defRPr sz="112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12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Before and after values</a:t>
            </a:r>
          </a:p>
          <a:p>
            <a:pPr algn="l">
              <a:lnSpc>
                <a:spcPct val="114000"/>
              </a:lnSpc>
              <a:buNone/>
              <a:defRPr sz="112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12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Source text locations</a:t>
            </a:r>
          </a:p>
          <a:p>
            <a:pPr algn="l">
              <a:lnSpc>
                <a:spcPct val="114000"/>
              </a:lnSpc>
              <a:buNone/>
              <a:defRPr sz="112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12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Gemini or rules engine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F6E5A4D-8117-40B9-8945-29FF45580658}"/>
              </a:ext>
            </a:extLst>
          </p:cNvPr>
          <p:cNvSpPr>
            <a:spLocks noGrp="1"/>
          </p:cNvSpPr>
          <p:nvPr/>
        </p:nvSpPr>
        <p:spPr>
          <a:xfrm>
            <a:off x="6191250" y="2781300"/>
            <a:ext cx="2724150" cy="2667000"/>
          </a:xfrm>
          <a:prstGeom prst="rect">
            <a:avLst/>
          </a:prstGeom>
          <a:solidFill>
            <a:srgbClr val="EDF5FF"/>
          </a:solidFill>
          <a:ln w="19050">
            <a:solidFill>
              <a:srgbClr val="002D9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DB0AB56-977C-4C2F-8699-22FC9B9F659E}"/>
              </a:ext>
            </a:extLst>
          </p:cNvPr>
          <p:cNvSpPr>
            <a:spLocks noGrp="1"/>
          </p:cNvSpPr>
          <p:nvPr/>
        </p:nvSpPr>
        <p:spPr>
          <a:xfrm>
            <a:off x="6362700" y="29337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 i="0">
                <a:solidFill>
                  <a:srgbClr val="002D9C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650" b="1" i="0">
                <a:solidFill>
                  <a:srgbClr val="002D9C"/>
                </a:solidFill>
                <a:latin typeface="IBM Plex Sans"/>
                <a:ea typeface="IBM Plex Sans KR"/>
                <a:cs typeface="IBM Plex Sans"/>
              </a:defRPr>
            </a:pPr>
            <a:r>
              <a:rPr sz="1650" b="1" i="0">
                <a:solidFill>
                  <a:srgbClr val="002D9C"/>
                </a:solidFill>
                <a:latin typeface="IBM Plex Sans"/>
                <a:ea typeface="IBM Plex Sans KR"/>
                <a:cs typeface="IBM Plex Sans"/>
              </a:rPr>
              <a:t>Scenario inputs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26D770B-CB7C-4B8A-9E3D-1472466E7254}"/>
              </a:ext>
            </a:extLst>
          </p:cNvPr>
          <p:cNvSpPr>
            <a:spLocks noGrp="1"/>
          </p:cNvSpPr>
          <p:nvPr/>
        </p:nvSpPr>
        <p:spPr>
          <a:xfrm>
            <a:off x="6362700" y="3276600"/>
            <a:ext cx="2381250" cy="2057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14000"/>
              </a:lnSpc>
              <a:buNone/>
              <a:def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One selected rule</a:t>
            </a:r>
          </a:p>
          <a:p>
            <a:pPr algn="l">
              <a:lnSpc>
                <a:spcPct val="114000"/>
              </a:lnSpc>
              <a:buNone/>
              <a:def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Regions and effective date</a:t>
            </a:r>
          </a:p>
          <a:p>
            <a:pPr algn="l">
              <a:lnSpc>
                <a:spcPct val="114000"/>
              </a:lnSpc>
              <a:buNone/>
              <a:def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Household or supply inputs</a:t>
            </a:r>
          </a:p>
          <a:p>
            <a:pPr algn="l">
              <a:lnSpc>
                <a:spcPct val="114000"/>
              </a:lnSpc>
              <a:buNone/>
              <a:def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Explicit sensitivity coefficients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0EF25C5-E0C5-4B2B-AE60-DCC4949BEB92}"/>
              </a:ext>
            </a:extLst>
          </p:cNvPr>
          <p:cNvSpPr>
            <a:spLocks noGrp="1"/>
          </p:cNvSpPr>
          <p:nvPr/>
        </p:nvSpPr>
        <p:spPr>
          <a:xfrm>
            <a:off x="9486900" y="3028950"/>
            <a:ext cx="2324100" cy="2171700"/>
          </a:xfrm>
          <a:prstGeom prst="rect">
            <a:avLst/>
          </a:prstGeom>
          <a:solidFill>
            <a:srgbClr val="E5F6F5"/>
          </a:solidFill>
          <a:ln w="9525">
            <a:solidFill>
              <a:srgbClr val="007D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A6D2B21-1E68-493F-A5B2-B46676B247EF}"/>
              </a:ext>
            </a:extLst>
          </p:cNvPr>
          <p:cNvSpPr>
            <a:spLocks noGrp="1"/>
          </p:cNvSpPr>
          <p:nvPr/>
        </p:nvSpPr>
        <p:spPr>
          <a:xfrm>
            <a:off x="9658350" y="3181350"/>
            <a:ext cx="1981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575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defRPr>
            </a:pPr>
            <a:r>
              <a:rPr sz="1575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rPr>
              <a:t>Calculations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B6650A7-0B41-4819-BF47-5547718931DD}"/>
              </a:ext>
            </a:extLst>
          </p:cNvPr>
          <p:cNvSpPr>
            <a:spLocks noGrp="1"/>
          </p:cNvSpPr>
          <p:nvPr/>
        </p:nvSpPr>
        <p:spPr>
          <a:xfrm>
            <a:off x="9658350" y="3524250"/>
            <a:ext cx="19812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14000"/>
              </a:lnSpc>
              <a:buNone/>
              <a:defRPr sz="112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12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Borrowing and budget limits</a:t>
            </a:r>
          </a:p>
          <a:p>
            <a:pPr algn="l">
              <a:lnSpc>
                <a:spcPct val="114000"/>
              </a:lnSpc>
              <a:buNone/>
              <a:defRPr sz="112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12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Supply timing assumptions</a:t>
            </a:r>
          </a:p>
          <a:p>
            <a:pPr algn="l">
              <a:lnSpc>
                <a:spcPct val="114000"/>
              </a:lnSpc>
              <a:buNone/>
              <a:defRPr sz="112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12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Optional price sensitivity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90B2338-F6BC-445C-AD74-E5B27CC50390}"/>
              </a:ext>
            </a:extLst>
          </p:cNvPr>
          <p:cNvSpPr>
            <a:spLocks noGrp="1"/>
          </p:cNvSpPr>
          <p:nvPr/>
        </p:nvSpPr>
        <p:spPr>
          <a:xfrm>
            <a:off x="12382500" y="3028950"/>
            <a:ext cx="1581150" cy="2171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1678138-3A9A-4392-A425-BDA79B741C66}"/>
              </a:ext>
            </a:extLst>
          </p:cNvPr>
          <p:cNvSpPr>
            <a:spLocks noGrp="1"/>
          </p:cNvSpPr>
          <p:nvPr/>
        </p:nvSpPr>
        <p:spPr>
          <a:xfrm>
            <a:off x="12553950" y="318135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5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5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Review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AD7B3BF-FD78-4C81-B45B-8F9C72002419}"/>
              </a:ext>
            </a:extLst>
          </p:cNvPr>
          <p:cNvSpPr>
            <a:spLocks noGrp="1"/>
          </p:cNvSpPr>
          <p:nvPr/>
        </p:nvSpPr>
        <p:spPr>
          <a:xfrm>
            <a:off x="12553950" y="3524250"/>
            <a:ext cx="123825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14000"/>
              </a:lnSpc>
              <a:buNone/>
              <a:def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Map</a:t>
            </a:r>
          </a:p>
          <a:p>
            <a:pPr algn="l">
              <a:lnSpc>
                <a:spcPct val="114000"/>
              </a:lnSpc>
              <a:buNone/>
              <a:def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Before / after</a:t>
            </a:r>
          </a:p>
          <a:p>
            <a:pPr algn="l">
              <a:lnSpc>
                <a:spcPct val="114000"/>
              </a:lnSpc>
              <a:buNone/>
              <a:def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Formulas and sources</a:t>
            </a: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1CF05EFD-E99E-46D9-A2D4-8B27DB6798E1}"/>
              </a:ext>
            </a:extLst>
          </p:cNvPr>
          <p:cNvSpPr>
            <a:spLocks noGrp="1"/>
          </p:cNvSpPr>
          <p:nvPr/>
        </p:nvSpPr>
        <p:spPr>
          <a:xfrm>
            <a:off x="876300" y="5600700"/>
            <a:ext cx="1333500" cy="304800"/>
          </a:xfrm>
          <a:prstGeom prst="roundRect">
            <a:avLst>
              <a:gd name="adj" fmla="val 37500"/>
            </a:avLst>
          </a:prstGeom>
          <a:solidFill>
            <a:srgbClr val="F4F4F4"/>
          </a:solidFill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975" b="1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ctr">
              <a:defRPr sz="975" b="1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975" b="1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Document parsers</a:t>
            </a: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11F80BD5-D662-493F-9F6E-D42D8D433C83}"/>
              </a:ext>
            </a:extLst>
          </p:cNvPr>
          <p:cNvSpPr>
            <a:spLocks noGrp="1"/>
          </p:cNvSpPr>
          <p:nvPr/>
        </p:nvSpPr>
        <p:spPr>
          <a:xfrm>
            <a:off x="3524250" y="5600700"/>
            <a:ext cx="1600200" cy="304800"/>
          </a:xfrm>
          <a:prstGeom prst="roundRect">
            <a:avLst>
              <a:gd name="adj" fmla="val 37500"/>
            </a:avLst>
          </a:prstGeom>
          <a:solidFill>
            <a:srgbClr val="EDF5FF"/>
          </a:solidFill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975" b="1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ctr">
              <a:defRPr sz="975" b="1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pPr>
            <a:r>
              <a:rPr sz="975" b="1">
                <a:solidFill>
                  <a:srgbClr val="0F62FE"/>
                </a:solidFill>
                <a:latin typeface="IBM Plex Sans"/>
                <a:ea typeface="IBM Plex Sans KR"/>
                <a:cs typeface="IBM Plex Sans"/>
              </a:rPr>
              <a:t>Gemini (configured)</a:t>
            </a: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D8146867-ACC8-46FE-9E27-AB37BBB71485}"/>
              </a:ext>
            </a:extLst>
          </p:cNvPr>
          <p:cNvSpPr>
            <a:spLocks noGrp="1"/>
          </p:cNvSpPr>
          <p:nvPr/>
        </p:nvSpPr>
        <p:spPr>
          <a:xfrm>
            <a:off x="6477000" y="5600700"/>
            <a:ext cx="2190750" cy="304800"/>
          </a:xfrm>
          <a:prstGeom prst="roundRect">
            <a:avLst>
              <a:gd name="adj" fmla="val 37500"/>
            </a:avLst>
          </a:prstGeom>
          <a:solidFill>
            <a:srgbClr val="EDF5FF"/>
          </a:solidFill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975" b="1">
                <a:solidFill>
                  <a:srgbClr val="002D9C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ctr">
              <a:defRPr sz="975" b="1">
                <a:solidFill>
                  <a:srgbClr val="002D9C"/>
                </a:solidFill>
                <a:latin typeface="IBM Plex Sans"/>
                <a:ea typeface="IBM Plex Sans KR"/>
                <a:cs typeface="IBM Plex Sans"/>
              </a:defRPr>
            </a:pPr>
            <a:r>
              <a:rPr sz="975" b="1">
                <a:solidFill>
                  <a:srgbClr val="002D9C"/>
                </a:solidFill>
                <a:latin typeface="IBM Plex Sans"/>
                <a:ea typeface="IBM Plex Sans KR"/>
                <a:cs typeface="IBM Plex Sans"/>
              </a:rPr>
              <a:t>Explicit formulas</a:t>
            </a: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373C28CA-FD90-4700-B982-CA16A5AD23FD}"/>
              </a:ext>
            </a:extLst>
          </p:cNvPr>
          <p:cNvSpPr>
            <a:spLocks noGrp="1"/>
          </p:cNvSpPr>
          <p:nvPr/>
        </p:nvSpPr>
        <p:spPr>
          <a:xfrm>
            <a:off x="10077450" y="5600700"/>
            <a:ext cx="1219200" cy="304800"/>
          </a:xfrm>
          <a:prstGeom prst="roundRect">
            <a:avLst>
              <a:gd name="adj" fmla="val 37500"/>
            </a:avLst>
          </a:prstGeom>
          <a:solidFill>
            <a:srgbClr val="E5F6F5"/>
          </a:solidFill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975" b="1">
                <a:solidFill>
                  <a:srgbClr val="007D79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ctr">
              <a:defRPr sz="975" b="1">
                <a:solidFill>
                  <a:srgbClr val="007D79"/>
                </a:solidFill>
                <a:latin typeface="IBM Plex Sans"/>
                <a:ea typeface="IBM Plex Sans KR"/>
                <a:cs typeface="IBM Plex Sans"/>
              </a:defRPr>
            </a:pPr>
            <a:r>
              <a:rPr sz="975" b="1">
                <a:solidFill>
                  <a:srgbClr val="007D79"/>
                </a:solidFill>
                <a:latin typeface="IBM Plex Sans"/>
                <a:ea typeface="IBM Plex Sans KR"/>
                <a:cs typeface="IBM Plex Sans"/>
              </a:rPr>
              <a:t>React + FastAPI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5DD7E94-C448-45F0-B588-3894ED46DDFC}"/>
              </a:ext>
            </a:extLst>
          </p:cNvPr>
          <p:cNvSpPr>
            <a:spLocks noGrp="1"/>
          </p:cNvSpPr>
          <p:nvPr/>
        </p:nvSpPr>
        <p:spPr>
          <a:xfrm>
            <a:off x="647700" y="6305550"/>
            <a:ext cx="13335000" cy="781050"/>
          </a:xfrm>
          <a:prstGeom prst="rect">
            <a:avLst/>
          </a:prstGeom>
          <a:solidFill>
            <a:srgbClr val="F4F4F4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4CD70A3-F6BC-447C-8E19-BD7917553383}"/>
              </a:ext>
            </a:extLst>
          </p:cNvPr>
          <p:cNvSpPr>
            <a:spLocks noGrp="1"/>
          </p:cNvSpPr>
          <p:nvPr/>
        </p:nvSpPr>
        <p:spPr>
          <a:xfrm>
            <a:off x="876300" y="65341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050" b="1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050" b="1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Traceability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A2CD4F1-9768-4093-A103-F2E7E2917777}"/>
              </a:ext>
            </a:extLst>
          </p:cNvPr>
          <p:cNvSpPr>
            <a:spLocks noGrp="1"/>
          </p:cNvSpPr>
          <p:nvPr/>
        </p:nvSpPr>
        <p:spPr>
          <a:xfrm>
            <a:off x="2857500" y="649605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2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Document hash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249B37B-700E-480F-83E9-11720DE81AC0}"/>
              </a:ext>
            </a:extLst>
          </p:cNvPr>
          <p:cNvSpPr>
            <a:spLocks noGrp="1"/>
          </p:cNvSpPr>
          <p:nvPr/>
        </p:nvSpPr>
        <p:spPr>
          <a:xfrm>
            <a:off x="5067300" y="649605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2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Quoted evidence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ABA68BF-BA5D-48AD-9914-734630AE4C0E}"/>
              </a:ext>
            </a:extLst>
          </p:cNvPr>
          <p:cNvSpPr>
            <a:spLocks noGrp="1"/>
          </p:cNvSpPr>
          <p:nvPr/>
        </p:nvSpPr>
        <p:spPr>
          <a:xfrm>
            <a:off x="7486650" y="649605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2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Input review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571BC98-7AEB-43B6-80B2-59EA2BD9F400}"/>
              </a:ext>
            </a:extLst>
          </p:cNvPr>
          <p:cNvSpPr>
            <a:spLocks noGrp="1"/>
          </p:cNvSpPr>
          <p:nvPr/>
        </p:nvSpPr>
        <p:spPr>
          <a:xfrm>
            <a:off x="9620250" y="649605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2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Model version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2D13417-4F4B-4037-A61F-7853EDDE69BF}"/>
              </a:ext>
            </a:extLst>
          </p:cNvPr>
          <p:cNvSpPr>
            <a:spLocks noGrp="1"/>
          </p:cNvSpPr>
          <p:nvPr/>
        </p:nvSpPr>
        <p:spPr>
          <a:xfrm>
            <a:off x="11944350" y="64960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2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JSON export</a:t>
            </a:r>
          </a:p>
        </p:txBody>
      </p:sp>
    </p:spTree>
    <p:extLst>
      <p:ext uri="{BB962C8B-B14F-4D97-AF65-F5344CB8AC3E}">
        <p14:creationId xmlns:p14="http://schemas.microsoft.com/office/powerpoint/2010/main" val="905589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B41D000C-56B8-4D6F-BA6D-A6566A426B59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9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pPr>
            <a:r>
              <a:rPr sz="9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rPr>
              <a:t>06  EXPERIENCE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0CE4D36-91E5-4588-8A5D-655E5081AE59}"/>
              </a:ext>
            </a:extLst>
          </p:cNvPr>
          <p:cNvSpPr>
            <a:spLocks noGrp="1"/>
          </p:cNvSpPr>
          <p:nvPr/>
        </p:nvSpPr>
        <p:spPr>
          <a:xfrm>
            <a:off x="495300" y="581025"/>
            <a:ext cx="13449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0000"/>
              </a:lnSpc>
              <a:buNone/>
              <a:defRPr sz="27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27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The running prototype links regions and households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3A05AFC-FFF1-41AF-ABEC-361A6A34E200}"/>
              </a:ext>
            </a:extLst>
          </p:cNvPr>
          <p:cNvSpPr>
            <a:spLocks noGrp="1"/>
          </p:cNvSpPr>
          <p:nvPr/>
        </p:nvSpPr>
        <p:spPr>
          <a:xfrm>
            <a:off x="419100" y="1152525"/>
            <a:ext cx="1343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0000"/>
              </a:lnSpc>
              <a:buNone/>
              <a:defRPr sz="127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7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Select a region, compare household profiles and inspect before-and-after policy conditions.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72C3E103-C1CF-4E4F-BBAE-D684D56BA9AF}"/>
              </a:ext>
            </a:extLst>
          </p:cNvPr>
          <p:cNvSpPr>
            <a:spLocks noGrp="1"/>
          </p:cNvSpPr>
          <p:nvPr/>
        </p:nvSpPr>
        <p:spPr>
          <a:xfrm>
            <a:off x="419100" y="7848600"/>
            <a:ext cx="13792200" cy="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E7AE0D9-F7F6-4D18-B3D2-1A9FE8D7376C}"/>
              </a:ext>
            </a:extLst>
          </p:cNvPr>
          <p:cNvSpPr>
            <a:spLocks noGrp="1"/>
          </p:cNvSpPr>
          <p:nvPr/>
        </p:nvSpPr>
        <p:spPr>
          <a:xfrm>
            <a:off x="419100" y="7962900"/>
            <a:ext cx="619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pPr>
            <a:r>
              <a: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rPr>
              <a:t>SweetHome | Google DeepMind AI Hackathon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58EED03-DDF8-45DC-8D00-AE894FDB3EAE}"/>
              </a:ext>
            </a:extLst>
          </p:cNvPr>
          <p:cNvSpPr>
            <a:spLocks noGrp="1"/>
          </p:cNvSpPr>
          <p:nvPr/>
        </p:nvSpPr>
        <p:spPr>
          <a:xfrm>
            <a:off x="13830300" y="796290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r">
              <a:lnSpc>
                <a:spcPct val="108000"/>
              </a:lnSpc>
              <a:buNone/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pPr>
            <a:r>
              <a: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rPr>
              <a:t>11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B298FD6-922B-4B7C-BDE7-E05548E13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154893" y="1676400"/>
            <a:ext cx="8320614" cy="5695950"/>
          </a:xfrm>
          <a:prstGeom prst="roundRect">
            <a:avLst>
              <a:gd name="adj" fmla="val 2007"/>
            </a:avLst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A2298F76-9AA6-4452-859A-1BE3AE5FE2F0}"/>
              </a:ext>
            </a:extLst>
          </p:cNvPr>
          <p:cNvSpPr>
            <a:spLocks noGrp="1"/>
          </p:cNvSpPr>
          <p:nvPr/>
        </p:nvSpPr>
        <p:spPr>
          <a:xfrm>
            <a:off x="419100" y="7543800"/>
            <a:ext cx="13792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0000"/>
              </a:lnSpc>
              <a:buNone/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pPr>
            <a:r>
              <a: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rPr>
              <a:t>Actual prototype screenshot, 16 Oct 2026. This historical view uses synthetic outcomes. Official transaction samples appear separately.</a:t>
            </a:r>
          </a:p>
        </p:txBody>
      </p:sp>
    </p:spTree>
    <p:extLst>
      <p:ext uri="{BB962C8B-B14F-4D97-AF65-F5344CB8AC3E}">
        <p14:creationId xmlns:p14="http://schemas.microsoft.com/office/powerpoint/2010/main" val="329690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B41D000C-56B8-4D6F-BA6D-A6566A426B59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9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pPr>
            <a:r>
              <a:rPr sz="9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rPr>
              <a:t>06  KNOWLEDGE GRAPH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0CE4D36-91E5-4588-8A5D-655E5081AE59}"/>
              </a:ext>
            </a:extLst>
          </p:cNvPr>
          <p:cNvSpPr>
            <a:spLocks noGrp="1"/>
          </p:cNvSpPr>
          <p:nvPr/>
        </p:nvSpPr>
        <p:spPr>
          <a:xfrm>
            <a:off x="495300" y="581025"/>
            <a:ext cx="13449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0000"/>
              </a:lnSpc>
              <a:buNone/>
              <a:defRPr sz="27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27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A knowledge graph people can inspect and edit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3A05AFC-FFF1-41AF-ABEC-361A6A34E200}"/>
              </a:ext>
            </a:extLst>
          </p:cNvPr>
          <p:cNvSpPr>
            <a:spLocks noGrp="1"/>
          </p:cNvSpPr>
          <p:nvPr/>
        </p:nvSpPr>
        <p:spPr>
          <a:xfrm>
            <a:off x="419100" y="1152525"/>
            <a:ext cx="1343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0000"/>
              </a:lnSpc>
              <a:buNone/>
              <a:defRPr sz="127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7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Search nodes, inspect sources and edit relationships without code. Undo changes or exchange JSON drafts.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72C3E103-C1CF-4E4F-BBAE-D684D56BA9AF}"/>
              </a:ext>
            </a:extLst>
          </p:cNvPr>
          <p:cNvSpPr>
            <a:spLocks noGrp="1"/>
          </p:cNvSpPr>
          <p:nvPr/>
        </p:nvSpPr>
        <p:spPr>
          <a:xfrm>
            <a:off x="419100" y="7848600"/>
            <a:ext cx="13792200" cy="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E7AE0D9-F7F6-4D18-B3D2-1A9FE8D7376C}"/>
              </a:ext>
            </a:extLst>
          </p:cNvPr>
          <p:cNvSpPr>
            <a:spLocks noGrp="1"/>
          </p:cNvSpPr>
          <p:nvPr/>
        </p:nvSpPr>
        <p:spPr>
          <a:xfrm>
            <a:off x="419100" y="7962900"/>
            <a:ext cx="619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pPr>
            <a:r>
              <a: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rPr>
              <a:t>SweetHome | Google DeepMind AI Hackathon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58EED03-DDF8-45DC-8D00-AE894FDB3EAE}"/>
              </a:ext>
            </a:extLst>
          </p:cNvPr>
          <p:cNvSpPr>
            <a:spLocks noGrp="1"/>
          </p:cNvSpPr>
          <p:nvPr/>
        </p:nvSpPr>
        <p:spPr>
          <a:xfrm>
            <a:off x="13830300" y="796290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r">
              <a:lnSpc>
                <a:spcPct val="108000"/>
              </a:lnSpc>
              <a:buNone/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pPr>
            <a:r>
              <a: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rPr>
              <a:t>12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B298FD6-922B-4B7C-BDE7-E05548E13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827082" y="1676400"/>
            <a:ext cx="8976236" cy="5695950"/>
          </a:xfrm>
          <a:prstGeom prst="roundRect">
            <a:avLst>
              <a:gd name="adj" fmla="val 2007"/>
            </a:avLst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A2298F76-9AA6-4452-859A-1BE3AE5FE2F0}"/>
              </a:ext>
            </a:extLst>
          </p:cNvPr>
          <p:cNvSpPr>
            <a:spLocks noGrp="1"/>
          </p:cNvSpPr>
          <p:nvPr/>
        </p:nvSpPr>
        <p:spPr>
          <a:xfrm>
            <a:off x="419100" y="7543800"/>
            <a:ext cx="13792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0000"/>
              </a:lnSpc>
              <a:buNone/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pPr>
            <a:r>
              <a: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rPr>
              <a:t>Actual prototype screenshot. 118 nodes and 318 relationships. Edits stay in this browser and do not update simulations or the server.</a:t>
            </a:r>
          </a:p>
        </p:txBody>
      </p:sp>
    </p:spTree>
    <p:extLst>
      <p:ext uri="{BB962C8B-B14F-4D97-AF65-F5344CB8AC3E}">
        <p14:creationId xmlns:p14="http://schemas.microsoft.com/office/powerpoint/2010/main" val="329690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186C9D17-A923-4A8A-BED4-8D788D8311D0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9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pPr>
            <a:r>
              <a:rPr sz="9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rPr>
              <a:t>07  IMPLEMENTED FEATURES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8D42E47-E05E-4814-ABB4-B19DD44E4162}"/>
              </a:ext>
            </a:extLst>
          </p:cNvPr>
          <p:cNvSpPr>
            <a:spLocks noGrp="1"/>
          </p:cNvSpPr>
          <p:nvPr/>
        </p:nvSpPr>
        <p:spPr>
          <a:xfrm>
            <a:off x="495300" y="581025"/>
            <a:ext cx="13449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0000"/>
              </a:lnSpc>
              <a:buNone/>
              <a:defRPr sz="27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27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What users can inspect and change today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681B809-2ABF-4619-85A6-805692A378DA}"/>
              </a:ext>
            </a:extLst>
          </p:cNvPr>
          <p:cNvSpPr>
            <a:spLocks noGrp="1"/>
          </p:cNvSpPr>
          <p:nvPr/>
        </p:nvSpPr>
        <p:spPr>
          <a:xfrm>
            <a:off x="419100" y="1152525"/>
            <a:ext cx="1343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0000"/>
              </a:lnSpc>
              <a:buNone/>
              <a:defRPr sz="127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7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The prototype separates observed data, reviewed policy inputs and assumption-based calculations.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9BD65247-4865-4475-ACFE-50D4743469E7}"/>
              </a:ext>
            </a:extLst>
          </p:cNvPr>
          <p:cNvSpPr>
            <a:spLocks noGrp="1"/>
          </p:cNvSpPr>
          <p:nvPr/>
        </p:nvSpPr>
        <p:spPr>
          <a:xfrm>
            <a:off x="419100" y="7848600"/>
            <a:ext cx="13792200" cy="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1A031C9-6E99-4A1B-B2BB-5A3727C2F1A5}"/>
              </a:ext>
            </a:extLst>
          </p:cNvPr>
          <p:cNvSpPr>
            <a:spLocks noGrp="1"/>
          </p:cNvSpPr>
          <p:nvPr/>
        </p:nvSpPr>
        <p:spPr>
          <a:xfrm>
            <a:off x="419100" y="7962900"/>
            <a:ext cx="619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pPr>
            <a:r>
              <a: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rPr>
              <a:t>SweetHome | Google DeepMind AI Hackathon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9DA8F9C-FCFA-483A-896B-C856F008ADE0}"/>
              </a:ext>
            </a:extLst>
          </p:cNvPr>
          <p:cNvSpPr>
            <a:spLocks noGrp="1"/>
          </p:cNvSpPr>
          <p:nvPr/>
        </p:nvSpPr>
        <p:spPr>
          <a:xfrm>
            <a:off x="13830300" y="796290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r">
              <a:lnSpc>
                <a:spcPct val="108000"/>
              </a:lnSpc>
              <a:buNone/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pPr>
            <a:r>
              <a: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rPr>
              <a:t>13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9184071-DE04-4137-A6A3-72FFC353518C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647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42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pPr>
            <a:r>
              <a:rPr sz="142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rPr>
              <a:t>01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EFBF44B-4080-4C98-AA40-C5FBCD5BBE0F}"/>
              </a:ext>
            </a:extLst>
          </p:cNvPr>
          <p:cNvSpPr>
            <a:spLocks noGrp="1"/>
          </p:cNvSpPr>
          <p:nvPr/>
        </p:nvSpPr>
        <p:spPr>
          <a:xfrm>
            <a:off x="685800" y="245745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22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22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Document workflow</a:t>
            </a:r>
          </a:p>
        </p:txBody>
      </p:sp>
      <p:sp>
        <p:nvSpPr>
          <p:cNvPr id="9" name="직선 연결선[R] 8">
            <a:extLst>
              <a:ext uri="{FF2B5EF4-FFF2-40B4-BE49-F238E27FC236}">
                <a16:creationId xmlns:a16="http://schemas.microsoft.com/office/drawing/2014/main" id="{F83BCEF0-B8F3-4BD5-9D53-40643BF77E97}"/>
              </a:ext>
            </a:extLst>
          </p:cNvPr>
          <p:cNvSpPr>
            <a:spLocks noGrp="1"/>
          </p:cNvSpPr>
          <p:nvPr/>
        </p:nvSpPr>
        <p:spPr>
          <a:xfrm>
            <a:off x="685800" y="3105150"/>
            <a:ext cx="3543300" cy="0"/>
          </a:xfrm>
          <a:prstGeom prst="line">
            <a:avLst/>
          </a:prstGeom>
          <a:noFill/>
          <a:ln w="381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37BC2EF-2DC5-494A-8B75-2F0A52E41DCD}"/>
              </a:ext>
            </a:extLst>
          </p:cNvPr>
          <p:cNvSpPr>
            <a:spLocks noGrp="1"/>
          </p:cNvSpPr>
          <p:nvPr/>
        </p:nvSpPr>
        <p:spPr>
          <a:xfrm>
            <a:off x="685800" y="3486150"/>
            <a:ext cx="35433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0000"/>
              </a:lnSpc>
              <a:buNone/>
              <a:defRPr sz="16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6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Review before calculating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E0696BE-519B-4AD5-97B6-16E2E9CB99A3}"/>
              </a:ext>
            </a:extLst>
          </p:cNvPr>
          <p:cNvSpPr>
            <a:spLocks noGrp="1"/>
          </p:cNvSpPr>
          <p:nvPr/>
        </p:nvSpPr>
        <p:spPr>
          <a:xfrm>
            <a:off x="685800" y="4305300"/>
            <a:ext cx="35433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18000"/>
              </a:lnSpc>
              <a:buNone/>
              <a:defRPr sz="127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7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Load an official example or upload text, PDF or HWPX. Review the quoted numerical change. Confirm dates, regions and eligible households before running one-rule experiments.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5B18B10-549E-418B-A179-4AD3BB97B244}"/>
              </a:ext>
            </a:extLst>
          </p:cNvPr>
          <p:cNvSpPr>
            <a:spLocks noGrp="1"/>
          </p:cNvSpPr>
          <p:nvPr/>
        </p:nvSpPr>
        <p:spPr>
          <a:xfrm>
            <a:off x="685800" y="5962650"/>
            <a:ext cx="3543300" cy="857250"/>
          </a:xfrm>
          <a:prstGeom prst="rect">
            <a:avLst/>
          </a:prstGeom>
          <a:solidFill>
            <a:srgbClr val="EDF5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590DBD8-BB78-4BA7-9BDF-3F1B310F1AAB}"/>
              </a:ext>
            </a:extLst>
          </p:cNvPr>
          <p:cNvSpPr>
            <a:spLocks noGrp="1"/>
          </p:cNvSpPr>
          <p:nvPr/>
        </p:nvSpPr>
        <p:spPr>
          <a:xfrm>
            <a:off x="876300" y="6191250"/>
            <a:ext cx="3162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10000"/>
              </a:lnSpc>
              <a:buNone/>
              <a:defRPr sz="112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pPr>
            <a:r>
              <a:rPr sz="112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rPr>
              <a:t>Gemini is optional and requires configuration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FF7E278-4355-4532-ACE5-63742812F8D0}"/>
              </a:ext>
            </a:extLst>
          </p:cNvPr>
          <p:cNvSpPr>
            <a:spLocks noGrp="1"/>
          </p:cNvSpPr>
          <p:nvPr/>
        </p:nvSpPr>
        <p:spPr>
          <a:xfrm>
            <a:off x="5010150" y="1981200"/>
            <a:ext cx="647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425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defRPr>
            </a:pPr>
            <a:r>
              <a:rPr sz="1425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rPr>
              <a:t>02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FEB10A3-AD39-454E-BD8A-2F56A81F7082}"/>
              </a:ext>
            </a:extLst>
          </p:cNvPr>
          <p:cNvSpPr>
            <a:spLocks noGrp="1"/>
          </p:cNvSpPr>
          <p:nvPr/>
        </p:nvSpPr>
        <p:spPr>
          <a:xfrm>
            <a:off x="5010150" y="245745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22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22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Public data</a:t>
            </a:r>
          </a:p>
        </p:txBody>
      </p:sp>
      <p:sp>
        <p:nvSpPr>
          <p:cNvPr id="16" name="직선 연결선[R] 15">
            <a:extLst>
              <a:ext uri="{FF2B5EF4-FFF2-40B4-BE49-F238E27FC236}">
                <a16:creationId xmlns:a16="http://schemas.microsoft.com/office/drawing/2014/main" id="{27B3A51A-BAD6-4D85-892C-9891E8461E17}"/>
              </a:ext>
            </a:extLst>
          </p:cNvPr>
          <p:cNvSpPr>
            <a:spLocks noGrp="1"/>
          </p:cNvSpPr>
          <p:nvPr/>
        </p:nvSpPr>
        <p:spPr>
          <a:xfrm>
            <a:off x="5010150" y="3105150"/>
            <a:ext cx="3543300" cy="0"/>
          </a:xfrm>
          <a:prstGeom prst="line">
            <a:avLst/>
          </a:prstGeom>
          <a:noFill/>
          <a:ln w="38100">
            <a:solidFill>
              <a:srgbClr val="007D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ED39CE8-36C9-49F2-A52C-8F4416FC993D}"/>
              </a:ext>
            </a:extLst>
          </p:cNvPr>
          <p:cNvSpPr>
            <a:spLocks noGrp="1"/>
          </p:cNvSpPr>
          <p:nvPr/>
        </p:nvSpPr>
        <p:spPr>
          <a:xfrm>
            <a:off x="5010150" y="3486150"/>
            <a:ext cx="35433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0000"/>
              </a:lnSpc>
              <a:buNone/>
              <a:defRPr sz="16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6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Inspect the source and coverage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10767BC-05DA-4E3C-8364-16FCF2F9C1BF}"/>
              </a:ext>
            </a:extLst>
          </p:cNvPr>
          <p:cNvSpPr>
            <a:spLocks noGrp="1"/>
          </p:cNvSpPr>
          <p:nvPr/>
        </p:nvSpPr>
        <p:spPr>
          <a:xfrm>
            <a:off x="5010150" y="4305300"/>
            <a:ext cx="35433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18000"/>
              </a:lnSpc>
              <a:buNone/>
              <a:defRPr sz="127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7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View 77 capital-region boundaries from SGIS 2018 and 30 official Seoul transaction records. Filter area and cancellations. Samples do not represent the whole market.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E8E7105-662F-4F4A-A493-E2119B79850D}"/>
              </a:ext>
            </a:extLst>
          </p:cNvPr>
          <p:cNvSpPr>
            <a:spLocks noGrp="1"/>
          </p:cNvSpPr>
          <p:nvPr/>
        </p:nvSpPr>
        <p:spPr>
          <a:xfrm>
            <a:off x="5010150" y="5962650"/>
            <a:ext cx="3543300" cy="857250"/>
          </a:xfrm>
          <a:prstGeom prst="rect">
            <a:avLst/>
          </a:prstGeom>
          <a:solidFill>
            <a:srgbClr val="E5F6F5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E1C9A0D-E35A-4187-AF1A-D36B91B584E2}"/>
              </a:ext>
            </a:extLst>
          </p:cNvPr>
          <p:cNvSpPr>
            <a:spLocks noGrp="1"/>
          </p:cNvSpPr>
          <p:nvPr/>
        </p:nvSpPr>
        <p:spPr>
          <a:xfrm>
            <a:off x="5200650" y="6191250"/>
            <a:ext cx="3162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10000"/>
              </a:lnSpc>
              <a:buNone/>
              <a:defRPr sz="1125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defRPr>
            </a:pPr>
            <a:r>
              <a:rPr sz="1125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rPr>
              <a:t>Observations remain separate from simulations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CFB4292-1F3C-4900-940E-040A8A533A7F}"/>
              </a:ext>
            </a:extLst>
          </p:cNvPr>
          <p:cNvSpPr>
            <a:spLocks noGrp="1"/>
          </p:cNvSpPr>
          <p:nvPr/>
        </p:nvSpPr>
        <p:spPr>
          <a:xfrm>
            <a:off x="9334500" y="1981200"/>
            <a:ext cx="647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 i="0">
                <a:solidFill>
                  <a:srgbClr val="002D9C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425" b="1" i="0">
                <a:solidFill>
                  <a:srgbClr val="002D9C"/>
                </a:solidFill>
                <a:latin typeface="IBM Plex Sans"/>
                <a:ea typeface="IBM Plex Sans KR"/>
                <a:cs typeface="IBM Plex Sans"/>
              </a:defRPr>
            </a:pPr>
            <a:r>
              <a:rPr sz="1425" b="1" i="0">
                <a:solidFill>
                  <a:srgbClr val="002D9C"/>
                </a:solidFill>
                <a:latin typeface="IBM Plex Sans"/>
                <a:ea typeface="IBM Plex Sans KR"/>
                <a:cs typeface="IBM Plex Sans"/>
              </a:rPr>
              <a:t>03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45B950E-17F1-485B-B1F3-E1ED85937ACC}"/>
              </a:ext>
            </a:extLst>
          </p:cNvPr>
          <p:cNvSpPr>
            <a:spLocks noGrp="1"/>
          </p:cNvSpPr>
          <p:nvPr/>
        </p:nvSpPr>
        <p:spPr>
          <a:xfrm>
            <a:off x="9334500" y="245745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22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22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Clear explanations</a:t>
            </a:r>
          </a:p>
        </p:txBody>
      </p:sp>
      <p:sp>
        <p:nvSpPr>
          <p:cNvPr id="23" name="직선 연결선[R] 22">
            <a:extLst>
              <a:ext uri="{FF2B5EF4-FFF2-40B4-BE49-F238E27FC236}">
                <a16:creationId xmlns:a16="http://schemas.microsoft.com/office/drawing/2014/main" id="{0BDBED02-B615-4908-98B4-B6658D0AE939}"/>
              </a:ext>
            </a:extLst>
          </p:cNvPr>
          <p:cNvSpPr>
            <a:spLocks noGrp="1"/>
          </p:cNvSpPr>
          <p:nvPr/>
        </p:nvSpPr>
        <p:spPr>
          <a:xfrm>
            <a:off x="9334500" y="3105150"/>
            <a:ext cx="3543300" cy="0"/>
          </a:xfrm>
          <a:prstGeom prst="line">
            <a:avLst/>
          </a:prstGeom>
          <a:noFill/>
          <a:ln w="38100">
            <a:solidFill>
              <a:srgbClr val="002D9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9B2A69D-C1E8-4E80-B484-7EBDED2DF029}"/>
              </a:ext>
            </a:extLst>
          </p:cNvPr>
          <p:cNvSpPr>
            <a:spLocks noGrp="1"/>
          </p:cNvSpPr>
          <p:nvPr/>
        </p:nvSpPr>
        <p:spPr>
          <a:xfrm>
            <a:off x="9334500" y="3486150"/>
            <a:ext cx="35433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0000"/>
              </a:lnSpc>
              <a:buNone/>
              <a:defRPr sz="16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6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Understand rules and evidence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1B4E607-FB4A-41C8-8291-8179D8F33B51}"/>
              </a:ext>
            </a:extLst>
          </p:cNvPr>
          <p:cNvSpPr>
            <a:spLocks noGrp="1"/>
          </p:cNvSpPr>
          <p:nvPr/>
        </p:nvSpPr>
        <p:spPr>
          <a:xfrm>
            <a:off x="9334500" y="4305300"/>
            <a:ext cx="35433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18000"/>
              </a:lnSpc>
              <a:buNone/>
              <a:defRPr sz="127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7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Compare lending and permit conditions. Hover over LTV, DSR, DTI and rate spreads for definitions. Inspect research sources, conflicting findings and limits.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86BACFA-8F83-4165-995E-594455563860}"/>
              </a:ext>
            </a:extLst>
          </p:cNvPr>
          <p:cNvSpPr>
            <a:spLocks noGrp="1"/>
          </p:cNvSpPr>
          <p:nvPr/>
        </p:nvSpPr>
        <p:spPr>
          <a:xfrm>
            <a:off x="9334500" y="5962650"/>
            <a:ext cx="3543300" cy="857250"/>
          </a:xfrm>
          <a:prstGeom prst="rect">
            <a:avLst/>
          </a:prstGeom>
          <a:solidFill>
            <a:srgbClr val="F4F4F4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005C277-6ED1-4B6B-948A-4394DAB7CD91}"/>
              </a:ext>
            </a:extLst>
          </p:cNvPr>
          <p:cNvSpPr>
            <a:spLocks noGrp="1"/>
          </p:cNvSpPr>
          <p:nvPr/>
        </p:nvSpPr>
        <p:spPr>
          <a:xfrm>
            <a:off x="9525000" y="6191250"/>
            <a:ext cx="3162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1" i="0">
                <a:solidFill>
                  <a:srgbClr val="002D9C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10000"/>
              </a:lnSpc>
              <a:buNone/>
              <a:defRPr sz="1125" b="1" i="0">
                <a:solidFill>
                  <a:srgbClr val="002D9C"/>
                </a:solidFill>
                <a:latin typeface="IBM Plex Sans"/>
                <a:ea typeface="IBM Plex Sans KR"/>
                <a:cs typeface="IBM Plex Sans"/>
              </a:defRPr>
            </a:pPr>
            <a:r>
              <a:rPr sz="1125" b="1" i="0">
                <a:solidFill>
                  <a:srgbClr val="002D9C"/>
                </a:solidFill>
                <a:latin typeface="IBM Plex Sans"/>
                <a:ea typeface="IBM Plex Sans KR"/>
                <a:cs typeface="IBM Plex Sans"/>
              </a:rPr>
              <a:t>Source links and terminology at the point of use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AF5E6F9-DEA8-4154-9F69-45C1AF28EF62}"/>
              </a:ext>
            </a:extLst>
          </p:cNvPr>
          <p:cNvSpPr>
            <a:spLocks noGrp="1"/>
          </p:cNvSpPr>
          <p:nvPr/>
        </p:nvSpPr>
        <p:spPr>
          <a:xfrm>
            <a:off x="419100" y="7543800"/>
            <a:ext cx="13792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0000"/>
              </a:lnSpc>
              <a:buNone/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pPr>
            <a:r>
              <a: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rPr>
              <a:t>Scope as inspected on 16 Oct 2026. Historical demo outcomes and new policy experiments are distinct workflows.</a:t>
            </a:r>
          </a:p>
        </p:txBody>
      </p:sp>
    </p:spTree>
    <p:extLst>
      <p:ext uri="{BB962C8B-B14F-4D97-AF65-F5344CB8AC3E}">
        <p14:creationId xmlns:p14="http://schemas.microsoft.com/office/powerpoint/2010/main" val="1227485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210E68E3-CC23-4213-9BFB-13745A7F19B5}"/>
              </a:ext>
            </a:extLst>
          </p:cNvPr>
          <p:cNvCxnSpPr>
            <a:stCxn id="18" idx="3"/>
            <a:endCxn id="21" idx="1"/>
          </p:cNvCxnSpPr>
          <p:nvPr/>
        </p:nvCxnSpPr>
        <p:spPr>
          <a:xfrm>
            <a:off x="10306050" y="4200525"/>
            <a:ext cx="609600" cy="0"/>
          </a:xfrm>
          <a:prstGeom prst="straightConnector1">
            <a:avLst/>
          </a:prstGeom>
          <a:ln w="19050">
            <a:solidFill>
              <a:srgbClr val="007D79"/>
            </a:solidFill>
            <a:prstDash val="solid"/>
            <a:tailEnd type="triangle" w="sm" len="sm"/>
          </a:ln>
        </p:spPr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DB310504-08F3-41C5-BB04-FC1A56035416}"/>
              </a:ext>
            </a:extLst>
          </p:cNvPr>
          <p:cNvCxnSpPr>
            <a:stCxn id="15" idx="3"/>
            <a:endCxn id="18" idx="1"/>
          </p:cNvCxnSpPr>
          <p:nvPr/>
        </p:nvCxnSpPr>
        <p:spPr>
          <a:xfrm>
            <a:off x="6819900" y="4200525"/>
            <a:ext cx="609600" cy="0"/>
          </a:xfrm>
          <a:prstGeom prst="straightConnector1">
            <a:avLst/>
          </a:prstGeom>
          <a:ln w="19050">
            <a:solidFill>
              <a:srgbClr val="002D9C"/>
            </a:solidFill>
            <a:prstDash val="solid"/>
            <a:tailEnd type="triangle" w="sm" len="sm"/>
          </a:ln>
        </p:spPr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6E9FEB2A-4C15-4901-A524-9215F3FB46F0}"/>
              </a:ext>
            </a:extLst>
          </p:cNvPr>
          <p:cNvCxnSpPr>
            <a:stCxn id="12" idx="3"/>
            <a:endCxn id="15" idx="1"/>
          </p:cNvCxnSpPr>
          <p:nvPr/>
        </p:nvCxnSpPr>
        <p:spPr>
          <a:xfrm>
            <a:off x="3333750" y="4200525"/>
            <a:ext cx="609600" cy="0"/>
          </a:xfrm>
          <a:prstGeom prst="straightConnector1">
            <a:avLst/>
          </a:prstGeom>
          <a:ln w="19050">
            <a:solidFill>
              <a:srgbClr val="0F62FE"/>
            </a:solidFill>
            <a:prstDash val="solid"/>
            <a:tailEnd type="triangle" w="sm" len="sm"/>
          </a:ln>
        </p:spPr>
      </p:cxn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879F5CF-82DF-4978-89BF-121D2617DC43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9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pPr>
            <a:r>
              <a:rPr sz="9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rPr>
              <a:t>08  TRUST ARCHITECTURE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E332906-F2D6-411F-BE3F-3338CF91F009}"/>
              </a:ext>
            </a:extLst>
          </p:cNvPr>
          <p:cNvSpPr>
            <a:spLocks noGrp="1"/>
          </p:cNvSpPr>
          <p:nvPr/>
        </p:nvSpPr>
        <p:spPr>
          <a:xfrm>
            <a:off x="495300" y="581025"/>
            <a:ext cx="13449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0000"/>
              </a:lnSpc>
              <a:buNone/>
              <a:defRPr sz="27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27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Traceable experiments, with explicit limits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DEE5BE8-4C8C-409D-8E78-9258946A918C}"/>
              </a:ext>
            </a:extLst>
          </p:cNvPr>
          <p:cNvSpPr>
            <a:spLocks noGrp="1"/>
          </p:cNvSpPr>
          <p:nvPr/>
        </p:nvSpPr>
        <p:spPr>
          <a:xfrm>
            <a:off x="419100" y="1152525"/>
            <a:ext cx="1343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0000"/>
              </a:lnSpc>
              <a:buNone/>
              <a:defRPr sz="127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7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Document extraction supports human review. Deterministic calculations expose their inputs and formulas.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1A5FA4C7-1647-4C65-9246-CDDFFE485396}"/>
              </a:ext>
            </a:extLst>
          </p:cNvPr>
          <p:cNvSpPr>
            <a:spLocks noGrp="1"/>
          </p:cNvSpPr>
          <p:nvPr/>
        </p:nvSpPr>
        <p:spPr>
          <a:xfrm>
            <a:off x="419100" y="7848600"/>
            <a:ext cx="13792200" cy="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E10E159-81FA-49A3-85E2-98A99A0614BF}"/>
              </a:ext>
            </a:extLst>
          </p:cNvPr>
          <p:cNvSpPr>
            <a:spLocks noGrp="1"/>
          </p:cNvSpPr>
          <p:nvPr/>
        </p:nvSpPr>
        <p:spPr>
          <a:xfrm>
            <a:off x="419100" y="7962900"/>
            <a:ext cx="619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pPr>
            <a:r>
              <a: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rPr>
              <a:t>SweetHome | Google DeepMind AI Hackathon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4080522-2403-4D99-94D5-916197579194}"/>
              </a:ext>
            </a:extLst>
          </p:cNvPr>
          <p:cNvSpPr>
            <a:spLocks noGrp="1"/>
          </p:cNvSpPr>
          <p:nvPr/>
        </p:nvSpPr>
        <p:spPr>
          <a:xfrm>
            <a:off x="13830300" y="796290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r">
              <a:lnSpc>
                <a:spcPct val="108000"/>
              </a:lnSpc>
              <a:buNone/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pPr>
            <a:r>
              <a: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rPr>
              <a:t>14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26D69AC-6EF7-4D03-A132-BA92B08EBAD3}"/>
              </a:ext>
            </a:extLst>
          </p:cNvPr>
          <p:cNvSpPr>
            <a:spLocks noGrp="1"/>
          </p:cNvSpPr>
          <p:nvPr/>
        </p:nvSpPr>
        <p:spPr>
          <a:xfrm>
            <a:off x="571500" y="1790700"/>
            <a:ext cx="13487400" cy="571500"/>
          </a:xfrm>
          <a:prstGeom prst="rect">
            <a:avLst/>
          </a:prstGeom>
          <a:solidFill>
            <a:srgbClr val="F4F4F4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4C95F9F-62DD-4B0A-8B64-9A54A8BD3E2D}"/>
              </a:ext>
            </a:extLst>
          </p:cNvPr>
          <p:cNvSpPr>
            <a:spLocks noGrp="1"/>
          </p:cNvSpPr>
          <p:nvPr/>
        </p:nvSpPr>
        <p:spPr>
          <a:xfrm>
            <a:off x="819150" y="1962150"/>
            <a:ext cx="133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050" b="1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050" b="1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Review gates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2F57259-55A2-4CF5-B04E-904F84C794D2}"/>
              </a:ext>
            </a:extLst>
          </p:cNvPr>
          <p:cNvSpPr>
            <a:spLocks noGrp="1"/>
          </p:cNvSpPr>
          <p:nvPr/>
        </p:nvSpPr>
        <p:spPr>
          <a:xfrm>
            <a:off x="3028950" y="19431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27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7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Check quoted values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833A36D-A2A0-41B9-B7A0-49261D4D2EE2}"/>
              </a:ext>
            </a:extLst>
          </p:cNvPr>
          <p:cNvSpPr>
            <a:spLocks noGrp="1"/>
          </p:cNvSpPr>
          <p:nvPr/>
        </p:nvSpPr>
        <p:spPr>
          <a:xfrm>
            <a:off x="6572250" y="19431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27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7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Confirm dates and eligibility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BBF895B-FAF1-44E9-A348-CFC51321F7D8}"/>
              </a:ext>
            </a:extLst>
          </p:cNvPr>
          <p:cNvSpPr>
            <a:spLocks noGrp="1"/>
          </p:cNvSpPr>
          <p:nvPr/>
        </p:nvSpPr>
        <p:spPr>
          <a:xfrm>
            <a:off x="10668000" y="19431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27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7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Accept scenario assumptions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D5D8BC5-31FB-420F-A502-8B3559EB45E6}"/>
              </a:ext>
            </a:extLst>
          </p:cNvPr>
          <p:cNvSpPr>
            <a:spLocks noGrp="1"/>
          </p:cNvSpPr>
          <p:nvPr/>
        </p:nvSpPr>
        <p:spPr>
          <a:xfrm>
            <a:off x="685800" y="2876550"/>
            <a:ext cx="2647950" cy="2647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EEF14C7-10D2-44AB-B428-249849985A70}"/>
              </a:ext>
            </a:extLst>
          </p:cNvPr>
          <p:cNvSpPr>
            <a:spLocks noGrp="1"/>
          </p:cNvSpPr>
          <p:nvPr/>
        </p:nvSpPr>
        <p:spPr>
          <a:xfrm>
            <a:off x="857250" y="3028950"/>
            <a:ext cx="2305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57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575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Source records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9D433FB-423E-4968-A0BF-8A1805CB8C30}"/>
              </a:ext>
            </a:extLst>
          </p:cNvPr>
          <p:cNvSpPr>
            <a:spLocks noGrp="1"/>
          </p:cNvSpPr>
          <p:nvPr/>
        </p:nvSpPr>
        <p:spPr>
          <a:xfrm>
            <a:off x="857250" y="3371850"/>
            <a:ext cx="2305050" cy="2038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14000"/>
              </a:lnSpc>
              <a:buNone/>
              <a:def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Official policy links</a:t>
            </a:r>
          </a:p>
          <a:p>
            <a:pPr algn="l">
              <a:lnSpc>
                <a:spcPct val="114000"/>
              </a:lnSpc>
              <a:buNone/>
              <a:def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Document SHA-256</a:t>
            </a:r>
          </a:p>
          <a:p>
            <a:pPr algn="l">
              <a:lnSpc>
                <a:spcPct val="114000"/>
              </a:lnSpc>
              <a:buNone/>
              <a:def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SGIS 2018 boundaries</a:t>
            </a:r>
          </a:p>
          <a:p>
            <a:pPr algn="l">
              <a:lnSpc>
                <a:spcPct val="114000"/>
              </a:lnSpc>
              <a:buNone/>
              <a:def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Seoul transaction samples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E628498-56EC-42EE-AEA7-CC7F4839887D}"/>
              </a:ext>
            </a:extLst>
          </p:cNvPr>
          <p:cNvSpPr>
            <a:spLocks noGrp="1"/>
          </p:cNvSpPr>
          <p:nvPr/>
        </p:nvSpPr>
        <p:spPr>
          <a:xfrm>
            <a:off x="3943350" y="2876550"/>
            <a:ext cx="2876550" cy="2647950"/>
          </a:xfrm>
          <a:prstGeom prst="rect">
            <a:avLst/>
          </a:prstGeom>
          <a:solidFill>
            <a:srgbClr val="EDF5FF"/>
          </a:solidFill>
          <a:ln w="9525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BE2BD61-664C-4860-96BB-09857F272B82}"/>
              </a:ext>
            </a:extLst>
          </p:cNvPr>
          <p:cNvSpPr>
            <a:spLocks noGrp="1"/>
          </p:cNvSpPr>
          <p:nvPr/>
        </p:nvSpPr>
        <p:spPr>
          <a:xfrm>
            <a:off x="4114800" y="3028950"/>
            <a:ext cx="2533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5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pPr>
            <a:r>
              <a:rPr sz="15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rPr>
              <a:t>Editable knowledge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94341D1-3C48-4F74-944C-D21643069DC5}"/>
              </a:ext>
            </a:extLst>
          </p:cNvPr>
          <p:cNvSpPr>
            <a:spLocks noGrp="1"/>
          </p:cNvSpPr>
          <p:nvPr/>
        </p:nvSpPr>
        <p:spPr>
          <a:xfrm>
            <a:off x="4114800" y="3371850"/>
            <a:ext cx="2533650" cy="2038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14000"/>
              </a:lnSpc>
              <a:buNone/>
              <a:def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Policy and evidence graph</a:t>
            </a:r>
          </a:p>
          <a:p>
            <a:pPr algn="l">
              <a:lnSpc>
                <a:spcPct val="114000"/>
              </a:lnSpc>
              <a:buNone/>
              <a:def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118 nodes, 318 relationships</a:t>
            </a:r>
          </a:p>
          <a:p>
            <a:pPr algn="l">
              <a:lnSpc>
                <a:spcPct val="114000"/>
              </a:lnSpc>
              <a:buNone/>
              <a:def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Local draft edits and undo</a:t>
            </a:r>
          </a:p>
          <a:p>
            <a:pPr algn="l">
              <a:lnSpc>
                <a:spcPct val="114000"/>
              </a:lnSpc>
              <a:buNone/>
              <a:def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JSON import and export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BDB996E-F1AB-43AD-9084-6D9D403BBA76}"/>
              </a:ext>
            </a:extLst>
          </p:cNvPr>
          <p:cNvSpPr>
            <a:spLocks noGrp="1"/>
          </p:cNvSpPr>
          <p:nvPr/>
        </p:nvSpPr>
        <p:spPr>
          <a:xfrm>
            <a:off x="7429500" y="2876550"/>
            <a:ext cx="2876550" cy="2647950"/>
          </a:xfrm>
          <a:prstGeom prst="rect">
            <a:avLst/>
          </a:prstGeom>
          <a:solidFill>
            <a:srgbClr val="EDF5FF"/>
          </a:solidFill>
          <a:ln w="19050">
            <a:solidFill>
              <a:srgbClr val="002D9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B022173-75FC-4122-B072-5344CEC81A47}"/>
              </a:ext>
            </a:extLst>
          </p:cNvPr>
          <p:cNvSpPr>
            <a:spLocks noGrp="1"/>
          </p:cNvSpPr>
          <p:nvPr/>
        </p:nvSpPr>
        <p:spPr>
          <a:xfrm>
            <a:off x="7600950" y="3028950"/>
            <a:ext cx="2533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 i="0">
                <a:solidFill>
                  <a:srgbClr val="002D9C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575" b="1" i="0">
                <a:solidFill>
                  <a:srgbClr val="002D9C"/>
                </a:solidFill>
                <a:latin typeface="IBM Plex Sans"/>
                <a:ea typeface="IBM Plex Sans KR"/>
                <a:cs typeface="IBM Plex Sans"/>
              </a:defRPr>
            </a:pPr>
            <a:r>
              <a:rPr sz="1575" b="1" i="0">
                <a:solidFill>
                  <a:srgbClr val="002D9C"/>
                </a:solidFill>
                <a:latin typeface="IBM Plex Sans"/>
                <a:ea typeface="IBM Plex Sans KR"/>
                <a:cs typeface="IBM Plex Sans"/>
              </a:rPr>
              <a:t>Explicit calculations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642DC6A-E7F5-474E-AE1B-579F104D60D7}"/>
              </a:ext>
            </a:extLst>
          </p:cNvPr>
          <p:cNvSpPr>
            <a:spLocks noGrp="1"/>
          </p:cNvSpPr>
          <p:nvPr/>
        </p:nvSpPr>
        <p:spPr>
          <a:xfrm>
            <a:off x="7600950" y="3371850"/>
            <a:ext cx="2533650" cy="2038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14000"/>
              </a:lnSpc>
              <a:buNone/>
              <a:def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Loan cap, LTV or DSR</a:t>
            </a:r>
          </a:p>
          <a:p>
            <a:pPr algn="l">
              <a:lnSpc>
                <a:spcPct val="114000"/>
              </a:lnSpc>
              <a:buNone/>
              <a:def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Household budget comparison</a:t>
            </a:r>
          </a:p>
          <a:p>
            <a:pPr algn="l">
              <a:lnSpc>
                <a:spcPct val="114000"/>
              </a:lnSpc>
              <a:buNone/>
              <a:def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Supply timing scenarios</a:t>
            </a:r>
          </a:p>
          <a:p>
            <a:pPr algn="l">
              <a:lnSpc>
                <a:spcPct val="114000"/>
              </a:lnSpc>
              <a:buNone/>
              <a:def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User-set price sensitivity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EF82A35-55E1-4053-9FC2-5566C8430BED}"/>
              </a:ext>
            </a:extLst>
          </p:cNvPr>
          <p:cNvSpPr>
            <a:spLocks noGrp="1"/>
          </p:cNvSpPr>
          <p:nvPr/>
        </p:nvSpPr>
        <p:spPr>
          <a:xfrm>
            <a:off x="10915650" y="2876550"/>
            <a:ext cx="3028950" cy="2647950"/>
          </a:xfrm>
          <a:prstGeom prst="rect">
            <a:avLst/>
          </a:prstGeom>
          <a:solidFill>
            <a:srgbClr val="E5F6F5"/>
          </a:solidFill>
          <a:ln w="9525">
            <a:solidFill>
              <a:srgbClr val="007D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B396452-FBEA-4290-A3B2-8C04093334E5}"/>
              </a:ext>
            </a:extLst>
          </p:cNvPr>
          <p:cNvSpPr>
            <a:spLocks noGrp="1"/>
          </p:cNvSpPr>
          <p:nvPr/>
        </p:nvSpPr>
        <p:spPr>
          <a:xfrm>
            <a:off x="11087100" y="3028950"/>
            <a:ext cx="2686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575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defRPr>
            </a:pPr>
            <a:r>
              <a:rPr sz="1575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rPr>
              <a:t>Reproducible output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FAAB36B-C223-4DA7-A034-51A675A936CB}"/>
              </a:ext>
            </a:extLst>
          </p:cNvPr>
          <p:cNvSpPr>
            <a:spLocks noGrp="1"/>
          </p:cNvSpPr>
          <p:nvPr/>
        </p:nvSpPr>
        <p:spPr>
          <a:xfrm>
            <a:off x="11087100" y="3371850"/>
            <a:ext cx="2686050" cy="2038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14000"/>
              </a:lnSpc>
              <a:buNone/>
              <a:def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Inputs and source quotation</a:t>
            </a:r>
          </a:p>
          <a:p>
            <a:pPr algn="l">
              <a:lnSpc>
                <a:spcPct val="114000"/>
              </a:lnSpc>
              <a:buNone/>
              <a:def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Formula and model version</a:t>
            </a:r>
          </a:p>
          <a:p>
            <a:pPr algn="l">
              <a:lnSpc>
                <a:spcPct val="114000"/>
              </a:lnSpc>
              <a:buNone/>
              <a:def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Scenario ID and text hash</a:t>
            </a:r>
          </a:p>
          <a:p>
            <a:pPr algn="l">
              <a:lnSpc>
                <a:spcPct val="114000"/>
              </a:lnSpc>
              <a:buNone/>
              <a:def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0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Downloadable JSON record</a:t>
            </a:r>
          </a:p>
        </p:txBody>
      </p:sp>
      <p:sp>
        <p:nvSpPr>
          <p:cNvPr id="27" name="직선 연결선[R] 26">
            <a:extLst>
              <a:ext uri="{FF2B5EF4-FFF2-40B4-BE49-F238E27FC236}">
                <a16:creationId xmlns:a16="http://schemas.microsoft.com/office/drawing/2014/main" id="{7BCCA149-C3CC-44AC-B812-176829C5D72B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2857500" cy="0"/>
          </a:xfrm>
          <a:prstGeom prst="line">
            <a:avLst/>
          </a:prstGeom>
          <a:noFill/>
          <a:ln w="6667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803E375-2A3A-44B9-8D23-054A1B7A6F50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2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Policy coverage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AB9EB4F-2CD2-4D0F-91D3-97ED18AE38F8}"/>
              </a:ext>
            </a:extLst>
          </p:cNvPr>
          <p:cNvSpPr>
            <a:spLocks noGrp="1"/>
          </p:cNvSpPr>
          <p:nvPr/>
        </p:nvSpPr>
        <p:spPr>
          <a:xfrm>
            <a:off x="685800" y="68389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13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013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013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Incomplete policy inventory</a:t>
            </a:r>
          </a:p>
        </p:txBody>
      </p:sp>
      <p:sp>
        <p:nvSpPr>
          <p:cNvPr id="31" name="직선 연결선[R] 30">
            <a:extLst>
              <a:ext uri="{FF2B5EF4-FFF2-40B4-BE49-F238E27FC236}">
                <a16:creationId xmlns:a16="http://schemas.microsoft.com/office/drawing/2014/main" id="{C382B95C-E890-4E43-9AEE-F567D68AF732}"/>
              </a:ext>
            </a:extLst>
          </p:cNvPr>
          <p:cNvSpPr>
            <a:spLocks noGrp="1"/>
          </p:cNvSpPr>
          <p:nvPr/>
        </p:nvSpPr>
        <p:spPr>
          <a:xfrm>
            <a:off x="4019550" y="6286500"/>
            <a:ext cx="2857500" cy="0"/>
          </a:xfrm>
          <a:prstGeom prst="line">
            <a:avLst/>
          </a:prstGeom>
          <a:noFill/>
          <a:ln w="6667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F306B2D-E11B-42BD-A1C2-090C7BE0C04E}"/>
              </a:ext>
            </a:extLst>
          </p:cNvPr>
          <p:cNvSpPr>
            <a:spLocks noGrp="1"/>
          </p:cNvSpPr>
          <p:nvPr/>
        </p:nvSpPr>
        <p:spPr>
          <a:xfrm>
            <a:off x="4019550" y="65341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2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Data coverage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A9F5C2E-99FE-49AE-830A-1642FCA966EE}"/>
              </a:ext>
            </a:extLst>
          </p:cNvPr>
          <p:cNvSpPr>
            <a:spLocks noGrp="1"/>
          </p:cNvSpPr>
          <p:nvPr/>
        </p:nvSpPr>
        <p:spPr>
          <a:xfrm>
            <a:off x="4019550" y="68389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13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013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013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Limited samples, dated boundaries</a:t>
            </a:r>
          </a:p>
        </p:txBody>
      </p:sp>
      <p:sp>
        <p:nvSpPr>
          <p:cNvPr id="35" name="직선 연결선[R] 34">
            <a:extLst>
              <a:ext uri="{FF2B5EF4-FFF2-40B4-BE49-F238E27FC236}">
                <a16:creationId xmlns:a16="http://schemas.microsoft.com/office/drawing/2014/main" id="{D453CCEC-3F7E-44CF-8A8F-92F342EE287E}"/>
              </a:ext>
            </a:extLst>
          </p:cNvPr>
          <p:cNvSpPr>
            <a:spLocks noGrp="1"/>
          </p:cNvSpPr>
          <p:nvPr/>
        </p:nvSpPr>
        <p:spPr>
          <a:xfrm>
            <a:off x="7353300" y="6286500"/>
            <a:ext cx="2857500" cy="0"/>
          </a:xfrm>
          <a:prstGeom prst="line">
            <a:avLst/>
          </a:prstGeom>
          <a:noFill/>
          <a:ln w="6667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F74B4E1-3BD0-4A5D-B8D1-ADA498AC2573}"/>
              </a:ext>
            </a:extLst>
          </p:cNvPr>
          <p:cNvSpPr>
            <a:spLocks noGrp="1"/>
          </p:cNvSpPr>
          <p:nvPr/>
        </p:nvSpPr>
        <p:spPr>
          <a:xfrm>
            <a:off x="7353300" y="65341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2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Forecast status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6C27F8F-E4DA-4B02-A55A-9EEBCBF4FF68}"/>
              </a:ext>
            </a:extLst>
          </p:cNvPr>
          <p:cNvSpPr>
            <a:spLocks noGrp="1"/>
          </p:cNvSpPr>
          <p:nvPr/>
        </p:nvSpPr>
        <p:spPr>
          <a:xfrm>
            <a:off x="7353300" y="68389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13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013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013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Not calibrated or backtested</a:t>
            </a:r>
          </a:p>
        </p:txBody>
      </p:sp>
      <p:sp>
        <p:nvSpPr>
          <p:cNvPr id="39" name="직선 연결선[R] 38">
            <a:extLst>
              <a:ext uri="{FF2B5EF4-FFF2-40B4-BE49-F238E27FC236}">
                <a16:creationId xmlns:a16="http://schemas.microsoft.com/office/drawing/2014/main" id="{16F7DE7B-9D05-4A25-8BCA-5D0D46C5B3B1}"/>
              </a:ext>
            </a:extLst>
          </p:cNvPr>
          <p:cNvSpPr>
            <a:spLocks noGrp="1"/>
          </p:cNvSpPr>
          <p:nvPr/>
        </p:nvSpPr>
        <p:spPr>
          <a:xfrm>
            <a:off x="10687050" y="6286500"/>
            <a:ext cx="2857500" cy="0"/>
          </a:xfrm>
          <a:prstGeom prst="line">
            <a:avLst/>
          </a:prstGeom>
          <a:noFill/>
          <a:ln w="6667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B8F8870-A4A7-4F6A-B2CA-0B011512572C}"/>
              </a:ext>
            </a:extLst>
          </p:cNvPr>
          <p:cNvSpPr>
            <a:spLocks noGrp="1"/>
          </p:cNvSpPr>
          <p:nvPr/>
        </p:nvSpPr>
        <p:spPr>
          <a:xfrm>
            <a:off x="10687050" y="65341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2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Graph editing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D1C5DC8-1841-4E45-9C05-72B59BFCCB97}"/>
              </a:ext>
            </a:extLst>
          </p:cNvPr>
          <p:cNvSpPr>
            <a:spLocks noGrp="1"/>
          </p:cNvSpPr>
          <p:nvPr/>
        </p:nvSpPr>
        <p:spPr>
          <a:xfrm>
            <a:off x="10687050" y="68389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13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013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013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Local only, no shared approval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BBB3DDF-DF6D-4A9C-A47E-FF06C007C439}"/>
              </a:ext>
            </a:extLst>
          </p:cNvPr>
          <p:cNvSpPr>
            <a:spLocks noGrp="1"/>
          </p:cNvSpPr>
          <p:nvPr/>
        </p:nvSpPr>
        <p:spPr>
          <a:xfrm>
            <a:off x="419100" y="7543800"/>
            <a:ext cx="13792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0000"/>
              </a:lnSpc>
              <a:buNone/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pPr>
            <a:r>
              <a: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rPr>
              <a:t>No causal price forecast: sensitivities depend on user inputs. Graph edits do not update the server or recalculate scenarios.</a:t>
            </a:r>
          </a:p>
        </p:txBody>
      </p:sp>
    </p:spTree>
    <p:extLst>
      <p:ext uri="{BB962C8B-B14F-4D97-AF65-F5344CB8AC3E}">
        <p14:creationId xmlns:p14="http://schemas.microsoft.com/office/powerpoint/2010/main" val="20159417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129B4839-D62B-4668-A32D-64E1B41F9636}"/>
              </a:ext>
            </a:extLst>
          </p:cNvPr>
          <p:cNvSpPr>
            <a:spLocks noGrp="1"/>
          </p:cNvSpPr>
          <p:nvPr/>
        </p:nvSpPr>
        <p:spPr>
          <a:xfrm>
            <a:off x="723900" y="647700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050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pPr>
            <a:r>
              <a:rPr sz="1050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rPr>
              <a:t>SWEETHOME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1090070-EC88-45D6-B026-E67E085F6D6A}"/>
              </a:ext>
            </a:extLst>
          </p:cNvPr>
          <p:cNvSpPr>
            <a:spLocks noGrp="1"/>
          </p:cNvSpPr>
          <p:nvPr/>
        </p:nvSpPr>
        <p:spPr>
          <a:xfrm>
            <a:off x="723900" y="1466850"/>
            <a:ext cx="72390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98000"/>
              </a:lnSpc>
              <a:buNone/>
              <a:defRPr sz="39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39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Understand the rules.</a:t>
            </a:r>
          </a:p>
          <a:p>
            <a:pPr algn="l">
              <a:lnSpc>
                <a:spcPct val="98000"/>
              </a:lnSpc>
              <a:buNone/>
              <a:defRPr sz="39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39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Compare who is affected.</a:t>
            </a:r>
          </a:p>
          <a:p>
            <a:pPr algn="l">
              <a:lnSpc>
                <a:spcPct val="98000"/>
              </a:lnSpc>
              <a:buNone/>
              <a:defRPr sz="39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39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Decide before rollout.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CC55D27-B669-4B93-9406-36D2E42CCB6E}"/>
              </a:ext>
            </a:extLst>
          </p:cNvPr>
          <p:cNvSpPr>
            <a:spLocks noGrp="1"/>
          </p:cNvSpPr>
          <p:nvPr/>
        </p:nvSpPr>
        <p:spPr>
          <a:xfrm>
            <a:off x="762000" y="4324350"/>
            <a:ext cx="6477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15000"/>
              </a:lnSpc>
              <a:buNone/>
              <a:defRPr sz="165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65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Today: reviewable policy experiments and evidence exploration.</a:t>
            </a:r>
          </a:p>
          <a:p>
            <a:pPr algn="l">
              <a:lnSpc>
                <a:spcPct val="115000"/>
              </a:lnSpc>
              <a:buNone/>
              <a:defRPr sz="165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650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Next: complete policy coverage and validated impact models.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F44E9BFC-CD9D-428B-81D5-33ADBEB2EDAA}"/>
              </a:ext>
            </a:extLst>
          </p:cNvPr>
          <p:cNvSpPr>
            <a:spLocks noGrp="1"/>
          </p:cNvSpPr>
          <p:nvPr/>
        </p:nvSpPr>
        <p:spPr>
          <a:xfrm>
            <a:off x="762000" y="5619750"/>
            <a:ext cx="5048250" cy="0"/>
          </a:xfrm>
          <a:prstGeom prst="line">
            <a:avLst/>
          </a:prstGeom>
          <a:noFill/>
          <a:ln w="381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9FF314D-3ABE-40E6-90D5-5541E00DD37E}"/>
              </a:ext>
            </a:extLst>
          </p:cNvPr>
          <p:cNvSpPr>
            <a:spLocks noGrp="1"/>
          </p:cNvSpPr>
          <p:nvPr/>
        </p:nvSpPr>
        <p:spPr>
          <a:xfrm>
            <a:off x="762000" y="59436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12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pPr>
            <a:r>
              <a:rPr sz="112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rPr>
              <a:t>Live demo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8A8740A-52A2-485B-A47A-A634E4A495CE}"/>
              </a:ext>
            </a:extLst>
          </p:cNvPr>
          <p:cNvSpPr>
            <a:spLocks noGrp="1"/>
          </p:cNvSpPr>
          <p:nvPr/>
        </p:nvSpPr>
        <p:spPr>
          <a:xfrm>
            <a:off x="762000" y="6362700"/>
            <a:ext cx="1066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3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35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Policy document  |  Human review  |  Regional and household comparison  |  Inspect the evidence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9F58F986-D896-4224-B4C2-AF75A3FDE956}"/>
              </a:ext>
            </a:extLst>
          </p:cNvPr>
          <p:cNvSpPr>
            <a:spLocks noGrp="1"/>
          </p:cNvSpPr>
          <p:nvPr/>
        </p:nvSpPr>
        <p:spPr>
          <a:xfrm>
            <a:off x="9620250" y="1581150"/>
            <a:ext cx="3905250" cy="3905250"/>
          </a:xfrm>
          <a:prstGeom prst="ellipse">
            <a:avLst/>
          </a:prstGeom>
          <a:solidFill>
            <a:srgbClr val="EDF5FF"/>
          </a:solidFill>
          <a:ln w="19050">
            <a:solidFill>
              <a:srgbClr val="D0E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C1145374-FE6A-4772-B148-BE1DDD7A3703}"/>
              </a:ext>
            </a:extLst>
          </p:cNvPr>
          <p:cNvSpPr>
            <a:spLocks noGrp="1"/>
          </p:cNvSpPr>
          <p:nvPr/>
        </p:nvSpPr>
        <p:spPr>
          <a:xfrm>
            <a:off x="10210800" y="2171700"/>
            <a:ext cx="2724150" cy="2724150"/>
          </a:xfrm>
          <a:prstGeom prst="ellipse">
            <a:avLst/>
          </a:prstGeom>
          <a:solidFill>
            <a:srgbClr val="E5F6F5"/>
          </a:solidFill>
          <a:ln w="19050">
            <a:solidFill>
              <a:srgbClr val="007D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C3E7F508-C12C-4886-8BDE-2B845A312FDE}"/>
              </a:ext>
            </a:extLst>
          </p:cNvPr>
          <p:cNvSpPr>
            <a:spLocks noGrp="1"/>
          </p:cNvSpPr>
          <p:nvPr/>
        </p:nvSpPr>
        <p:spPr>
          <a:xfrm>
            <a:off x="10877550" y="2838450"/>
            <a:ext cx="1390650" cy="1390650"/>
          </a:xfrm>
          <a:prstGeom prst="ellipse">
            <a:avLst/>
          </a:prstGeom>
          <a:solidFill>
            <a:srgbClr val="002D9C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6C5AE8A-3C07-4D30-B61E-04E6EABCA94A}"/>
              </a:ext>
            </a:extLst>
          </p:cNvPr>
          <p:cNvSpPr>
            <a:spLocks noGrp="1"/>
          </p:cNvSpPr>
          <p:nvPr/>
        </p:nvSpPr>
        <p:spPr>
          <a:xfrm>
            <a:off x="11077575" y="3286125"/>
            <a:ext cx="990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1" i="0">
                <a:solidFill>
                  <a:srgbClr val="FFFFF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ctr">
              <a:lnSpc>
                <a:spcPct val="108000"/>
              </a:lnSpc>
              <a:buNone/>
              <a:defRPr sz="1875" b="1" i="0">
                <a:solidFill>
                  <a:srgbClr val="FFFFFF"/>
                </a:solidFill>
                <a:latin typeface="IBM Plex Sans"/>
                <a:ea typeface="IBM Plex Sans KR"/>
                <a:cs typeface="IBM Plex Sans"/>
              </a:defRPr>
            </a:pPr>
            <a:r>
              <a:rPr sz="1875" b="1" i="0">
                <a:solidFill>
                  <a:srgbClr val="FFFFFF"/>
                </a:solidFill>
                <a:latin typeface="IBM Plex Sans"/>
                <a:ea typeface="IBM Plex Sans KR"/>
                <a:cs typeface="IBM Plex Sans"/>
              </a:rPr>
              <a:t>Policy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E8B41D2-3859-4625-B04E-C64EB01BC447}"/>
              </a:ext>
            </a:extLst>
          </p:cNvPr>
          <p:cNvSpPr>
            <a:spLocks noGrp="1"/>
          </p:cNvSpPr>
          <p:nvPr/>
        </p:nvSpPr>
        <p:spPr>
          <a:xfrm>
            <a:off x="10382250" y="23431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ctr">
              <a:lnSpc>
                <a:spcPct val="108000"/>
              </a:lnSpc>
              <a:buNone/>
              <a:defRPr sz="1350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defRPr>
            </a:pPr>
            <a:r>
              <a:rPr sz="1350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rPr>
              <a:t>Household constraints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910B79A-C009-4D4F-B9DC-175A91667EE9}"/>
              </a:ext>
            </a:extLst>
          </p:cNvPr>
          <p:cNvSpPr>
            <a:spLocks noGrp="1"/>
          </p:cNvSpPr>
          <p:nvPr/>
        </p:nvSpPr>
        <p:spPr>
          <a:xfrm>
            <a:off x="10020300" y="17907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ctr">
              <a:lnSpc>
                <a:spcPct val="108000"/>
              </a:lnSpc>
              <a:buNone/>
              <a:defRPr sz="1350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pPr>
            <a:r>
              <a:rPr sz="1350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rPr>
              <a:t>Regional scenarios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11B1923-8F86-4FE6-ACA6-7BB956D72EED}"/>
              </a:ext>
            </a:extLst>
          </p:cNvPr>
          <p:cNvSpPr>
            <a:spLocks noGrp="1"/>
          </p:cNvSpPr>
          <p:nvPr/>
        </p:nvSpPr>
        <p:spPr>
          <a:xfrm>
            <a:off x="10306050" y="5829300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250" b="1" i="0">
                <a:solidFill>
                  <a:srgbClr val="002D9C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ctr">
              <a:lnSpc>
                <a:spcPct val="108000"/>
              </a:lnSpc>
              <a:buNone/>
              <a:defRPr sz="2250" b="1" i="0">
                <a:solidFill>
                  <a:srgbClr val="002D9C"/>
                </a:solidFill>
                <a:latin typeface="IBM Plex Sans"/>
                <a:ea typeface="IBM Plex Sans KR"/>
                <a:cs typeface="IBM Plex Sans"/>
              </a:defRPr>
            </a:pPr>
            <a:r>
              <a:rPr sz="2250" b="1" i="0">
                <a:solidFill>
                  <a:srgbClr val="002D9C"/>
                </a:solidFill>
                <a:latin typeface="IBM Plex Sans"/>
                <a:ea typeface="IBM Plex Sans KR"/>
                <a:cs typeface="IBM Plex Sans"/>
              </a:rPr>
              <a:t>SweetHome</a:t>
            </a:r>
          </a:p>
        </p:txBody>
      </p:sp>
      <p:sp>
        <p:nvSpPr>
          <p:cNvPr id="14" name="직선 연결선[R] 13">
            <a:extLst>
              <a:ext uri="{FF2B5EF4-FFF2-40B4-BE49-F238E27FC236}">
                <a16:creationId xmlns:a16="http://schemas.microsoft.com/office/drawing/2014/main" id="{5FFAE9B3-948C-43EA-902E-D6E4732C26AD}"/>
              </a:ext>
            </a:extLst>
          </p:cNvPr>
          <p:cNvSpPr>
            <a:spLocks noGrp="1"/>
          </p:cNvSpPr>
          <p:nvPr/>
        </p:nvSpPr>
        <p:spPr>
          <a:xfrm>
            <a:off x="419100" y="7848600"/>
            <a:ext cx="13792200" cy="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598410D-33F8-4964-AB0B-46129CAB35C4}"/>
              </a:ext>
            </a:extLst>
          </p:cNvPr>
          <p:cNvSpPr>
            <a:spLocks noGrp="1"/>
          </p:cNvSpPr>
          <p:nvPr/>
        </p:nvSpPr>
        <p:spPr>
          <a:xfrm>
            <a:off x="419100" y="7962900"/>
            <a:ext cx="619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pPr>
            <a:r>
              <a: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rPr>
              <a:t>SweetHome | Google DeepMind AI Hackathon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DC1A13E-CFE7-4A00-9135-CB4F875A75E1}"/>
              </a:ext>
            </a:extLst>
          </p:cNvPr>
          <p:cNvSpPr>
            <a:spLocks noGrp="1"/>
          </p:cNvSpPr>
          <p:nvPr/>
        </p:nvSpPr>
        <p:spPr>
          <a:xfrm>
            <a:off x="13830300" y="796290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r">
              <a:lnSpc>
                <a:spcPct val="108000"/>
              </a:lnSpc>
              <a:buNone/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pPr>
            <a:r>
              <a: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18267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직사각형 57">
            <a:extLst>
              <a:ext uri="{FF2B5EF4-FFF2-40B4-BE49-F238E27FC236}">
                <a16:creationId xmlns:a16="http://schemas.microsoft.com/office/drawing/2014/main" id="{237623FB-5986-48CB-A8D1-DE3F26FB54D2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9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pPr>
            <a:r>
              <a:rPr sz="9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rPr>
              <a:t>APPENDIX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0F03A14-B9BC-4E33-88ED-26A330FB4474}"/>
              </a:ext>
            </a:extLst>
          </p:cNvPr>
          <p:cNvSpPr>
            <a:spLocks noGrp="1"/>
          </p:cNvSpPr>
          <p:nvPr/>
        </p:nvSpPr>
        <p:spPr>
          <a:xfrm>
            <a:off x="495300" y="581025"/>
            <a:ext cx="13449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0000"/>
              </a:lnSpc>
              <a:buNone/>
              <a:defRPr sz="27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2700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Key sources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62F52EE-8CEF-484F-9B5A-E51662E48973}"/>
              </a:ext>
            </a:extLst>
          </p:cNvPr>
          <p:cNvSpPr>
            <a:spLocks noGrp="1"/>
          </p:cNvSpPr>
          <p:nvPr/>
        </p:nvSpPr>
        <p:spPr>
          <a:xfrm>
            <a:off x="419100" y="1152525"/>
            <a:ext cx="1343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0000"/>
              </a:lnSpc>
              <a:buNone/>
              <a:defRPr sz="127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75" b="0" i="0">
                <a:solidFill>
                  <a:srgbClr val="525252"/>
                </a:solidFill>
                <a:latin typeface="IBM Plex Sans"/>
                <a:ea typeface="IBM Plex Sans KR"/>
                <a:cs typeface="IBM Plex Sans"/>
              </a:rPr>
              <a:t>Policy changes draw on official releases. Impact estimates draw on KDI and Bank of Korea research.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1A16A7F6-61B5-4326-8E3D-0B0EB9855FF7}"/>
              </a:ext>
            </a:extLst>
          </p:cNvPr>
          <p:cNvSpPr>
            <a:spLocks noGrp="1"/>
          </p:cNvSpPr>
          <p:nvPr/>
        </p:nvSpPr>
        <p:spPr>
          <a:xfrm>
            <a:off x="419100" y="7848600"/>
            <a:ext cx="13792200" cy="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914D0D3-992D-48F7-BFD2-6581C8BECC66}"/>
              </a:ext>
            </a:extLst>
          </p:cNvPr>
          <p:cNvSpPr>
            <a:spLocks noGrp="1"/>
          </p:cNvSpPr>
          <p:nvPr/>
        </p:nvSpPr>
        <p:spPr>
          <a:xfrm>
            <a:off x="419100" y="7962900"/>
            <a:ext cx="619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pPr>
            <a:r>
              <a: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rPr>
              <a:t>SweetHome | Google DeepMind AI Hackathon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622347C-E8A1-419D-A2FF-8568602EE48A}"/>
              </a:ext>
            </a:extLst>
          </p:cNvPr>
          <p:cNvSpPr>
            <a:spLocks noGrp="1"/>
          </p:cNvSpPr>
          <p:nvPr/>
        </p:nvSpPr>
        <p:spPr>
          <a:xfrm>
            <a:off x="13830300" y="796290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r">
              <a:lnSpc>
                <a:spcPct val="108000"/>
              </a:lnSpc>
              <a:buNone/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pPr>
            <a:r>
              <a: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rPr>
              <a:t>16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13FF196D-1AAE-4F8F-8B9A-3597EFB54488}"/>
              </a:ext>
            </a:extLst>
          </p:cNvPr>
          <p:cNvSpPr>
            <a:spLocks noGrp="1"/>
          </p:cNvSpPr>
          <p:nvPr/>
        </p:nvSpPr>
        <p:spPr>
          <a:xfrm>
            <a:off x="704850" y="1943100"/>
            <a:ext cx="1257300" cy="304800"/>
          </a:xfrm>
          <a:prstGeom prst="roundRect">
            <a:avLst>
              <a:gd name="adj" fmla="val 37500"/>
            </a:avLst>
          </a:prstGeom>
          <a:solidFill>
            <a:srgbClr val="EDF5FF"/>
          </a:solidFill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975" b="1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ctr">
              <a:defRPr sz="975" b="1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pPr>
            <a:r>
              <a:rPr sz="975" b="1">
                <a:solidFill>
                  <a:srgbClr val="0F62FE"/>
                </a:solidFill>
                <a:latin typeface="IBM Plex Sans"/>
                <a:ea typeface="IBM Plex Sans KR"/>
                <a:cs typeface="IBM Plex Sans"/>
              </a:rPr>
              <a:t>Policy documents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06CD7713-70C0-42FF-B70D-2743ADDA8C3C}"/>
              </a:ext>
            </a:extLst>
          </p:cNvPr>
          <p:cNvSpPr>
            <a:spLocks noGrp="1"/>
          </p:cNvSpPr>
          <p:nvPr/>
        </p:nvSpPr>
        <p:spPr>
          <a:xfrm>
            <a:off x="7581900" y="1943100"/>
            <a:ext cx="1733550" cy="304800"/>
          </a:xfrm>
          <a:prstGeom prst="roundRect">
            <a:avLst>
              <a:gd name="adj" fmla="val 37500"/>
            </a:avLst>
          </a:prstGeom>
          <a:solidFill>
            <a:srgbClr val="E5F6F5"/>
          </a:solidFill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975" b="1">
                <a:solidFill>
                  <a:srgbClr val="007D79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ctr">
              <a:defRPr sz="975" b="1">
                <a:solidFill>
                  <a:srgbClr val="007D79"/>
                </a:solidFill>
                <a:latin typeface="IBM Plex Sans"/>
                <a:ea typeface="IBM Plex Sans KR"/>
                <a:cs typeface="IBM Plex Sans"/>
              </a:defRPr>
            </a:pPr>
            <a:r>
              <a:rPr sz="975" b="1">
                <a:solidFill>
                  <a:srgbClr val="007D79"/>
                </a:solidFill>
                <a:latin typeface="IBM Plex Sans"/>
                <a:ea typeface="IBM Plex Sans KR"/>
                <a:cs typeface="IBM Plex Sans"/>
              </a:rPr>
              <a:t>Effects and mechanisms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AAC15BA-9DC1-45DA-A329-1E385793FA04}"/>
              </a:ext>
            </a:extLst>
          </p:cNvPr>
          <p:cNvSpPr>
            <a:spLocks noGrp="1"/>
          </p:cNvSpPr>
          <p:nvPr/>
        </p:nvSpPr>
        <p:spPr>
          <a:xfrm>
            <a:off x="704850" y="257175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9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pPr>
            <a:r>
              <a:rPr sz="9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rPr>
              <a:t>01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4AC7AC0-8098-429C-B51D-258046D4F11A}"/>
              </a:ext>
            </a:extLst>
          </p:cNvPr>
          <p:cNvSpPr>
            <a:spLocks noGrp="1"/>
          </p:cNvSpPr>
          <p:nvPr/>
        </p:nvSpPr>
        <p:spPr>
          <a:xfrm>
            <a:off x="1200150" y="255270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38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238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38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Seoul: Easing land transaction permit zones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FC70EF7-A100-493F-8341-66DC079EE8E7}"/>
              </a:ext>
            </a:extLst>
          </p:cNvPr>
          <p:cNvSpPr>
            <a:spLocks noGrp="1"/>
          </p:cNvSpPr>
          <p:nvPr/>
        </p:nvSpPr>
        <p:spPr>
          <a:xfrm>
            <a:off x="1200150" y="28765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975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pPr>
            <a:r>
              <a:rPr sz="975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rPr>
              <a:t>2025.02.13</a:t>
            </a:r>
          </a:p>
        </p:txBody>
      </p:sp>
      <p:sp>
        <p:nvSpPr>
          <p:cNvPr id="12" name="직선 연결선[R] 11">
            <a:extLst>
              <a:ext uri="{FF2B5EF4-FFF2-40B4-BE49-F238E27FC236}">
                <a16:creationId xmlns:a16="http://schemas.microsoft.com/office/drawing/2014/main" id="{B7760546-4538-4659-8364-F5A1E60E9E5B}"/>
              </a:ext>
            </a:extLst>
          </p:cNvPr>
          <p:cNvSpPr>
            <a:spLocks noGrp="1"/>
          </p:cNvSpPr>
          <p:nvPr/>
        </p:nvSpPr>
        <p:spPr>
          <a:xfrm>
            <a:off x="1200150" y="3162300"/>
            <a:ext cx="5429250" cy="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5F560A2-93EB-4254-AEED-5979EEC22368}"/>
              </a:ext>
            </a:extLst>
          </p:cNvPr>
          <p:cNvSpPr>
            <a:spLocks noGrp="1"/>
          </p:cNvSpPr>
          <p:nvPr/>
        </p:nvSpPr>
        <p:spPr>
          <a:xfrm>
            <a:off x="704850" y="331470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9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pPr>
            <a:r>
              <a:rPr sz="9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rPr>
              <a:t>02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D71F124-80A5-4A9A-970A-EEBB780D85B0}"/>
              </a:ext>
            </a:extLst>
          </p:cNvPr>
          <p:cNvSpPr>
            <a:spLocks noGrp="1"/>
          </p:cNvSpPr>
          <p:nvPr/>
        </p:nvSpPr>
        <p:spPr>
          <a:xfrm>
            <a:off x="1200150" y="329565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38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238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38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Joint ministries: Housing market stabilization plan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5676E11-A7CF-44D6-A5DA-A23D8863CB57}"/>
              </a:ext>
            </a:extLst>
          </p:cNvPr>
          <p:cNvSpPr>
            <a:spLocks noGrp="1"/>
          </p:cNvSpPr>
          <p:nvPr/>
        </p:nvSpPr>
        <p:spPr>
          <a:xfrm>
            <a:off x="1200150" y="361950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975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pPr>
            <a:r>
              <a:rPr sz="975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rPr>
              <a:t>2025.03.19</a:t>
            </a:r>
          </a:p>
        </p:txBody>
      </p:sp>
      <p:sp>
        <p:nvSpPr>
          <p:cNvPr id="16" name="직선 연결선[R] 15">
            <a:extLst>
              <a:ext uri="{FF2B5EF4-FFF2-40B4-BE49-F238E27FC236}">
                <a16:creationId xmlns:a16="http://schemas.microsoft.com/office/drawing/2014/main" id="{8A5FCF68-D459-4042-978F-3CB0ED8F9E0C}"/>
              </a:ext>
            </a:extLst>
          </p:cNvPr>
          <p:cNvSpPr>
            <a:spLocks noGrp="1"/>
          </p:cNvSpPr>
          <p:nvPr/>
        </p:nvSpPr>
        <p:spPr>
          <a:xfrm>
            <a:off x="1200150" y="3905250"/>
            <a:ext cx="5429250" cy="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536449C-C2E4-4F9A-8CD4-8C765300118E}"/>
              </a:ext>
            </a:extLst>
          </p:cNvPr>
          <p:cNvSpPr>
            <a:spLocks noGrp="1"/>
          </p:cNvSpPr>
          <p:nvPr/>
        </p:nvSpPr>
        <p:spPr>
          <a:xfrm>
            <a:off x="704850" y="405765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9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pPr>
            <a:r>
              <a:rPr sz="9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rPr>
              <a:t>03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6402509-E818-402F-885E-E300A0B3A8CB}"/>
              </a:ext>
            </a:extLst>
          </p:cNvPr>
          <p:cNvSpPr>
            <a:spLocks noGrp="1"/>
          </p:cNvSpPr>
          <p:nvPr/>
        </p:nvSpPr>
        <p:spPr>
          <a:xfrm>
            <a:off x="1200150" y="403860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38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238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38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MOLIT and FSC: Stronger household debt controls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B4773CC-C581-4704-9EFF-DA09184CDC83}"/>
              </a:ext>
            </a:extLst>
          </p:cNvPr>
          <p:cNvSpPr>
            <a:spLocks noGrp="1"/>
          </p:cNvSpPr>
          <p:nvPr/>
        </p:nvSpPr>
        <p:spPr>
          <a:xfrm>
            <a:off x="1200150" y="43624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975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pPr>
            <a:r>
              <a:rPr sz="975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rPr>
              <a:t>2025.06.27</a:t>
            </a:r>
          </a:p>
        </p:txBody>
      </p:sp>
      <p:sp>
        <p:nvSpPr>
          <p:cNvPr id="20" name="직선 연결선[R] 19">
            <a:extLst>
              <a:ext uri="{FF2B5EF4-FFF2-40B4-BE49-F238E27FC236}">
                <a16:creationId xmlns:a16="http://schemas.microsoft.com/office/drawing/2014/main" id="{C36362C5-7FCF-4211-9DEC-B2E0D8463717}"/>
              </a:ext>
            </a:extLst>
          </p:cNvPr>
          <p:cNvSpPr>
            <a:spLocks noGrp="1"/>
          </p:cNvSpPr>
          <p:nvPr/>
        </p:nvSpPr>
        <p:spPr>
          <a:xfrm>
            <a:off x="1200150" y="4648200"/>
            <a:ext cx="5429250" cy="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24BED27-CF94-4D71-8AC3-70A1763C4D86}"/>
              </a:ext>
            </a:extLst>
          </p:cNvPr>
          <p:cNvSpPr>
            <a:spLocks noGrp="1"/>
          </p:cNvSpPr>
          <p:nvPr/>
        </p:nvSpPr>
        <p:spPr>
          <a:xfrm>
            <a:off x="704850" y="480060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9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pPr>
            <a:r>
              <a:rPr sz="9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rPr>
              <a:t>04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F47A55C-DA6B-4ACD-920F-3F3B65F92017}"/>
              </a:ext>
            </a:extLst>
          </p:cNvPr>
          <p:cNvSpPr>
            <a:spLocks noGrp="1"/>
          </p:cNvSpPr>
          <p:nvPr/>
        </p:nvSpPr>
        <p:spPr>
          <a:xfrm>
            <a:off x="1200150" y="478155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38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238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38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MOLIT: Housing supply expansion plan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BFEBF00-EA57-4F86-8B17-6B9FD7CE8783}"/>
              </a:ext>
            </a:extLst>
          </p:cNvPr>
          <p:cNvSpPr>
            <a:spLocks noGrp="1"/>
          </p:cNvSpPr>
          <p:nvPr/>
        </p:nvSpPr>
        <p:spPr>
          <a:xfrm>
            <a:off x="1200150" y="510540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975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pPr>
            <a:r>
              <a:rPr sz="975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rPr>
              <a:t>2025.09.07</a:t>
            </a:r>
          </a:p>
        </p:txBody>
      </p:sp>
      <p:sp>
        <p:nvSpPr>
          <p:cNvPr id="24" name="직선 연결선[R] 23">
            <a:extLst>
              <a:ext uri="{FF2B5EF4-FFF2-40B4-BE49-F238E27FC236}">
                <a16:creationId xmlns:a16="http://schemas.microsoft.com/office/drawing/2014/main" id="{C0C45A50-D960-4169-9D42-F9F25D72FA6F}"/>
              </a:ext>
            </a:extLst>
          </p:cNvPr>
          <p:cNvSpPr>
            <a:spLocks noGrp="1"/>
          </p:cNvSpPr>
          <p:nvPr/>
        </p:nvSpPr>
        <p:spPr>
          <a:xfrm>
            <a:off x="1200150" y="5391150"/>
            <a:ext cx="5429250" cy="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66E57DA-2B9E-4879-89EF-20FC200DD519}"/>
              </a:ext>
            </a:extLst>
          </p:cNvPr>
          <p:cNvSpPr>
            <a:spLocks noGrp="1"/>
          </p:cNvSpPr>
          <p:nvPr/>
        </p:nvSpPr>
        <p:spPr>
          <a:xfrm>
            <a:off x="704850" y="554355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9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pPr>
            <a:r>
              <a:rPr sz="9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rPr>
              <a:t>05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6E43120-84A2-4D9F-9654-F9CC65267079}"/>
              </a:ext>
            </a:extLst>
          </p:cNvPr>
          <p:cNvSpPr>
            <a:spLocks noGrp="1"/>
          </p:cNvSpPr>
          <p:nvPr/>
        </p:nvSpPr>
        <p:spPr>
          <a:xfrm>
            <a:off x="1200150" y="552450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38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238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38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Joint ministries: Housing market stabilization measures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3DC1D84-FA75-4074-B263-A1BE60CE234B}"/>
              </a:ext>
            </a:extLst>
          </p:cNvPr>
          <p:cNvSpPr>
            <a:spLocks noGrp="1"/>
          </p:cNvSpPr>
          <p:nvPr/>
        </p:nvSpPr>
        <p:spPr>
          <a:xfrm>
            <a:off x="1200150" y="58483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975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pPr>
            <a:r>
              <a:rPr sz="975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rPr>
              <a:t>2025.10.15</a:t>
            </a:r>
          </a:p>
        </p:txBody>
      </p:sp>
      <p:sp>
        <p:nvSpPr>
          <p:cNvPr id="28" name="직선 연결선[R] 27">
            <a:extLst>
              <a:ext uri="{FF2B5EF4-FFF2-40B4-BE49-F238E27FC236}">
                <a16:creationId xmlns:a16="http://schemas.microsoft.com/office/drawing/2014/main" id="{28618CD9-6FF2-4327-A32F-7121BF7156D1}"/>
              </a:ext>
            </a:extLst>
          </p:cNvPr>
          <p:cNvSpPr>
            <a:spLocks noGrp="1"/>
          </p:cNvSpPr>
          <p:nvPr/>
        </p:nvSpPr>
        <p:spPr>
          <a:xfrm>
            <a:off x="1200150" y="6134100"/>
            <a:ext cx="5429250" cy="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40BAD9E-5CAE-41FA-A26F-3CBD317B690E}"/>
              </a:ext>
            </a:extLst>
          </p:cNvPr>
          <p:cNvSpPr>
            <a:spLocks noGrp="1"/>
          </p:cNvSpPr>
          <p:nvPr/>
        </p:nvSpPr>
        <p:spPr>
          <a:xfrm>
            <a:off x="704850" y="628650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9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defRPr>
            </a:pPr>
            <a:r>
              <a:rPr sz="975" b="1" i="0">
                <a:solidFill>
                  <a:srgbClr val="0F62FE"/>
                </a:solidFill>
                <a:latin typeface="IBM Plex Sans"/>
                <a:ea typeface="IBM Plex Sans KR"/>
                <a:cs typeface="IBM Plex Sans"/>
              </a:rPr>
              <a:t>06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78188A9-B0E3-4885-B9C1-20D22A1733FF}"/>
              </a:ext>
            </a:extLst>
          </p:cNvPr>
          <p:cNvSpPr>
            <a:spLocks noGrp="1"/>
          </p:cNvSpPr>
          <p:nvPr/>
        </p:nvSpPr>
        <p:spPr>
          <a:xfrm>
            <a:off x="1200150" y="626745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38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238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38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FSC: 2026 household debt management plan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4BAD26-2D09-44E6-8D54-1EC9F6B7C1AB}"/>
              </a:ext>
            </a:extLst>
          </p:cNvPr>
          <p:cNvSpPr>
            <a:spLocks noGrp="1"/>
          </p:cNvSpPr>
          <p:nvPr/>
        </p:nvSpPr>
        <p:spPr>
          <a:xfrm>
            <a:off x="1200150" y="659130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975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pPr>
            <a:r>
              <a:rPr sz="975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rPr>
              <a:t>2026.04.01</a:t>
            </a:r>
          </a:p>
        </p:txBody>
      </p:sp>
      <p:sp>
        <p:nvSpPr>
          <p:cNvPr id="32" name="직선 연결선[R] 31">
            <a:extLst>
              <a:ext uri="{FF2B5EF4-FFF2-40B4-BE49-F238E27FC236}">
                <a16:creationId xmlns:a16="http://schemas.microsoft.com/office/drawing/2014/main" id="{0D3FE792-7E14-4A87-A498-83E6C39699DD}"/>
              </a:ext>
            </a:extLst>
          </p:cNvPr>
          <p:cNvSpPr>
            <a:spLocks noGrp="1"/>
          </p:cNvSpPr>
          <p:nvPr/>
        </p:nvSpPr>
        <p:spPr>
          <a:xfrm>
            <a:off x="1200150" y="6877050"/>
            <a:ext cx="5429250" cy="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9207210-F720-452D-B3E6-1947056C540E}"/>
              </a:ext>
            </a:extLst>
          </p:cNvPr>
          <p:cNvSpPr>
            <a:spLocks noGrp="1"/>
          </p:cNvSpPr>
          <p:nvPr/>
        </p:nvSpPr>
        <p:spPr>
          <a:xfrm>
            <a:off x="7581900" y="257175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975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defRPr>
            </a:pPr>
            <a:r>
              <a:rPr sz="975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rPr>
              <a:t>01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00E66DD-A9BE-479A-8E87-CFE552A37DDB}"/>
              </a:ext>
            </a:extLst>
          </p:cNvPr>
          <p:cNvSpPr>
            <a:spLocks noGrp="1"/>
          </p:cNvSpPr>
          <p:nvPr/>
        </p:nvSpPr>
        <p:spPr>
          <a:xfrm>
            <a:off x="8077200" y="255270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38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238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38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KDI: Housing markets and regulation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71ADD85-31CD-4AC8-8D7B-F1874FE1D7B8}"/>
              </a:ext>
            </a:extLst>
          </p:cNvPr>
          <p:cNvSpPr>
            <a:spLocks noGrp="1"/>
          </p:cNvSpPr>
          <p:nvPr/>
        </p:nvSpPr>
        <p:spPr>
          <a:xfrm>
            <a:off x="8077200" y="28765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975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pPr>
            <a:r>
              <a:rPr sz="975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rPr>
              <a:t>Research Report 2023-06</a:t>
            </a:r>
          </a:p>
        </p:txBody>
      </p:sp>
      <p:sp>
        <p:nvSpPr>
          <p:cNvPr id="36" name="직선 연결선[R] 35">
            <a:extLst>
              <a:ext uri="{FF2B5EF4-FFF2-40B4-BE49-F238E27FC236}">
                <a16:creationId xmlns:a16="http://schemas.microsoft.com/office/drawing/2014/main" id="{093C441B-E56D-492D-ADE1-EDC548A51F6F}"/>
              </a:ext>
            </a:extLst>
          </p:cNvPr>
          <p:cNvSpPr>
            <a:spLocks noGrp="1"/>
          </p:cNvSpPr>
          <p:nvPr/>
        </p:nvSpPr>
        <p:spPr>
          <a:xfrm>
            <a:off x="8077200" y="3162300"/>
            <a:ext cx="5429250" cy="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EE13DEF-8B94-49AD-B240-3395392DBEC8}"/>
              </a:ext>
            </a:extLst>
          </p:cNvPr>
          <p:cNvSpPr>
            <a:spLocks noGrp="1"/>
          </p:cNvSpPr>
          <p:nvPr/>
        </p:nvSpPr>
        <p:spPr>
          <a:xfrm>
            <a:off x="7581900" y="331470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975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defRPr>
            </a:pPr>
            <a:r>
              <a:rPr sz="975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rPr>
              <a:t>02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202ED4C-BC48-428D-B492-1A934ECB2A8C}"/>
              </a:ext>
            </a:extLst>
          </p:cNvPr>
          <p:cNvSpPr>
            <a:spLocks noGrp="1"/>
          </p:cNvSpPr>
          <p:nvPr/>
        </p:nvSpPr>
        <p:spPr>
          <a:xfrm>
            <a:off x="8077200" y="329565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38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238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38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KDI: Housing regulation and supply approaches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AC5CA1D-3C04-4B6A-BDAB-A3C3232E4635}"/>
              </a:ext>
            </a:extLst>
          </p:cNvPr>
          <p:cNvSpPr>
            <a:spLocks noGrp="1"/>
          </p:cNvSpPr>
          <p:nvPr/>
        </p:nvSpPr>
        <p:spPr>
          <a:xfrm>
            <a:off x="8077200" y="361950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975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pPr>
            <a:r>
              <a:rPr sz="975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rPr>
              <a:t>Research Report 2022-09</a:t>
            </a:r>
          </a:p>
        </p:txBody>
      </p:sp>
      <p:sp>
        <p:nvSpPr>
          <p:cNvPr id="40" name="직선 연결선[R] 39">
            <a:extLst>
              <a:ext uri="{FF2B5EF4-FFF2-40B4-BE49-F238E27FC236}">
                <a16:creationId xmlns:a16="http://schemas.microsoft.com/office/drawing/2014/main" id="{8A18B3D1-82E5-4C76-8BBE-0401D528F006}"/>
              </a:ext>
            </a:extLst>
          </p:cNvPr>
          <p:cNvSpPr>
            <a:spLocks noGrp="1"/>
          </p:cNvSpPr>
          <p:nvPr/>
        </p:nvSpPr>
        <p:spPr>
          <a:xfrm>
            <a:off x="8077200" y="3905250"/>
            <a:ext cx="5429250" cy="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0D91914-9FE6-4B96-AE2E-8890F077E629}"/>
              </a:ext>
            </a:extLst>
          </p:cNvPr>
          <p:cNvSpPr>
            <a:spLocks noGrp="1"/>
          </p:cNvSpPr>
          <p:nvPr/>
        </p:nvSpPr>
        <p:spPr>
          <a:xfrm>
            <a:off x="7581900" y="405765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975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defRPr>
            </a:pPr>
            <a:r>
              <a:rPr sz="975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rPr>
              <a:t>03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A3E4370-826E-4C68-B77C-F8ABF4A26370}"/>
              </a:ext>
            </a:extLst>
          </p:cNvPr>
          <p:cNvSpPr>
            <a:spLocks noGrp="1"/>
          </p:cNvSpPr>
          <p:nvPr/>
        </p:nvSpPr>
        <p:spPr>
          <a:xfrm>
            <a:off x="8077200" y="403860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38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238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38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BOK: Effects of housing macroprudential policy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6DFDCF5-3404-4F6B-844E-071B60379E78}"/>
              </a:ext>
            </a:extLst>
          </p:cNvPr>
          <p:cNvSpPr>
            <a:spLocks noGrp="1"/>
          </p:cNvSpPr>
          <p:nvPr/>
        </p:nvSpPr>
        <p:spPr>
          <a:xfrm>
            <a:off x="8077200" y="43624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975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pPr>
            <a:r>
              <a:rPr sz="975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rPr>
              <a:t>BOK Working Paper 2016-10</a:t>
            </a:r>
          </a:p>
        </p:txBody>
      </p:sp>
      <p:sp>
        <p:nvSpPr>
          <p:cNvPr id="44" name="직선 연결선[R] 43">
            <a:extLst>
              <a:ext uri="{FF2B5EF4-FFF2-40B4-BE49-F238E27FC236}">
                <a16:creationId xmlns:a16="http://schemas.microsoft.com/office/drawing/2014/main" id="{BAA8CC49-66F2-4484-86F0-D24908EB1FF6}"/>
              </a:ext>
            </a:extLst>
          </p:cNvPr>
          <p:cNvSpPr>
            <a:spLocks noGrp="1"/>
          </p:cNvSpPr>
          <p:nvPr/>
        </p:nvSpPr>
        <p:spPr>
          <a:xfrm>
            <a:off x="8077200" y="4648200"/>
            <a:ext cx="5429250" cy="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63EB1A17-1F72-44B3-B368-38BF218638F9}"/>
              </a:ext>
            </a:extLst>
          </p:cNvPr>
          <p:cNvSpPr>
            <a:spLocks noGrp="1"/>
          </p:cNvSpPr>
          <p:nvPr/>
        </p:nvSpPr>
        <p:spPr>
          <a:xfrm>
            <a:off x="7581900" y="480060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975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defRPr>
            </a:pPr>
            <a:r>
              <a:rPr sz="975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rPr>
              <a:t>04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26A351E-8606-4011-82C6-5E4AD396831A}"/>
              </a:ext>
            </a:extLst>
          </p:cNvPr>
          <p:cNvSpPr>
            <a:spLocks noGrp="1"/>
          </p:cNvSpPr>
          <p:nvPr/>
        </p:nvSpPr>
        <p:spPr>
          <a:xfrm>
            <a:off x="8077200" y="478155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38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238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38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BOK: Macroprudential and monetary policy mix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86DE7CB-FCCE-4994-A62E-B5923BF0C64E}"/>
              </a:ext>
            </a:extLst>
          </p:cNvPr>
          <p:cNvSpPr>
            <a:spLocks noGrp="1"/>
          </p:cNvSpPr>
          <p:nvPr/>
        </p:nvSpPr>
        <p:spPr>
          <a:xfrm>
            <a:off x="8077200" y="510540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975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pPr>
            <a:r>
              <a:rPr sz="975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rPr>
              <a:t>BOK Issue Note 2025-26</a:t>
            </a:r>
          </a:p>
        </p:txBody>
      </p:sp>
      <p:sp>
        <p:nvSpPr>
          <p:cNvPr id="48" name="직선 연결선[R] 47">
            <a:extLst>
              <a:ext uri="{FF2B5EF4-FFF2-40B4-BE49-F238E27FC236}">
                <a16:creationId xmlns:a16="http://schemas.microsoft.com/office/drawing/2014/main" id="{F68C0BC3-7C4B-40C9-9E16-D7912EB25954}"/>
              </a:ext>
            </a:extLst>
          </p:cNvPr>
          <p:cNvSpPr>
            <a:spLocks noGrp="1"/>
          </p:cNvSpPr>
          <p:nvPr/>
        </p:nvSpPr>
        <p:spPr>
          <a:xfrm>
            <a:off x="8077200" y="5391150"/>
            <a:ext cx="5429250" cy="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8A0706C5-0D32-4D8C-9F4A-6135D790CFEC}"/>
              </a:ext>
            </a:extLst>
          </p:cNvPr>
          <p:cNvSpPr>
            <a:spLocks noGrp="1"/>
          </p:cNvSpPr>
          <p:nvPr/>
        </p:nvSpPr>
        <p:spPr>
          <a:xfrm>
            <a:off x="7581900" y="554355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975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defRPr>
            </a:pPr>
            <a:r>
              <a:rPr sz="975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rPr>
              <a:t>05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E76D073-EBF3-4F36-B18B-BC348F8DC494}"/>
              </a:ext>
            </a:extLst>
          </p:cNvPr>
          <p:cNvSpPr>
            <a:spLocks noGrp="1"/>
          </p:cNvSpPr>
          <p:nvPr/>
        </p:nvSpPr>
        <p:spPr>
          <a:xfrm>
            <a:off x="8077200" y="552450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38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238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38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BOK: Unequal consumption effects of rising rates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20762FEA-3B00-481C-9431-8FE7E92B9E4F}"/>
              </a:ext>
            </a:extLst>
          </p:cNvPr>
          <p:cNvSpPr>
            <a:spLocks noGrp="1"/>
          </p:cNvSpPr>
          <p:nvPr/>
        </p:nvSpPr>
        <p:spPr>
          <a:xfrm>
            <a:off x="8077200" y="58483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975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pPr>
            <a:r>
              <a:rPr sz="975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rPr>
              <a:t>BOK Issue Note 2022-45</a:t>
            </a:r>
          </a:p>
        </p:txBody>
      </p:sp>
      <p:sp>
        <p:nvSpPr>
          <p:cNvPr id="52" name="직선 연결선[R] 51">
            <a:extLst>
              <a:ext uri="{FF2B5EF4-FFF2-40B4-BE49-F238E27FC236}">
                <a16:creationId xmlns:a16="http://schemas.microsoft.com/office/drawing/2014/main" id="{421923D7-9658-4E84-A609-A6D23E2C3C4E}"/>
              </a:ext>
            </a:extLst>
          </p:cNvPr>
          <p:cNvSpPr>
            <a:spLocks noGrp="1"/>
          </p:cNvSpPr>
          <p:nvPr/>
        </p:nvSpPr>
        <p:spPr>
          <a:xfrm>
            <a:off x="8077200" y="6134100"/>
            <a:ext cx="5429250" cy="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383CB144-4F6C-494E-8D08-0451C1B6304C}"/>
              </a:ext>
            </a:extLst>
          </p:cNvPr>
          <p:cNvSpPr>
            <a:spLocks noGrp="1"/>
          </p:cNvSpPr>
          <p:nvPr/>
        </p:nvSpPr>
        <p:spPr>
          <a:xfrm>
            <a:off x="7581900" y="628650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975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defRPr>
            </a:pPr>
            <a:r>
              <a:rPr sz="975" b="1" i="0">
                <a:solidFill>
                  <a:srgbClr val="007D79"/>
                </a:solidFill>
                <a:latin typeface="IBM Plex Sans"/>
                <a:ea typeface="IBM Plex Sans KR"/>
                <a:cs typeface="IBM Plex Sans"/>
              </a:rPr>
              <a:t>06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EDA25C30-8299-480E-A6FB-4EEC5BA1AC2E}"/>
              </a:ext>
            </a:extLst>
          </p:cNvPr>
          <p:cNvSpPr>
            <a:spLocks noGrp="1"/>
          </p:cNvSpPr>
          <p:nvPr/>
        </p:nvSpPr>
        <p:spPr>
          <a:xfrm>
            <a:off x="8077200" y="626745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38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1238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defRPr>
            </a:pPr>
            <a:r>
              <a:rPr sz="1238" b="1" i="0">
                <a:solidFill>
                  <a:srgbClr val="161616"/>
                </a:solidFill>
                <a:latin typeface="IBM Plex Sans"/>
                <a:ea typeface="IBM Plex Sans KR"/>
                <a:cs typeface="IBM Plex Sans"/>
              </a:rPr>
              <a:t>BOK: Economic effects of household debt policy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93A4D36-3E31-4337-8CEF-12DBD398B01B}"/>
              </a:ext>
            </a:extLst>
          </p:cNvPr>
          <p:cNvSpPr>
            <a:spLocks noGrp="1"/>
          </p:cNvSpPr>
          <p:nvPr/>
        </p:nvSpPr>
        <p:spPr>
          <a:xfrm>
            <a:off x="8077200" y="659130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8000"/>
              </a:lnSpc>
              <a:buNone/>
              <a:defRPr sz="975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pPr>
            <a:r>
              <a:rPr sz="975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rPr>
              <a:t>Joint research final report, 2025</a:t>
            </a:r>
          </a:p>
        </p:txBody>
      </p:sp>
      <p:sp>
        <p:nvSpPr>
          <p:cNvPr id="56" name="직선 연결선[R] 55">
            <a:extLst>
              <a:ext uri="{FF2B5EF4-FFF2-40B4-BE49-F238E27FC236}">
                <a16:creationId xmlns:a16="http://schemas.microsoft.com/office/drawing/2014/main" id="{CAFC4AC7-04E6-45DA-A18F-AF6288C0D9A3}"/>
              </a:ext>
            </a:extLst>
          </p:cNvPr>
          <p:cNvSpPr>
            <a:spLocks noGrp="1"/>
          </p:cNvSpPr>
          <p:nvPr/>
        </p:nvSpPr>
        <p:spPr>
          <a:xfrm>
            <a:off x="8077200" y="6877050"/>
            <a:ext cx="5429250" cy="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0965CC8-80C7-4FA5-9FDE-769B31FEDA19}"/>
              </a:ext>
            </a:extLst>
          </p:cNvPr>
          <p:cNvSpPr>
            <a:spLocks noGrp="1"/>
          </p:cNvSpPr>
          <p:nvPr/>
        </p:nvSpPr>
        <p:spPr>
          <a:xfrm>
            <a:off x="419100" y="7543800"/>
            <a:ext cx="13792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defPPr>
          </a:lstStyle>
          <a:p>
            <a:pPr algn="l">
              <a:lnSpc>
                <a:spcPct val="100000"/>
              </a:lnSpc>
              <a:buNone/>
              <a:def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defRPr>
            </a:pPr>
            <a:r>
              <a:rPr sz="788" b="0" i="0">
                <a:solidFill>
                  <a:srgbClr val="6F6F6F"/>
                </a:solidFill>
                <a:latin typeface="IBM Plex Sans"/>
                <a:ea typeface="IBM Plex Sans KR"/>
                <a:cs typeface="IBM Plex Sans"/>
              </a:rPr>
              <a:t>Full URLs appear in slide notes and the project's docs/evidence/ directory.</a:t>
            </a:r>
          </a:p>
        </p:txBody>
      </p:sp>
    </p:spTree>
    <p:extLst>
      <p:ext uri="{BB962C8B-B14F-4D97-AF65-F5344CB8AC3E}">
        <p14:creationId xmlns:p14="http://schemas.microsoft.com/office/powerpoint/2010/main" val="115598265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IBM Plex Sans"/>
        <a:ea typeface="IBM Plex Sans KR"/>
        <a:cs typeface="IBM Plex Sans"/>
      </a:majorFont>
      <a:minorFont>
        <a:latin typeface="IBM Plex Sans"/>
        <a:ea typeface="IBM Plex Sans KR"/>
        <a:cs typeface="IBM Plex Sans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IBM Plex Sans"/>
        <a:ea typeface="IBM Plex Sans KR"/>
        <a:cs typeface="IBM Plex Sans"/>
      </a:majorFont>
      <a:minorFont>
        <a:latin typeface="IBM Plex Sans"/>
        <a:ea typeface="IBM Plex Sans KR"/>
        <a:cs typeface="IBM Plex Sans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2990</Words>
  <Application>Microsoft Macintosh PowerPoint</Application>
  <DocSecurity>0</DocSecurity>
  <PresentationFormat>사용자 지정</PresentationFormat>
  <Paragraphs>378</Paragraphs>
  <Slides>16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8" baseType="lpstr">
      <vt:lpstr>IBM Plex Sans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Byeonghyeok Kwak</cp:lastModifiedBy>
  <cp:revision>2</cp:revision>
  <dcterms:created xsi:type="dcterms:W3CDTF">2026-10-15T15:05:19Z</dcterms:created>
  <dcterms:modified xsi:type="dcterms:W3CDTF">2026-10-16T05:09:35Z</dcterms:modified>
</cp:coreProperties>
</file>